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1.xml" ContentType="application/vnd.openxmlformats-officedocument.drawingml.chart+xml"/>
  <Override PartName="/ppt/notesSlides/notesSlide2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24.xml" ContentType="application/vnd.openxmlformats-officedocument.presentationml.notesSlide+xml"/>
  <Override PartName="/ppt/charts/chart4.xml" ContentType="application/vnd.openxmlformats-officedocument.drawingml.chart+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7DC1B25-E77D-5A58-E1BE-D8454473B12A}">
          <p14:sldIdLst>
            <p14:sldId id="256"/>
            <p14:sldId id="257"/>
            <p14:sldId id="258"/>
            <p14:sldId id="259"/>
            <p14:sldId id="260"/>
          </p14:sldIdLst>
        </p14:section>
        <p14:section name="Literature" id="{EBE6F361-BAD1-20B7-B09C-70D36DCEACD9}">
          <p14:sldIdLst>
            <p14:sldId id="261"/>
            <p14:sldId id="262"/>
          </p14:sldIdLst>
        </p14:section>
        <p14:section name="Design" id="{6C807D6C-6559-129A-5774-ECCB6882BD70}">
          <p14:sldIdLst>
            <p14:sldId id="263"/>
            <p14:sldId id="264"/>
            <p14:sldId id="265"/>
            <p14:sldId id="266"/>
            <p14:sldId id="267"/>
            <p14:sldId id="268"/>
            <p14:sldId id="269"/>
            <p14:sldId id="270"/>
            <p14:sldId id="271"/>
            <p14:sldId id="272"/>
            <p14:sldId id="273"/>
          </p14:sldIdLst>
        </p14:section>
        <p14:section name="Build" id="{6E876AEE-BD9F-DE51-F27F-2D5EAF920296}">
          <p14:sldIdLst>
            <p14:sldId id="274"/>
            <p14:sldId id="275"/>
          </p14:sldIdLst>
        </p14:section>
        <p14:section name="Results" id="{15AC2235-FE32-AC55-D6C5-3F20D761A23A}">
          <p14:sldIdLst>
            <p14:sldId id="276"/>
            <p14:sldId id="277"/>
            <p14:sldId id="278"/>
            <p14:sldId id="279"/>
          </p14:sldIdLst>
        </p14:section>
        <p14:section name="Close" id="{CCB683D4-5F3A-DBAB-D09E-3F18D331359A}">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1838"/>
                </a:solidFill>
                <a:latin typeface="+mn-lt"/>
              </a:defRPr>
            </a:pPr>
            <a:r>
              <a:rPr sz="1400" b="0" i="0" u="none" strike="noStrike">
                <a:solidFill>
                  <a:srgbClr val="1E1838"/>
                </a:solidFill>
                <a:latin typeface="+mn-lt"/>
              </a:rPr>
              <a:t>Completion and information coverage (mean of 5 runs)</a:t>
            </a:r>
          </a:p>
        </c:rich>
      </c:tx>
      <c:overlay val="0"/>
    </c:title>
    <c:autoTitleDeleted val="0"/>
    <c:plotArea>
      <c:layout/>
      <c:barChart>
        <c:barDir val="col"/>
        <c:grouping val="clustered"/>
        <c:varyColors val="0"/>
        <c:ser>
          <c:idx val="0"/>
          <c:order val="0"/>
          <c:tx>
            <c:strRef>
              <c:f>Sheet1!$B$1</c:f>
              <c:strCache>
                <c:ptCount val="1"/>
                <c:pt idx="0">
                  <c:v>Static</c:v>
                </c:pt>
              </c:strCache>
            </c:strRef>
          </c:tx>
          <c:spPr>
            <a:solidFill>
              <a:srgbClr val="ADB5BD"/>
            </a:solidFill>
            <a:effectLst/>
          </c:spPr>
          <c:invertIfNegative val="0"/>
          <c:dLbls>
            <c:numFmt formatCode="0.0" sourceLinked="0"/>
            <c:spPr>
              <a:noFill/>
              <a:ln>
                <a:noFill/>
              </a:ln>
              <a:effectLst/>
            </c:spPr>
            <c:txPr>
              <a:bodyPr/>
              <a:lstStyle/>
              <a:p>
                <a:pPr>
                  <a:defRPr sz="1100" b="0" i="0" u="none" strike="noStrike">
                    <a:solidFill>
                      <a:srgbClr val="343A4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Completion rate (%)</c:v>
                </c:pt>
                <c:pt idx="1">
                  <c:v>Coverage incl. predictions (%)</c:v>
                </c:pt>
              </c:strCache>
            </c:strRef>
          </c:cat>
          <c:val>
            <c:numRef>
              <c:f>Sheet1!$B$2:$B$3</c:f>
              <c:numCache>
                <c:formatCode>General</c:formatCode>
                <c:ptCount val="2"/>
                <c:pt idx="0">
                  <c:v>70.3</c:v>
                </c:pt>
                <c:pt idx="1">
                  <c:v>85.4</c:v>
                </c:pt>
              </c:numCache>
            </c:numRef>
          </c:val>
          <c:extLst>
            <c:ext xmlns:c16="http://schemas.microsoft.com/office/drawing/2014/chart" uri="{C3380CC4-5D6E-409C-BE32-E72D297353CC}">
              <c16:uniqueId val="{00000000-D88B-4387-B9D0-A482185FB944}"/>
            </c:ext>
          </c:extLst>
        </c:ser>
        <c:ser>
          <c:idx val="1"/>
          <c:order val="1"/>
          <c:tx>
            <c:strRef>
              <c:f>Sheet1!$C$1</c:f>
              <c:strCache>
                <c:ptCount val="1"/>
                <c:pt idx="0">
                  <c:v>Rule-based</c:v>
                </c:pt>
              </c:strCache>
            </c:strRef>
          </c:tx>
          <c:spPr>
            <a:solidFill>
              <a:srgbClr val="6B8FB5"/>
            </a:solidFill>
            <a:effectLst/>
          </c:spPr>
          <c:invertIfNegative val="0"/>
          <c:dLbls>
            <c:numFmt formatCode="0.0" sourceLinked="0"/>
            <c:spPr>
              <a:noFill/>
              <a:ln>
                <a:noFill/>
              </a:ln>
              <a:effectLst/>
            </c:spPr>
            <c:txPr>
              <a:bodyPr/>
              <a:lstStyle/>
              <a:p>
                <a:pPr>
                  <a:defRPr sz="1100" b="0" i="0" u="none" strike="noStrike">
                    <a:solidFill>
                      <a:srgbClr val="343A4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Completion rate (%)</c:v>
                </c:pt>
                <c:pt idx="1">
                  <c:v>Coverage incl. predictions (%)</c:v>
                </c:pt>
              </c:strCache>
            </c:strRef>
          </c:cat>
          <c:val>
            <c:numRef>
              <c:f>Sheet1!$C$2:$C$3</c:f>
              <c:numCache>
                <c:formatCode>General</c:formatCode>
                <c:ptCount val="2"/>
                <c:pt idx="0">
                  <c:v>73.5</c:v>
                </c:pt>
                <c:pt idx="1">
                  <c:v>79.7</c:v>
                </c:pt>
              </c:numCache>
            </c:numRef>
          </c:val>
          <c:extLst>
            <c:ext xmlns:c16="http://schemas.microsoft.com/office/drawing/2014/chart" uri="{C3380CC4-5D6E-409C-BE32-E72D297353CC}">
              <c16:uniqueId val="{00000001-D88B-4387-B9D0-A482185FB944}"/>
            </c:ext>
          </c:extLst>
        </c:ser>
        <c:ser>
          <c:idx val="2"/>
          <c:order val="2"/>
          <c:tx>
            <c:strRef>
              <c:f>Sheet1!$D$1</c:f>
              <c:strCache>
                <c:ptCount val="1"/>
                <c:pt idx="0">
                  <c:v>FormForge adaptive</c:v>
                </c:pt>
              </c:strCache>
            </c:strRef>
          </c:tx>
          <c:spPr>
            <a:solidFill>
              <a:srgbClr val="6D3EF5"/>
            </a:solidFill>
            <a:effectLst/>
          </c:spPr>
          <c:invertIfNegative val="0"/>
          <c:dLbls>
            <c:numFmt formatCode="0.0" sourceLinked="0"/>
            <c:spPr>
              <a:noFill/>
              <a:ln>
                <a:noFill/>
              </a:ln>
              <a:effectLst/>
            </c:spPr>
            <c:txPr>
              <a:bodyPr/>
              <a:lstStyle/>
              <a:p>
                <a:pPr>
                  <a:defRPr sz="1100" b="0" i="0" u="none" strike="noStrike">
                    <a:solidFill>
                      <a:srgbClr val="343A4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Completion rate (%)</c:v>
                </c:pt>
                <c:pt idx="1">
                  <c:v>Coverage incl. predictions (%)</c:v>
                </c:pt>
              </c:strCache>
            </c:strRef>
          </c:cat>
          <c:val>
            <c:numRef>
              <c:f>Sheet1!$D$2:$D$3</c:f>
              <c:numCache>
                <c:formatCode>General</c:formatCode>
                <c:ptCount val="2"/>
                <c:pt idx="0">
                  <c:v>84.5</c:v>
                </c:pt>
                <c:pt idx="1">
                  <c:v>82.1</c:v>
                </c:pt>
              </c:numCache>
            </c:numRef>
          </c:val>
          <c:extLst>
            <c:ext xmlns:c16="http://schemas.microsoft.com/office/drawing/2014/chart" uri="{C3380CC4-5D6E-409C-BE32-E72D297353CC}">
              <c16:uniqueId val="{00000002-D88B-4387-B9D0-A482185FB94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95057"/>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9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9505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9505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1838"/>
                </a:solidFill>
                <a:latin typeface="+mn-lt"/>
              </a:defRPr>
            </a:pPr>
            <a:r>
              <a:rPr sz="1400" b="0" i="0" u="none" strike="noStrike">
                <a:solidFill>
                  <a:srgbClr val="1E1838"/>
                </a:solidFill>
                <a:latin typeface="+mn-lt"/>
              </a:rPr>
              <a:t>Prediction accuracy (within 1 point, %) vs real responses</a:t>
            </a:r>
          </a:p>
        </c:rich>
      </c:tx>
      <c:overlay val="0"/>
    </c:title>
    <c:autoTitleDeleted val="0"/>
    <c:plotArea>
      <c:layout/>
      <c:lineChart>
        <c:grouping val="standard"/>
        <c:varyColors val="0"/>
        <c:ser>
          <c:idx val="0"/>
          <c:order val="0"/>
          <c:tx>
            <c:strRef>
              <c:f>Sheet1!$B$1</c:f>
              <c:strCache>
                <c:ptCount val="1"/>
                <c:pt idx="0">
                  <c:v>No prior data</c:v>
                </c:pt>
              </c:strCache>
            </c:strRef>
          </c:tx>
          <c:spPr>
            <a:ln w="38100" cap="flat">
              <a:solidFill>
                <a:srgbClr val="6B8FB5"/>
              </a:solidFill>
              <a:prstDash val="solid"/>
              <a:round/>
            </a:ln>
            <a:effectLst/>
          </c:spPr>
          <c:marker>
            <c:symbol val="circle"/>
            <c:size val="8"/>
            <c:spPr>
              <a:solidFill>
                <a:srgbClr val="6B8FB5"/>
              </a:solidFill>
              <a:ln w="9525" cap="flat">
                <a:solidFill>
                  <a:srgbClr val="6B8FB5"/>
                </a:solidFill>
                <a:prstDash val="solid"/>
                <a:round/>
              </a:ln>
              <a:effectLst/>
            </c:spPr>
          </c:marker>
          <c:cat>
            <c:strRef>
              <c:f>Sheet1!$A$2:$A$7</c:f>
              <c:strCache>
                <c:ptCount val="6"/>
                <c:pt idx="0">
                  <c:v>0</c:v>
                </c:pt>
                <c:pt idx="1">
                  <c:v>10</c:v>
                </c:pt>
                <c:pt idx="2">
                  <c:v>25</c:v>
                </c:pt>
                <c:pt idx="3">
                  <c:v>50</c:v>
                </c:pt>
                <c:pt idx="4">
                  <c:v>100</c:v>
                </c:pt>
                <c:pt idx="5">
                  <c:v>250</c:v>
                </c:pt>
              </c:strCache>
            </c:strRef>
          </c:cat>
          <c:val>
            <c:numRef>
              <c:f>Sheet1!$B$2:$B$7</c:f>
              <c:numCache>
                <c:formatCode>General</c:formatCode>
                <c:ptCount val="6"/>
                <c:pt idx="0">
                  <c:v>53.4</c:v>
                </c:pt>
                <c:pt idx="1">
                  <c:v>75.099999999999994</c:v>
                </c:pt>
                <c:pt idx="2">
                  <c:v>77.3</c:v>
                </c:pt>
                <c:pt idx="3">
                  <c:v>81.400000000000006</c:v>
                </c:pt>
                <c:pt idx="4">
                  <c:v>83.5</c:v>
                </c:pt>
                <c:pt idx="5">
                  <c:v>84.9</c:v>
                </c:pt>
              </c:numCache>
            </c:numRef>
          </c:val>
          <c:smooth val="0"/>
          <c:extLst>
            <c:ext xmlns:c16="http://schemas.microsoft.com/office/drawing/2014/chart" uri="{C3380CC4-5D6E-409C-BE32-E72D297353CC}">
              <c16:uniqueId val="{00000000-DDB6-449C-842B-EFE28411D825}"/>
            </c:ext>
          </c:extLst>
        </c:ser>
        <c:ser>
          <c:idx val="1"/>
          <c:order val="1"/>
          <c:tx>
            <c:strRef>
              <c:f>Sheet1!$C$1</c:f>
              <c:strCache>
                <c:ptCount val="1"/>
                <c:pt idx="0">
                  <c:v>Synthetic warm start</c:v>
                </c:pt>
              </c:strCache>
            </c:strRef>
          </c:tx>
          <c:spPr>
            <a:ln w="38100" cap="flat">
              <a:solidFill>
                <a:srgbClr val="6D3EF5"/>
              </a:solidFill>
              <a:prstDash val="solid"/>
              <a:round/>
            </a:ln>
            <a:effectLst/>
          </c:spPr>
          <c:marker>
            <c:symbol val="circle"/>
            <c:size val="8"/>
            <c:spPr>
              <a:solidFill>
                <a:srgbClr val="6D3EF5"/>
              </a:solidFill>
              <a:ln w="9525" cap="flat">
                <a:solidFill>
                  <a:srgbClr val="6D3EF5"/>
                </a:solidFill>
                <a:prstDash val="solid"/>
                <a:round/>
              </a:ln>
              <a:effectLst/>
            </c:spPr>
          </c:marker>
          <c:cat>
            <c:strRef>
              <c:f>Sheet1!$A$2:$A$7</c:f>
              <c:strCache>
                <c:ptCount val="6"/>
                <c:pt idx="0">
                  <c:v>0</c:v>
                </c:pt>
                <c:pt idx="1">
                  <c:v>10</c:v>
                </c:pt>
                <c:pt idx="2">
                  <c:v>25</c:v>
                </c:pt>
                <c:pt idx="3">
                  <c:v>50</c:v>
                </c:pt>
                <c:pt idx="4">
                  <c:v>100</c:v>
                </c:pt>
                <c:pt idx="5">
                  <c:v>250</c:v>
                </c:pt>
              </c:strCache>
            </c:strRef>
          </c:cat>
          <c:val>
            <c:numRef>
              <c:f>Sheet1!$C$2:$C$7</c:f>
              <c:numCache>
                <c:formatCode>General</c:formatCode>
                <c:ptCount val="6"/>
                <c:pt idx="0">
                  <c:v>84.9</c:v>
                </c:pt>
                <c:pt idx="1">
                  <c:v>86.1</c:v>
                </c:pt>
                <c:pt idx="2">
                  <c:v>86.2</c:v>
                </c:pt>
                <c:pt idx="3">
                  <c:v>85.8</c:v>
                </c:pt>
                <c:pt idx="4">
                  <c:v>85.8</c:v>
                </c:pt>
                <c:pt idx="5">
                  <c:v>85.9</c:v>
                </c:pt>
              </c:numCache>
            </c:numRef>
          </c:val>
          <c:smooth val="0"/>
          <c:extLst>
            <c:ext xmlns:c16="http://schemas.microsoft.com/office/drawing/2014/chart" uri="{C3380CC4-5D6E-409C-BE32-E72D297353CC}">
              <c16:uniqueId val="{00000001-DDB6-449C-842B-EFE28411D82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200" b="0" i="0" u="none" strike="noStrike">
                    <a:solidFill>
                      <a:srgbClr val="495057"/>
                    </a:solidFill>
                    <a:latin typeface="Arial"/>
                  </a:defRPr>
                </a:pPr>
                <a:r>
                  <a:rPr sz="1200" b="0" i="0" u="none" strike="noStrike">
                    <a:solidFill>
                      <a:srgbClr val="495057"/>
                    </a:solidFill>
                    <a:latin typeface="Arial"/>
                  </a:rPr>
                  <a:t>Real responses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95057"/>
                </a:solidFill>
                <a:latin typeface="+mn-lt"/>
              </a:defRPr>
            </a:pPr>
            <a:endParaRPr lang="en-US"/>
          </a:p>
        </c:txPr>
        <c:crossAx val="2094734552"/>
        <c:crosses val="autoZero"/>
        <c:auto val="1"/>
        <c:lblAlgn val="ctr"/>
        <c:lblOffset val="100"/>
        <c:noMultiLvlLbl val="1"/>
      </c:catAx>
      <c:valAx>
        <c:axId val="2094734552"/>
        <c:scaling>
          <c:orientation val="minMax"/>
          <c:max val="90"/>
          <c:min val="50"/>
        </c:scaling>
        <c:delete val="0"/>
        <c:axPos val="l"/>
        <c:majorGridlines>
          <c:spPr>
            <a:ln w="9525" cap="flat">
              <a:solidFill>
                <a:srgbClr val="E9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9505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9505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1838"/>
                </a:solidFill>
                <a:latin typeface="+mn-lt"/>
              </a:defRPr>
            </a:pPr>
            <a:r>
              <a:rPr sz="1400" b="0" i="0" u="none" strike="noStrike">
                <a:solidFill>
                  <a:srgbClr val="1E1838"/>
                </a:solidFill>
                <a:latin typeface="+mn-lt"/>
              </a:rPr>
              <a:t>Ablation: prediction accuracy within 1 point (%)</a:t>
            </a:r>
          </a:p>
        </c:rich>
      </c:tx>
      <c:overlay val="0"/>
    </c:title>
    <c:autoTitleDeleted val="0"/>
    <c:plotArea>
      <c:layout/>
      <c:barChart>
        <c:barDir val="col"/>
        <c:grouping val="clustered"/>
        <c:varyColors val="0"/>
        <c:ser>
          <c:idx val="0"/>
          <c:order val="0"/>
          <c:tx>
            <c:strRef>
              <c:f>Sheet1!$B$1</c:f>
              <c:strCache>
                <c:ptCount val="1"/>
                <c:pt idx="0">
                  <c:v>Prediction accuracy (%)</c:v>
                </c:pt>
              </c:strCache>
            </c:strRef>
          </c:tx>
          <c:spPr>
            <a:solidFill>
              <a:srgbClr val="6D3EF5"/>
            </a:solidFill>
            <a:effectLst/>
          </c:spPr>
          <c:invertIfNegative val="0"/>
          <c:dLbls>
            <c:numFmt formatCode="0.0" sourceLinked="0"/>
            <c:spPr>
              <a:noFill/>
              <a:ln>
                <a:noFill/>
              </a:ln>
              <a:effectLst/>
            </c:spPr>
            <c:txPr>
              <a:bodyPr/>
              <a:lstStyle/>
              <a:p>
                <a:pPr>
                  <a:defRPr sz="1100" b="0" i="0" u="none" strike="noStrike">
                    <a:solidFill>
                      <a:srgbClr val="343A4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Full utility</c:v>
                </c:pt>
                <c:pt idx="1">
                  <c:v>No info gain</c:v>
                </c:pt>
                <c:pt idx="2">
                  <c:v>No redundancy</c:v>
                </c:pt>
                <c:pt idx="3">
                  <c:v>No coverage</c:v>
                </c:pt>
                <c:pt idx="4">
                  <c:v>Fixed top-10</c:v>
                </c:pt>
              </c:strCache>
            </c:strRef>
          </c:cat>
          <c:val>
            <c:numRef>
              <c:f>Sheet1!$B$2:$B$6</c:f>
              <c:numCache>
                <c:formatCode>General</c:formatCode>
                <c:ptCount val="5"/>
                <c:pt idx="0">
                  <c:v>86.4</c:v>
                </c:pt>
                <c:pt idx="1">
                  <c:v>83.6</c:v>
                </c:pt>
                <c:pt idx="2">
                  <c:v>84.8</c:v>
                </c:pt>
                <c:pt idx="3">
                  <c:v>86.2</c:v>
                </c:pt>
                <c:pt idx="4">
                  <c:v>71.099999999999994</c:v>
                </c:pt>
              </c:numCache>
            </c:numRef>
          </c:val>
          <c:extLst>
            <c:ext xmlns:c16="http://schemas.microsoft.com/office/drawing/2014/chart" uri="{C3380CC4-5D6E-409C-BE32-E72D297353CC}">
              <c16:uniqueId val="{00000000-BD54-458B-B715-E5CAEB698F0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95057"/>
                </a:solidFill>
                <a:latin typeface="+mn-lt"/>
              </a:defRPr>
            </a:pPr>
            <a:endParaRPr lang="en-US"/>
          </a:p>
        </c:txPr>
        <c:crossAx val="2094734552"/>
        <c:crosses val="autoZero"/>
        <c:auto val="1"/>
        <c:lblAlgn val="ctr"/>
        <c:lblOffset val="100"/>
        <c:noMultiLvlLbl val="1"/>
      </c:catAx>
      <c:valAx>
        <c:axId val="2094734552"/>
        <c:scaling>
          <c:orientation val="minMax"/>
          <c:max val="100"/>
          <c:min val="50"/>
        </c:scaling>
        <c:delete val="0"/>
        <c:axPos val="l"/>
        <c:majorGridlines>
          <c:spPr>
            <a:ln w="9525" cap="flat">
              <a:solidFill>
                <a:srgbClr val="E9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95057"/>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1838"/>
                </a:solidFill>
                <a:latin typeface="+mn-lt"/>
              </a:defRPr>
            </a:pPr>
            <a:r>
              <a:rPr sz="1400" b="0" i="0" u="none" strike="noStrike">
                <a:solidFill>
                  <a:srgbClr val="1E1838"/>
                </a:solidFill>
                <a:latin typeface="+mn-lt"/>
              </a:rPr>
              <a:t>Quality analyzer on 70 hand-labelled questions</a:t>
            </a:r>
          </a:p>
        </c:rich>
      </c:tx>
      <c:overlay val="0"/>
    </c:title>
    <c:autoTitleDeleted val="0"/>
    <c:plotArea>
      <c:layout/>
      <c:barChart>
        <c:barDir val="col"/>
        <c:grouping val="clustered"/>
        <c:varyColors val="0"/>
        <c:ser>
          <c:idx val="0"/>
          <c:order val="0"/>
          <c:tx>
            <c:strRef>
              <c:f>Sheet1!$B$1</c:f>
              <c:strCache>
                <c:ptCount val="1"/>
                <c:pt idx="0">
                  <c:v>Precision</c:v>
                </c:pt>
              </c:strCache>
            </c:strRef>
          </c:tx>
          <c:spPr>
            <a:solidFill>
              <a:srgbClr val="6B8FB5"/>
            </a:solidFill>
            <a:effectLst/>
          </c:spPr>
          <c:invertIfNegative val="0"/>
          <c:dLbls>
            <c:numFmt formatCode="0.00" sourceLinked="0"/>
            <c:spPr>
              <a:noFill/>
              <a:ln>
                <a:noFill/>
              </a:ln>
              <a:effectLst/>
            </c:spPr>
            <c:txPr>
              <a:bodyPr/>
              <a:lstStyle/>
              <a:p>
                <a:pPr>
                  <a:defRPr sz="1100" b="0" i="0" u="none" strike="noStrike">
                    <a:solidFill>
                      <a:srgbClr val="343A4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Double-barrelled</c:v>
                </c:pt>
                <c:pt idx="1">
                  <c:v>Leading</c:v>
                </c:pt>
                <c:pt idx="2">
                  <c:v>Ambiguous</c:v>
                </c:pt>
                <c:pt idx="3">
                  <c:v>Any issue</c:v>
                </c:pt>
              </c:strCache>
            </c:strRef>
          </c:cat>
          <c:val>
            <c:numRef>
              <c:f>Sheet1!$B$2:$B$5</c:f>
              <c:numCache>
                <c:formatCode>General</c:formatCode>
                <c:ptCount val="4"/>
                <c:pt idx="0">
                  <c:v>1</c:v>
                </c:pt>
                <c:pt idx="1">
                  <c:v>0.90900000000000003</c:v>
                </c:pt>
                <c:pt idx="2">
                  <c:v>0.78900000000000003</c:v>
                </c:pt>
                <c:pt idx="3">
                  <c:v>0.91200000000000003</c:v>
                </c:pt>
              </c:numCache>
            </c:numRef>
          </c:val>
          <c:extLst>
            <c:ext xmlns:c16="http://schemas.microsoft.com/office/drawing/2014/chart" uri="{C3380CC4-5D6E-409C-BE32-E72D297353CC}">
              <c16:uniqueId val="{00000000-82F0-404A-B04F-83A38DC49CBF}"/>
            </c:ext>
          </c:extLst>
        </c:ser>
        <c:ser>
          <c:idx val="1"/>
          <c:order val="1"/>
          <c:tx>
            <c:strRef>
              <c:f>Sheet1!$C$1</c:f>
              <c:strCache>
                <c:ptCount val="1"/>
                <c:pt idx="0">
                  <c:v>Recall</c:v>
                </c:pt>
              </c:strCache>
            </c:strRef>
          </c:tx>
          <c:spPr>
            <a:solidFill>
              <a:srgbClr val="6D3EF5"/>
            </a:solidFill>
            <a:effectLst/>
          </c:spPr>
          <c:invertIfNegative val="0"/>
          <c:dLbls>
            <c:numFmt formatCode="0.00" sourceLinked="0"/>
            <c:spPr>
              <a:noFill/>
              <a:ln>
                <a:noFill/>
              </a:ln>
              <a:effectLst/>
            </c:spPr>
            <c:txPr>
              <a:bodyPr/>
              <a:lstStyle/>
              <a:p>
                <a:pPr>
                  <a:defRPr sz="1100" b="0" i="0" u="none" strike="noStrike">
                    <a:solidFill>
                      <a:srgbClr val="343A4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Double-barrelled</c:v>
                </c:pt>
                <c:pt idx="1">
                  <c:v>Leading</c:v>
                </c:pt>
                <c:pt idx="2">
                  <c:v>Ambiguous</c:v>
                </c:pt>
                <c:pt idx="3">
                  <c:v>Any issue</c:v>
                </c:pt>
              </c:strCache>
            </c:strRef>
          </c:cat>
          <c:val>
            <c:numRef>
              <c:f>Sheet1!$C$2:$C$5</c:f>
              <c:numCache>
                <c:formatCode>General</c:formatCode>
                <c:ptCount val="4"/>
                <c:pt idx="0">
                  <c:v>0.66700000000000004</c:v>
                </c:pt>
                <c:pt idx="1">
                  <c:v>1</c:v>
                </c:pt>
                <c:pt idx="2">
                  <c:v>1</c:v>
                </c:pt>
                <c:pt idx="3">
                  <c:v>0.88600000000000001</c:v>
                </c:pt>
              </c:numCache>
            </c:numRef>
          </c:val>
          <c:extLst>
            <c:ext xmlns:c16="http://schemas.microsoft.com/office/drawing/2014/chart" uri="{C3380CC4-5D6E-409C-BE32-E72D297353CC}">
              <c16:uniqueId val="{00000001-82F0-404A-B04F-83A38DC49CB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95057"/>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E9EC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9505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49505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2314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FormForge started as a multi-tenant form builder. After Review 1 it was turned into a research-driven adaptive questionnaire platform that chooses the next question for each respondent, runs at zero cost on a free AI model behind a privacy layer, and was experimentally evaluated against conventional forms.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structure of the talk: context and literature, the design of each module, implementation and demo, then the experimental results and cost.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1 correctly pointed out that a form builder alone is not novel. The existing platform was kept as the foundation, and research components were added on top, with a measurable research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motivate the work. The central research question is on the right: selecting the next question by its information value while controlling respondent burden.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one per module. The adaptive engine and its evaluation are the core research contribution; the other modules support 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Bachmann 2024 and 2025 as the closest precedents for adaptive selection and cold start, Hu 2024 for information gain, and the 2026 audit as the main caution about synthetic respondents.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individual idea has been studied. The novelty is the integration into a general form platform plus the burden- and redundancy-aware utility and its evaluation.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intelligence modules map to the three stages of a form's life: creation, answering and analysis. The original platform is reused unchanged underneath.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tools are free and open-source. The Gemini free tier was chosen because a local model was too slow and too large for a laptop without a GPU; Ollama or OpenAI can be selected with one setting behind the same interface.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Yellow boxes are the new FormForge 2.0 services; green are the original platform. All model calls go through the AIProvider interface, which defaults to the Gemini free tier and only ever receives masked text.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respondent never logs in. The language model supports generation, quality review, the simulator and insights but is never used while a respondent answers.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metadata lives inside the existing fields JSON, so older forms stay valid. Predicted values are stored separately from real answers.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Schema enforced with zod; all properties required and nullable after the structured-output issue we hit with optional fields. Invalid JSON is sent back for repair at most twice. Gemini rejects some JSON Schema keywords, so the model gets a structure-only schema and zod does the full check. A 10-question draft takes about 5 to 7 seconds.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categories follow the error types reported by Reed et al. 2024 and the checks used in Adhikari et al. 2025. Findings are suggestions; the creator decides.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gain is the only term that reacts to the respondent's own answers, so it has the largest weight. Redundancy is next because asking two questions that measure the same thing is wasted effort.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Anchors-first came from an early experiment where the engine picked the redundant satisfaction question first and was then forced to ask the required one too. Verified on 7,500 simulated sessions with zero rule violations.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Inspired by Bachmann et al. 2025, who pre-trained an adaptive questionnaire with GPT-4 answers. We follow the same design with a free model, with a decaying weight so real data takes over. In a live check, 40 Gemini personas took 14 seconds and lifted prediction accuracy from 56% to 73% before any real response.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provider only ever sees masked text: in the demo, all 8 planted personal details were masked and none reached the model. Results are cached so the page never waits on a model.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29 functional tests run the real Express app against a PostgreSQL test database, with a fake model so the run is repeatable. The engine constraints were also verified on 7,500 simulated sessions.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demo here if possible: generate a form, look at its quality report, publish it in adaptive mode, answer it on a phone, and open insights.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Simulation is the only way to know the true answers to skipped questions. A field study with students is in the future scope.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Skipped answers are predicted, exactly right 56.6% and within one point 84.5% of the time. They are labelled as predicted, never treated as answers.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start follows Bachmann et al. 2025. Caveat: synthetic data in the simulation shares the model's structure; the live check with real Gemini personas gave a smaller but clear gain (56% to 73% within one point, against 82% with real data). Ablation shows information gain and the respondent model drive the gains.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Double-barrelled recall is lowest because the rule misses pairs separated by an article. Cost is zero by design. The trade-offs are free-tier rate limits, handled with retries and background jobs, and that masked text leaves the machine; Ollama avoids that for sensitive forms.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one-line takeaway: a form does not have to be a fixed list.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F_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7680960" cy="18288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703320"/>
            <a:ext cx="7315200" cy="822960"/>
          </a:xfrm>
          <a:prstGeom prst="rect">
            <a:avLst/>
          </a:prstGeom>
          <a:noFill/>
          <a:ln/>
        </p:spPr>
        <p:txBody>
          <a:bodyPr wrap="square" rtlCol="0"/>
          <a:lstStyle>
            <a:lvl1pPr marL="0" indent="0" algn="l">
              <a:buNone/>
              <a:defRPr lang="en-US" sz="2000" dirty="0">
                <a:solidFill>
                  <a:srgbClr val="CFC6FF"/>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F_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19088"/>
            <a:ext cx="6400800" cy="274320"/>
          </a:xfrm>
          <a:prstGeom prst="rect">
            <a:avLst/>
          </a:prstGeom>
          <a:noFill/>
          <a:ln/>
        </p:spPr>
        <p:txBody>
          <a:bodyPr wrap="square" lIns="0" tIns="0" rIns="0" bIns="0" rtlCol="0" anchor="ctr"/>
          <a:lstStyle/>
          <a:p>
            <a:pPr marL="0" indent="0">
              <a:buNone/>
            </a:pPr>
            <a:r>
              <a:rPr lang="en-US" sz="1000" dirty="0">
                <a:solidFill>
                  <a:schemeClr val="accent6"/>
                </a:solidFill>
              </a:rPr>
              <a:t>FormForge 2.0  |  PMCA699J Dissertation-II / Internship-II</a:t>
            </a:r>
            <a:endParaRPr lang="en-US" sz="1000" dirty="0"/>
          </a:p>
        </p:txBody>
      </p:sp>
      <p:sp>
        <p:nvSpPr>
          <p:cNvPr id="3" name="Text 1"/>
          <p:cNvSpPr>
            <a:spLocks noGrp="1"/>
          </p:cNvSpPr>
          <p:nvPr>
            <p:ph type="title" idx="101" hasCustomPrompt="1"/>
          </p:nvPr>
        </p:nvSpPr>
        <p:spPr>
          <a:xfrm>
            <a:off x="548640" y="320040"/>
            <a:ext cx="11064240" cy="7315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F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E95D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9.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44.png"/><Relationship Id="rId5" Type="http://schemas.openxmlformats.org/officeDocument/2006/relationships/image" Target="../media/image10.png"/><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image" Target="../media/image52.png"/><Relationship Id="rId5" Type="http://schemas.openxmlformats.org/officeDocument/2006/relationships/image" Target="../media/image5.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2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7680960" cy="1828800"/>
          </a:xfrm>
          <a:prstGeom prst="rect">
            <a:avLst/>
          </a:prstGeom>
          <a:noFill/>
          <a:ln/>
        </p:spPr>
        <p:txBody>
          <a:bodyPr wrap="square" lIns="0" tIns="0" rIns="0" bIns="0" rtlCol="0" anchor="b"/>
          <a:lstStyle/>
          <a:p>
            <a:pPr marL="0" indent="0" algn="l">
              <a:buNone/>
            </a:pPr>
            <a:r>
              <a:rPr lang="en-US" sz="4400" b="1" dirty="0">
                <a:solidFill>
                  <a:schemeClr val="bg1"/>
                </a:solidFill>
              </a:rPr>
              <a:t>FormForge 2.0</a:t>
            </a:r>
            <a:endParaRPr lang="en-US" sz="4400" dirty="0"/>
          </a:p>
        </p:txBody>
      </p:sp>
      <p:sp>
        <p:nvSpPr>
          <p:cNvPr id="3" name="Text 0"/>
          <p:cNvSpPr>
            <a:spLocks noGrp="1"/>
          </p:cNvSpPr>
          <p:nvPr>
            <p:ph type="body" idx="101" hasCustomPrompt="1"/>
          </p:nvPr>
        </p:nvSpPr>
        <p:spPr>
          <a:xfrm>
            <a:off x="731520" y="3703320"/>
            <a:ext cx="7315200" cy="822960"/>
          </a:xfrm>
          <a:prstGeom prst="rect">
            <a:avLst/>
          </a:prstGeom>
          <a:noFill/>
          <a:ln/>
        </p:spPr>
        <p:txBody>
          <a:bodyPr wrap="square" lIns="0" tIns="0" rIns="0" bIns="0" rtlCol="0" anchor="t"/>
          <a:lstStyle/>
          <a:p>
            <a:pPr marL="0" indent="0" algn="l">
              <a:buNone/>
            </a:pPr>
            <a:r>
              <a:rPr lang="en-US" sz="2000" dirty="0">
                <a:solidFill>
                  <a:srgbClr val="CFC6FF"/>
                </a:solidFill>
              </a:rPr>
              <a:t>An Information-Aware Adaptive Questionnaire Platform with Privacy-Preserving AI</a:t>
            </a:r>
            <a:endParaRPr lang="en-US" sz="2000" dirty="0"/>
          </a:p>
        </p:txBody>
      </p:sp>
      <p:sp>
        <p:nvSpPr>
          <p:cNvPr id="4" name="text-1"/>
          <p:cNvSpPr txBox="1"/>
          <p:nvPr/>
        </p:nvSpPr>
        <p:spPr>
          <a:xfrm>
            <a:off x="731520" y="4892040"/>
            <a:ext cx="6858000" cy="1005840"/>
          </a:xfrm>
          <a:prstGeom prst="rect">
            <a:avLst/>
          </a:prstGeom>
          <a:noFill/>
          <a:ln/>
        </p:spPr>
        <p:txBody>
          <a:bodyPr wrap="square" lIns="0" tIns="0" rIns="0" bIns="0" rtlCol="0" anchor="t"/>
          <a:lstStyle/>
          <a:p>
            <a:pPr marL="0" indent="0">
              <a:spcAft>
                <a:spcPts val="400"/>
              </a:spcAft>
              <a:buNone/>
            </a:pPr>
            <a:r>
              <a:rPr lang="en-US" sz="1500" b="1" dirty="0">
                <a:solidFill>
                  <a:srgbClr val="E6E1FF"/>
                </a:solidFill>
              </a:rPr>
              <a:t>[STUDENT NAME]  |  [REGISTER NUMBER]</a:t>
            </a:r>
            <a:endParaRPr lang="en-US" sz="1500" dirty="0"/>
          </a:p>
          <a:p>
            <a:pPr marL="0" indent="0">
              <a:spcAft>
                <a:spcPts val="400"/>
              </a:spcAft>
              <a:buNone/>
            </a:pPr>
            <a:r>
              <a:rPr lang="en-US" sz="1500" dirty="0">
                <a:solidFill>
                  <a:srgbClr val="E6E1FF"/>
                </a:solidFill>
              </a:rPr>
              <a:t>Guide: Prof. / Dr. [Guide Name]</a:t>
            </a:r>
            <a:endParaRPr lang="en-US" sz="1500" dirty="0"/>
          </a:p>
          <a:p>
            <a:pPr marL="0" indent="0">
              <a:spcAft>
                <a:spcPts val="400"/>
              </a:spcAft>
              <a:buNone/>
            </a:pPr>
            <a:r>
              <a:rPr lang="en-US" sz="1500" dirty="0">
                <a:solidFill>
                  <a:srgbClr val="E6E1FF"/>
                </a:solidFill>
              </a:rPr>
              <a:t>Master of Computer Applications  |  SCORE, VIT Vellore</a:t>
            </a:r>
            <a:endParaRPr lang="en-US" sz="1500" dirty="0"/>
          </a:p>
        </p:txBody>
      </p:sp>
      <p:sp>
        <p:nvSpPr>
          <p:cNvPr id="5" name="title-disc"/>
          <p:cNvSpPr/>
          <p:nvPr/>
        </p:nvSpPr>
        <p:spPr>
          <a:xfrm>
            <a:off x="8732520" y="1325880"/>
            <a:ext cx="2834640" cy="2834640"/>
          </a:xfrm>
          <a:prstGeom prst="ellipse">
            <a:avLst/>
          </a:prstGeom>
          <a:solidFill>
            <a:srgbClr val="34247A"/>
          </a:solidFill>
          <a:ln w="12700">
            <a:solidFill>
              <a:srgbClr val="34247A"/>
            </a:solidFill>
            <a:prstDash val="solid"/>
          </a:ln>
        </p:spPr>
        <p:txBody>
          <a:bodyPr/>
          <a:lstStyle/>
          <a:p>
            <a:endParaRPr lang="en-US"/>
          </a:p>
        </p:txBody>
      </p:sp>
      <p:pic>
        <p:nvPicPr>
          <p:cNvPr id="6" name="title-icon" descr="Adaptive questions icon"/>
          <p:cNvPicPr>
            <a:picLocks noChangeAspect="1"/>
          </p:cNvPicPr>
          <p:nvPr/>
        </p:nvPicPr>
        <p:blipFill>
          <a:blip r:embed="rId3"/>
          <a:stretch>
            <a:fillRect/>
          </a:stretch>
        </p:blipFill>
        <p:spPr>
          <a:xfrm>
            <a:off x="9464040" y="2057400"/>
            <a:ext cx="1371600" cy="1371600"/>
          </a:xfrm>
          <a:prstGeom prst="rect">
            <a:avLst/>
          </a:prstGeom>
        </p:spPr>
      </p:pic>
      <p:sp>
        <p:nvSpPr>
          <p:cNvPr id="7" name="text-2"/>
          <p:cNvSpPr txBox="1"/>
          <p:nvPr/>
        </p:nvSpPr>
        <p:spPr>
          <a:xfrm>
            <a:off x="8412480" y="4434840"/>
            <a:ext cx="3474720" cy="457200"/>
          </a:xfrm>
          <a:prstGeom prst="rect">
            <a:avLst/>
          </a:prstGeom>
          <a:noFill/>
          <a:ln/>
        </p:spPr>
        <p:txBody>
          <a:bodyPr wrap="square" lIns="0" tIns="0" rIns="0" bIns="0" rtlCol="0" anchor="t"/>
          <a:lstStyle/>
          <a:p>
            <a:pPr marL="0" indent="0" algn="ctr">
              <a:buNone/>
            </a:pPr>
            <a:r>
              <a:rPr lang="en-US" sz="1600" i="1" dirty="0">
                <a:solidFill>
                  <a:srgbClr val="CFC6FF"/>
                </a:solidFill>
              </a:rPr>
              <a:t>Ask fewer, better questions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Agenda</a:t>
            </a:r>
            <a:endParaRPr lang="en-US" sz="3000" dirty="0"/>
          </a:p>
        </p:txBody>
      </p:sp>
      <p:sp>
        <p:nvSpPr>
          <p:cNvPr id="3" name="card-3"/>
          <p:cNvSpPr/>
          <p:nvPr/>
        </p:nvSpPr>
        <p:spPr>
          <a:xfrm>
            <a:off x="548640" y="1417320"/>
            <a:ext cx="3474720" cy="2057400"/>
          </a:xfrm>
          <a:prstGeom prst="roundRect">
            <a:avLst>
              <a:gd name="adj" fmla="val 5333"/>
            </a:avLst>
          </a:prstGeom>
          <a:solidFill>
            <a:schemeClr val="bg2"/>
          </a:solidFill>
          <a:ln w="6350">
            <a:solidFill>
              <a:schemeClr val="bg2"/>
            </a:solidFill>
            <a:prstDash val="solid"/>
          </a:ln>
        </p:spPr>
        <p:txBody>
          <a:bodyPr/>
          <a:lstStyle/>
          <a:p>
            <a:endParaRPr lang="en-US"/>
          </a:p>
        </p:txBody>
      </p:sp>
      <p:sp>
        <p:nvSpPr>
          <p:cNvPr id="4" name="text-4"/>
          <p:cNvSpPr txBox="1"/>
          <p:nvPr/>
        </p:nvSpPr>
        <p:spPr>
          <a:xfrm>
            <a:off x="822960" y="1645920"/>
            <a:ext cx="1371600" cy="731520"/>
          </a:xfrm>
          <a:prstGeom prst="rect">
            <a:avLst/>
          </a:prstGeom>
          <a:noFill/>
          <a:ln/>
        </p:spPr>
        <p:txBody>
          <a:bodyPr wrap="square" lIns="0" tIns="0" rIns="0" bIns="0" rtlCol="0" anchor="t"/>
          <a:lstStyle/>
          <a:p>
            <a:pPr marL="0" indent="0">
              <a:buNone/>
            </a:pPr>
            <a:r>
              <a:rPr lang="en-US" sz="4000" b="1" dirty="0">
                <a:solidFill>
                  <a:schemeClr val="accent1"/>
                </a:solidFill>
              </a:rPr>
              <a:t>01</a:t>
            </a:r>
            <a:endParaRPr lang="en-US" sz="4000" dirty="0"/>
          </a:p>
        </p:txBody>
      </p:sp>
      <p:sp>
        <p:nvSpPr>
          <p:cNvPr id="5" name="text-5"/>
          <p:cNvSpPr txBox="1"/>
          <p:nvPr/>
        </p:nvSpPr>
        <p:spPr>
          <a:xfrm>
            <a:off x="822960" y="2377440"/>
            <a:ext cx="3017520" cy="411480"/>
          </a:xfrm>
          <a:prstGeom prst="rect">
            <a:avLst/>
          </a:prstGeom>
          <a:noFill/>
          <a:ln/>
        </p:spPr>
        <p:txBody>
          <a:bodyPr wrap="square" lIns="0" tIns="0" rIns="0" bIns="0" rtlCol="0" anchor="t"/>
          <a:lstStyle/>
          <a:p>
            <a:pPr marL="0" indent="0">
              <a:buNone/>
            </a:pPr>
            <a:r>
              <a:rPr lang="en-US" sz="2000" b="1" dirty="0">
                <a:solidFill>
                  <a:schemeClr val="tx1"/>
                </a:solidFill>
              </a:rPr>
              <a:t>Context</a:t>
            </a:r>
            <a:endParaRPr lang="en-US" sz="2000" dirty="0"/>
          </a:p>
        </p:txBody>
      </p:sp>
      <p:sp>
        <p:nvSpPr>
          <p:cNvPr id="6" name="text-6"/>
          <p:cNvSpPr txBox="1"/>
          <p:nvPr/>
        </p:nvSpPr>
        <p:spPr>
          <a:xfrm>
            <a:off x="822960" y="2788920"/>
            <a:ext cx="3017520" cy="548640"/>
          </a:xfrm>
          <a:prstGeom prst="rect">
            <a:avLst/>
          </a:prstGeom>
          <a:noFill/>
          <a:ln/>
        </p:spPr>
        <p:txBody>
          <a:bodyPr wrap="square" lIns="0" tIns="0" rIns="0" bIns="0" rtlCol="0" anchor="t"/>
          <a:lstStyle/>
          <a:p>
            <a:pPr marL="0" indent="0">
              <a:buNone/>
            </a:pPr>
            <a:r>
              <a:rPr lang="en-US" sz="1400" dirty="0">
                <a:solidFill>
                  <a:srgbClr val="6B6785"/>
                </a:solidFill>
              </a:rPr>
              <a:t>Review 1 feedback, problem, objectives</a:t>
            </a:r>
            <a:endParaRPr lang="en-US" sz="1400" dirty="0"/>
          </a:p>
        </p:txBody>
      </p:sp>
      <p:sp>
        <p:nvSpPr>
          <p:cNvPr id="7" name="card-7"/>
          <p:cNvSpPr/>
          <p:nvPr/>
        </p:nvSpPr>
        <p:spPr>
          <a:xfrm>
            <a:off x="4297680" y="1417320"/>
            <a:ext cx="3474720" cy="2057400"/>
          </a:xfrm>
          <a:prstGeom prst="roundRect">
            <a:avLst>
              <a:gd name="adj" fmla="val 5333"/>
            </a:avLst>
          </a:prstGeom>
          <a:solidFill>
            <a:schemeClr val="bg2"/>
          </a:solidFill>
          <a:ln w="6350">
            <a:solidFill>
              <a:schemeClr val="bg2"/>
            </a:solidFill>
            <a:prstDash val="solid"/>
          </a:ln>
        </p:spPr>
        <p:txBody>
          <a:bodyPr/>
          <a:lstStyle/>
          <a:p>
            <a:endParaRPr lang="en-US"/>
          </a:p>
        </p:txBody>
      </p:sp>
      <p:sp>
        <p:nvSpPr>
          <p:cNvPr id="8" name="text-8"/>
          <p:cNvSpPr txBox="1"/>
          <p:nvPr/>
        </p:nvSpPr>
        <p:spPr>
          <a:xfrm>
            <a:off x="4572000" y="1645920"/>
            <a:ext cx="1371600" cy="731520"/>
          </a:xfrm>
          <a:prstGeom prst="rect">
            <a:avLst/>
          </a:prstGeom>
          <a:noFill/>
          <a:ln/>
        </p:spPr>
        <p:txBody>
          <a:bodyPr wrap="square" lIns="0" tIns="0" rIns="0" bIns="0" rtlCol="0" anchor="t"/>
          <a:lstStyle/>
          <a:p>
            <a:pPr marL="0" indent="0">
              <a:buNone/>
            </a:pPr>
            <a:r>
              <a:rPr lang="en-US" sz="4000" b="1" dirty="0">
                <a:solidFill>
                  <a:schemeClr val="accent1"/>
                </a:solidFill>
              </a:rPr>
              <a:t>02</a:t>
            </a:r>
            <a:endParaRPr lang="en-US" sz="4000" dirty="0"/>
          </a:p>
        </p:txBody>
      </p:sp>
      <p:sp>
        <p:nvSpPr>
          <p:cNvPr id="9" name="text-9"/>
          <p:cNvSpPr txBox="1"/>
          <p:nvPr/>
        </p:nvSpPr>
        <p:spPr>
          <a:xfrm>
            <a:off x="4572000" y="2377440"/>
            <a:ext cx="3017520" cy="411480"/>
          </a:xfrm>
          <a:prstGeom prst="rect">
            <a:avLst/>
          </a:prstGeom>
          <a:noFill/>
          <a:ln/>
        </p:spPr>
        <p:txBody>
          <a:bodyPr wrap="square" lIns="0" tIns="0" rIns="0" bIns="0" rtlCol="0" anchor="t"/>
          <a:lstStyle/>
          <a:p>
            <a:pPr marL="0" indent="0">
              <a:buNone/>
            </a:pPr>
            <a:r>
              <a:rPr lang="en-US" sz="2000" b="1" dirty="0">
                <a:solidFill>
                  <a:schemeClr val="tx1"/>
                </a:solidFill>
              </a:rPr>
              <a:t>Literature</a:t>
            </a:r>
            <a:endParaRPr lang="en-US" sz="2000" dirty="0"/>
          </a:p>
        </p:txBody>
      </p:sp>
      <p:sp>
        <p:nvSpPr>
          <p:cNvPr id="10" name="text-10"/>
          <p:cNvSpPr txBox="1"/>
          <p:nvPr/>
        </p:nvSpPr>
        <p:spPr>
          <a:xfrm>
            <a:off x="4572000" y="2788920"/>
            <a:ext cx="3017520" cy="548640"/>
          </a:xfrm>
          <a:prstGeom prst="rect">
            <a:avLst/>
          </a:prstGeom>
          <a:noFill/>
          <a:ln/>
        </p:spPr>
        <p:txBody>
          <a:bodyPr wrap="square" lIns="0" tIns="0" rIns="0" bIns="0" rtlCol="0" anchor="t"/>
          <a:lstStyle/>
          <a:p>
            <a:pPr marL="0" indent="0">
              <a:buNone/>
            </a:pPr>
            <a:r>
              <a:rPr lang="en-US" sz="1400" dirty="0">
                <a:solidFill>
                  <a:srgbClr val="6B6785"/>
                </a:solidFill>
              </a:rPr>
              <a:t>2024-2026 research and the gap</a:t>
            </a:r>
            <a:endParaRPr lang="en-US" sz="1400" dirty="0"/>
          </a:p>
        </p:txBody>
      </p:sp>
      <p:sp>
        <p:nvSpPr>
          <p:cNvPr id="11" name="card-11"/>
          <p:cNvSpPr/>
          <p:nvPr/>
        </p:nvSpPr>
        <p:spPr>
          <a:xfrm>
            <a:off x="8046720" y="1417320"/>
            <a:ext cx="3474720" cy="2057400"/>
          </a:xfrm>
          <a:prstGeom prst="roundRect">
            <a:avLst>
              <a:gd name="adj" fmla="val 5333"/>
            </a:avLst>
          </a:prstGeom>
          <a:solidFill>
            <a:schemeClr val="bg2"/>
          </a:solidFill>
          <a:ln w="6350">
            <a:solidFill>
              <a:schemeClr val="bg2"/>
            </a:solidFill>
            <a:prstDash val="solid"/>
          </a:ln>
        </p:spPr>
        <p:txBody>
          <a:bodyPr/>
          <a:lstStyle/>
          <a:p>
            <a:endParaRPr lang="en-US"/>
          </a:p>
        </p:txBody>
      </p:sp>
      <p:sp>
        <p:nvSpPr>
          <p:cNvPr id="12" name="text-12"/>
          <p:cNvSpPr txBox="1"/>
          <p:nvPr/>
        </p:nvSpPr>
        <p:spPr>
          <a:xfrm>
            <a:off x="8321040" y="1645920"/>
            <a:ext cx="1371600" cy="731520"/>
          </a:xfrm>
          <a:prstGeom prst="rect">
            <a:avLst/>
          </a:prstGeom>
          <a:noFill/>
          <a:ln/>
        </p:spPr>
        <p:txBody>
          <a:bodyPr wrap="square" lIns="0" tIns="0" rIns="0" bIns="0" rtlCol="0" anchor="t"/>
          <a:lstStyle/>
          <a:p>
            <a:pPr marL="0" indent="0">
              <a:buNone/>
            </a:pPr>
            <a:r>
              <a:rPr lang="en-US" sz="4000" b="1" dirty="0">
                <a:solidFill>
                  <a:schemeClr val="accent1"/>
                </a:solidFill>
              </a:rPr>
              <a:t>03</a:t>
            </a:r>
            <a:endParaRPr lang="en-US" sz="4000" dirty="0"/>
          </a:p>
        </p:txBody>
      </p:sp>
      <p:sp>
        <p:nvSpPr>
          <p:cNvPr id="13" name="text-13"/>
          <p:cNvSpPr txBox="1"/>
          <p:nvPr/>
        </p:nvSpPr>
        <p:spPr>
          <a:xfrm>
            <a:off x="8321040" y="2377440"/>
            <a:ext cx="3017520" cy="411480"/>
          </a:xfrm>
          <a:prstGeom prst="rect">
            <a:avLst/>
          </a:prstGeom>
          <a:noFill/>
          <a:ln/>
        </p:spPr>
        <p:txBody>
          <a:bodyPr wrap="square" lIns="0" tIns="0" rIns="0" bIns="0" rtlCol="0" anchor="t"/>
          <a:lstStyle/>
          <a:p>
            <a:pPr marL="0" indent="0">
              <a:buNone/>
            </a:pPr>
            <a:r>
              <a:rPr lang="en-US" sz="2000" b="1" dirty="0">
                <a:solidFill>
                  <a:schemeClr val="tx1"/>
                </a:solidFill>
              </a:rPr>
              <a:t>Design</a:t>
            </a:r>
            <a:endParaRPr lang="en-US" sz="2000" dirty="0"/>
          </a:p>
        </p:txBody>
      </p:sp>
      <p:sp>
        <p:nvSpPr>
          <p:cNvPr id="14" name="text-14"/>
          <p:cNvSpPr txBox="1"/>
          <p:nvPr/>
        </p:nvSpPr>
        <p:spPr>
          <a:xfrm>
            <a:off x="8321040" y="2788920"/>
            <a:ext cx="3017520" cy="548640"/>
          </a:xfrm>
          <a:prstGeom prst="rect">
            <a:avLst/>
          </a:prstGeom>
          <a:noFill/>
          <a:ln/>
        </p:spPr>
        <p:txBody>
          <a:bodyPr wrap="square" lIns="0" tIns="0" rIns="0" bIns="0" rtlCol="0" anchor="t"/>
          <a:lstStyle/>
          <a:p>
            <a:pPr marL="0" indent="0">
              <a:buNone/>
            </a:pPr>
            <a:r>
              <a:rPr lang="en-US" sz="1400" dirty="0">
                <a:solidFill>
                  <a:srgbClr val="6B6785"/>
                </a:solidFill>
              </a:rPr>
              <a:t>Architecture, UML, data model, algorithms</a:t>
            </a:r>
            <a:endParaRPr lang="en-US" sz="1400" dirty="0"/>
          </a:p>
        </p:txBody>
      </p:sp>
      <p:sp>
        <p:nvSpPr>
          <p:cNvPr id="15" name="card-15"/>
          <p:cNvSpPr/>
          <p:nvPr/>
        </p:nvSpPr>
        <p:spPr>
          <a:xfrm>
            <a:off x="548640" y="3794760"/>
            <a:ext cx="3474720" cy="2057400"/>
          </a:xfrm>
          <a:prstGeom prst="roundRect">
            <a:avLst>
              <a:gd name="adj" fmla="val 5333"/>
            </a:avLst>
          </a:prstGeom>
          <a:solidFill>
            <a:schemeClr val="bg2"/>
          </a:solidFill>
          <a:ln w="6350">
            <a:solidFill>
              <a:schemeClr val="bg2"/>
            </a:solidFill>
            <a:prstDash val="solid"/>
          </a:ln>
        </p:spPr>
        <p:txBody>
          <a:bodyPr/>
          <a:lstStyle/>
          <a:p>
            <a:endParaRPr lang="en-US"/>
          </a:p>
        </p:txBody>
      </p:sp>
      <p:sp>
        <p:nvSpPr>
          <p:cNvPr id="16" name="text-16"/>
          <p:cNvSpPr txBox="1"/>
          <p:nvPr/>
        </p:nvSpPr>
        <p:spPr>
          <a:xfrm>
            <a:off x="822960" y="4023360"/>
            <a:ext cx="1371600" cy="731520"/>
          </a:xfrm>
          <a:prstGeom prst="rect">
            <a:avLst/>
          </a:prstGeom>
          <a:noFill/>
          <a:ln/>
        </p:spPr>
        <p:txBody>
          <a:bodyPr wrap="square" lIns="0" tIns="0" rIns="0" bIns="0" rtlCol="0" anchor="t"/>
          <a:lstStyle/>
          <a:p>
            <a:pPr marL="0" indent="0">
              <a:buNone/>
            </a:pPr>
            <a:r>
              <a:rPr lang="en-US" sz="4000" b="1" dirty="0">
                <a:solidFill>
                  <a:schemeClr val="accent1"/>
                </a:solidFill>
              </a:rPr>
              <a:t>04</a:t>
            </a:r>
            <a:endParaRPr lang="en-US" sz="4000" dirty="0"/>
          </a:p>
        </p:txBody>
      </p:sp>
      <p:sp>
        <p:nvSpPr>
          <p:cNvPr id="17" name="text-17"/>
          <p:cNvSpPr txBox="1"/>
          <p:nvPr/>
        </p:nvSpPr>
        <p:spPr>
          <a:xfrm>
            <a:off x="822960" y="4754880"/>
            <a:ext cx="3017520" cy="411480"/>
          </a:xfrm>
          <a:prstGeom prst="rect">
            <a:avLst/>
          </a:prstGeom>
          <a:noFill/>
          <a:ln/>
        </p:spPr>
        <p:txBody>
          <a:bodyPr wrap="square" lIns="0" tIns="0" rIns="0" bIns="0" rtlCol="0" anchor="t"/>
          <a:lstStyle/>
          <a:p>
            <a:pPr marL="0" indent="0">
              <a:buNone/>
            </a:pPr>
            <a:r>
              <a:rPr lang="en-US" sz="2000" b="1" dirty="0">
                <a:solidFill>
                  <a:schemeClr val="tx1"/>
                </a:solidFill>
              </a:rPr>
              <a:t>Build</a:t>
            </a:r>
            <a:endParaRPr lang="en-US" sz="2000" dirty="0"/>
          </a:p>
        </p:txBody>
      </p:sp>
      <p:sp>
        <p:nvSpPr>
          <p:cNvPr id="18" name="text-18"/>
          <p:cNvSpPr txBox="1"/>
          <p:nvPr/>
        </p:nvSpPr>
        <p:spPr>
          <a:xfrm>
            <a:off x="822960" y="5166360"/>
            <a:ext cx="3017520" cy="548640"/>
          </a:xfrm>
          <a:prstGeom prst="rect">
            <a:avLst/>
          </a:prstGeom>
          <a:noFill/>
          <a:ln/>
        </p:spPr>
        <p:txBody>
          <a:bodyPr wrap="square" lIns="0" tIns="0" rIns="0" bIns="0" rtlCol="0" anchor="t"/>
          <a:lstStyle/>
          <a:p>
            <a:pPr marL="0" indent="0">
              <a:buNone/>
            </a:pPr>
            <a:r>
              <a:rPr lang="en-US" sz="1400" dirty="0">
                <a:solidFill>
                  <a:srgbClr val="6B6785"/>
                </a:solidFill>
              </a:rPr>
              <a:t>Implementation, testing and live demo</a:t>
            </a:r>
            <a:endParaRPr lang="en-US" sz="1400" dirty="0"/>
          </a:p>
        </p:txBody>
      </p:sp>
      <p:sp>
        <p:nvSpPr>
          <p:cNvPr id="19" name="card-19"/>
          <p:cNvSpPr/>
          <p:nvPr/>
        </p:nvSpPr>
        <p:spPr>
          <a:xfrm>
            <a:off x="4297680" y="3794760"/>
            <a:ext cx="3474720" cy="2057400"/>
          </a:xfrm>
          <a:prstGeom prst="roundRect">
            <a:avLst>
              <a:gd name="adj" fmla="val 5333"/>
            </a:avLst>
          </a:prstGeom>
          <a:solidFill>
            <a:schemeClr val="bg2"/>
          </a:solidFill>
          <a:ln w="6350">
            <a:solidFill>
              <a:schemeClr val="bg2"/>
            </a:solidFill>
            <a:prstDash val="solid"/>
          </a:ln>
        </p:spPr>
        <p:txBody>
          <a:bodyPr/>
          <a:lstStyle/>
          <a:p>
            <a:endParaRPr lang="en-US"/>
          </a:p>
        </p:txBody>
      </p:sp>
      <p:sp>
        <p:nvSpPr>
          <p:cNvPr id="20" name="text-20"/>
          <p:cNvSpPr txBox="1"/>
          <p:nvPr/>
        </p:nvSpPr>
        <p:spPr>
          <a:xfrm>
            <a:off x="4572000" y="4023360"/>
            <a:ext cx="1371600" cy="731520"/>
          </a:xfrm>
          <a:prstGeom prst="rect">
            <a:avLst/>
          </a:prstGeom>
          <a:noFill/>
          <a:ln/>
        </p:spPr>
        <p:txBody>
          <a:bodyPr wrap="square" lIns="0" tIns="0" rIns="0" bIns="0" rtlCol="0" anchor="t"/>
          <a:lstStyle/>
          <a:p>
            <a:pPr marL="0" indent="0">
              <a:buNone/>
            </a:pPr>
            <a:r>
              <a:rPr lang="en-US" sz="4000" b="1" dirty="0">
                <a:solidFill>
                  <a:schemeClr val="accent1"/>
                </a:solidFill>
              </a:rPr>
              <a:t>05</a:t>
            </a:r>
            <a:endParaRPr lang="en-US" sz="4000" dirty="0"/>
          </a:p>
        </p:txBody>
      </p:sp>
      <p:sp>
        <p:nvSpPr>
          <p:cNvPr id="21" name="text-21"/>
          <p:cNvSpPr txBox="1"/>
          <p:nvPr/>
        </p:nvSpPr>
        <p:spPr>
          <a:xfrm>
            <a:off x="4572000" y="4754880"/>
            <a:ext cx="3017520" cy="411480"/>
          </a:xfrm>
          <a:prstGeom prst="rect">
            <a:avLst/>
          </a:prstGeom>
          <a:noFill/>
          <a:ln/>
        </p:spPr>
        <p:txBody>
          <a:bodyPr wrap="square" lIns="0" tIns="0" rIns="0" bIns="0" rtlCol="0" anchor="t"/>
          <a:lstStyle/>
          <a:p>
            <a:pPr marL="0" indent="0">
              <a:buNone/>
            </a:pPr>
            <a:r>
              <a:rPr lang="en-US" sz="2000" b="1" dirty="0">
                <a:solidFill>
                  <a:schemeClr val="tx1"/>
                </a:solidFill>
              </a:rPr>
              <a:t>Results</a:t>
            </a:r>
            <a:endParaRPr lang="en-US" sz="2000" dirty="0"/>
          </a:p>
        </p:txBody>
      </p:sp>
      <p:sp>
        <p:nvSpPr>
          <p:cNvPr id="22" name="text-22"/>
          <p:cNvSpPr txBox="1"/>
          <p:nvPr/>
        </p:nvSpPr>
        <p:spPr>
          <a:xfrm>
            <a:off x="4572000" y="5166360"/>
            <a:ext cx="3017520" cy="548640"/>
          </a:xfrm>
          <a:prstGeom prst="rect">
            <a:avLst/>
          </a:prstGeom>
          <a:noFill/>
          <a:ln/>
        </p:spPr>
        <p:txBody>
          <a:bodyPr wrap="square" lIns="0" tIns="0" rIns="0" bIns="0" rtlCol="0" anchor="t"/>
          <a:lstStyle/>
          <a:p>
            <a:pPr marL="0" indent="0">
              <a:buNone/>
            </a:pPr>
            <a:r>
              <a:rPr lang="en-US" sz="1400" dirty="0">
                <a:solidFill>
                  <a:srgbClr val="6B6785"/>
                </a:solidFill>
              </a:rPr>
              <a:t>Static vs rule-based vs adaptive, cold start, ablation</a:t>
            </a:r>
            <a:endParaRPr lang="en-US" sz="1400" dirty="0"/>
          </a:p>
        </p:txBody>
      </p:sp>
      <p:sp>
        <p:nvSpPr>
          <p:cNvPr id="23" name="card-23"/>
          <p:cNvSpPr/>
          <p:nvPr/>
        </p:nvSpPr>
        <p:spPr>
          <a:xfrm>
            <a:off x="8046720" y="3794760"/>
            <a:ext cx="3474720" cy="2057400"/>
          </a:xfrm>
          <a:prstGeom prst="roundRect">
            <a:avLst>
              <a:gd name="adj" fmla="val 5333"/>
            </a:avLst>
          </a:prstGeom>
          <a:solidFill>
            <a:schemeClr val="bg2"/>
          </a:solidFill>
          <a:ln w="6350">
            <a:solidFill>
              <a:schemeClr val="bg2"/>
            </a:solidFill>
            <a:prstDash val="solid"/>
          </a:ln>
        </p:spPr>
        <p:txBody>
          <a:bodyPr/>
          <a:lstStyle/>
          <a:p>
            <a:endParaRPr lang="en-US"/>
          </a:p>
        </p:txBody>
      </p:sp>
      <p:sp>
        <p:nvSpPr>
          <p:cNvPr id="24" name="text-24"/>
          <p:cNvSpPr txBox="1"/>
          <p:nvPr/>
        </p:nvSpPr>
        <p:spPr>
          <a:xfrm>
            <a:off x="8321040" y="4023360"/>
            <a:ext cx="1371600" cy="731520"/>
          </a:xfrm>
          <a:prstGeom prst="rect">
            <a:avLst/>
          </a:prstGeom>
          <a:noFill/>
          <a:ln/>
        </p:spPr>
        <p:txBody>
          <a:bodyPr wrap="square" lIns="0" tIns="0" rIns="0" bIns="0" rtlCol="0" anchor="t"/>
          <a:lstStyle/>
          <a:p>
            <a:pPr marL="0" indent="0">
              <a:buNone/>
            </a:pPr>
            <a:r>
              <a:rPr lang="en-US" sz="4000" b="1" dirty="0">
                <a:solidFill>
                  <a:schemeClr val="accent1"/>
                </a:solidFill>
              </a:rPr>
              <a:t>06</a:t>
            </a:r>
            <a:endParaRPr lang="en-US" sz="4000" dirty="0"/>
          </a:p>
        </p:txBody>
      </p:sp>
      <p:sp>
        <p:nvSpPr>
          <p:cNvPr id="25" name="text-25"/>
          <p:cNvSpPr txBox="1"/>
          <p:nvPr/>
        </p:nvSpPr>
        <p:spPr>
          <a:xfrm>
            <a:off x="8321040" y="4754880"/>
            <a:ext cx="3017520" cy="411480"/>
          </a:xfrm>
          <a:prstGeom prst="rect">
            <a:avLst/>
          </a:prstGeom>
          <a:noFill/>
          <a:ln/>
        </p:spPr>
        <p:txBody>
          <a:bodyPr wrap="square" lIns="0" tIns="0" rIns="0" bIns="0" rtlCol="0" anchor="t"/>
          <a:lstStyle/>
          <a:p>
            <a:pPr marL="0" indent="0">
              <a:buNone/>
            </a:pPr>
            <a:r>
              <a:rPr lang="en-US" sz="2000" b="1" dirty="0">
                <a:solidFill>
                  <a:schemeClr val="tx1"/>
                </a:solidFill>
              </a:rPr>
              <a:t>Close</a:t>
            </a:r>
            <a:endParaRPr lang="en-US" sz="2000" dirty="0"/>
          </a:p>
        </p:txBody>
      </p:sp>
      <p:sp>
        <p:nvSpPr>
          <p:cNvPr id="26" name="text-26"/>
          <p:cNvSpPr txBox="1"/>
          <p:nvPr/>
        </p:nvSpPr>
        <p:spPr>
          <a:xfrm>
            <a:off x="8321040" y="5166360"/>
            <a:ext cx="3017520" cy="548640"/>
          </a:xfrm>
          <a:prstGeom prst="rect">
            <a:avLst/>
          </a:prstGeom>
          <a:noFill/>
          <a:ln/>
        </p:spPr>
        <p:txBody>
          <a:bodyPr wrap="square" lIns="0" tIns="0" rIns="0" bIns="0" rtlCol="0" anchor="t"/>
          <a:lstStyle/>
          <a:p>
            <a:pPr marL="0" indent="0">
              <a:buNone/>
            </a:pPr>
            <a:r>
              <a:rPr lang="en-US" sz="1400" dirty="0">
                <a:solidFill>
                  <a:srgbClr val="6B6785"/>
                </a:solidFill>
              </a:rPr>
              <a:t>Cost, conclusion and future scope</a:t>
            </a:r>
            <a:endParaRPr lang="en-US" sz="1400" dirty="0"/>
          </a:p>
        </p:txBody>
      </p:sp>
      <p:sp>
        <p:nvSpPr>
          <p:cNvPr id="27"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From Review 1 to FormForge 2.0</a:t>
            </a:r>
            <a:endParaRPr lang="en-US" sz="3000" dirty="0"/>
          </a:p>
        </p:txBody>
      </p:sp>
      <p:sp>
        <p:nvSpPr>
          <p:cNvPr id="3" name="card-27"/>
          <p:cNvSpPr/>
          <p:nvPr/>
        </p:nvSpPr>
        <p:spPr>
          <a:xfrm>
            <a:off x="548640" y="1325880"/>
            <a:ext cx="5212080" cy="4206240"/>
          </a:xfrm>
          <a:prstGeom prst="roundRect">
            <a:avLst>
              <a:gd name="adj" fmla="val 2609"/>
            </a:avLst>
          </a:prstGeom>
          <a:solidFill>
            <a:srgbClr val="F8F9FA"/>
          </a:solidFill>
          <a:ln w="6350">
            <a:solidFill>
              <a:srgbClr val="F8F9FA"/>
            </a:solidFill>
            <a:prstDash val="solid"/>
          </a:ln>
        </p:spPr>
        <p:txBody>
          <a:bodyPr/>
          <a:lstStyle/>
          <a:p>
            <a:endParaRPr lang="en-US"/>
          </a:p>
        </p:txBody>
      </p:sp>
      <p:sp>
        <p:nvSpPr>
          <p:cNvPr id="4" name="badge-28"/>
          <p:cNvSpPr/>
          <p:nvPr/>
        </p:nvSpPr>
        <p:spPr>
          <a:xfrm>
            <a:off x="822960" y="1554480"/>
            <a:ext cx="548640" cy="548640"/>
          </a:xfrm>
          <a:prstGeom prst="ellipse">
            <a:avLst/>
          </a:prstGeom>
          <a:solidFill>
            <a:srgbClr val="ADB5BD"/>
          </a:solidFill>
          <a:ln w="6350">
            <a:solidFill>
              <a:srgbClr val="ADB5BD"/>
            </a:solidFill>
            <a:prstDash val="solid"/>
          </a:ln>
        </p:spPr>
        <p:txBody>
          <a:bodyPr/>
          <a:lstStyle/>
          <a:p>
            <a:endParaRPr lang="en-US"/>
          </a:p>
        </p:txBody>
      </p:sp>
      <p:pic>
        <p:nvPicPr>
          <p:cNvPr id="5" name="icon-29" descr="icon"/>
          <p:cNvPicPr>
            <a:picLocks noChangeAspect="1"/>
          </p:cNvPicPr>
          <p:nvPr/>
        </p:nvPicPr>
        <p:blipFill>
          <a:blip r:embed="rId3"/>
          <a:stretch>
            <a:fillRect/>
          </a:stretch>
        </p:blipFill>
        <p:spPr>
          <a:xfrm>
            <a:off x="954634" y="1686154"/>
            <a:ext cx="285293" cy="285293"/>
          </a:xfrm>
          <a:prstGeom prst="rect">
            <a:avLst/>
          </a:prstGeom>
        </p:spPr>
      </p:pic>
      <p:sp>
        <p:nvSpPr>
          <p:cNvPr id="6" name="text-30"/>
          <p:cNvSpPr txBox="1"/>
          <p:nvPr/>
        </p:nvSpPr>
        <p:spPr>
          <a:xfrm>
            <a:off x="1554480" y="1627632"/>
            <a:ext cx="4023360" cy="457200"/>
          </a:xfrm>
          <a:prstGeom prst="rect">
            <a:avLst/>
          </a:prstGeom>
          <a:noFill/>
          <a:ln/>
        </p:spPr>
        <p:txBody>
          <a:bodyPr wrap="square" lIns="0" tIns="0" rIns="0" bIns="0" rtlCol="0" anchor="t"/>
          <a:lstStyle/>
          <a:p>
            <a:pPr marL="0" indent="0">
              <a:buNone/>
            </a:pPr>
            <a:r>
              <a:rPr lang="en-US" sz="2000" b="1" dirty="0">
                <a:solidFill>
                  <a:schemeClr val="tx1"/>
                </a:solidFill>
              </a:rPr>
              <a:t>Review 1: FormForge 1.0</a:t>
            </a:r>
            <a:endParaRPr lang="en-US" sz="2000" dirty="0"/>
          </a:p>
        </p:txBody>
      </p:sp>
      <p:sp>
        <p:nvSpPr>
          <p:cNvPr id="7" name="text-31"/>
          <p:cNvSpPr txBox="1"/>
          <p:nvPr/>
        </p:nvSpPr>
        <p:spPr>
          <a:xfrm>
            <a:off x="868680" y="2331720"/>
            <a:ext cx="4663440" cy="301752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495057"/>
                </a:solidFill>
              </a:rPr>
              <a:t>Multi-tenant form builder with RBAC workspaces</a:t>
            </a:r>
            <a:endParaRPr lang="en-US" sz="1800" dirty="0"/>
          </a:p>
          <a:p>
            <a:pPr marL="203200" indent="-203200">
              <a:spcAft>
                <a:spcPts val="600"/>
              </a:spcAft>
              <a:buSzPct val="100000"/>
              <a:buChar char="•"/>
            </a:pPr>
            <a:r>
              <a:rPr lang="en-US" sz="1800" dirty="0">
                <a:solidFill>
                  <a:srgbClr val="495057"/>
                </a:solidFill>
              </a:rPr>
              <a:t>Drag-and-drop builder, public form links</a:t>
            </a:r>
            <a:endParaRPr lang="en-US" sz="1800" dirty="0"/>
          </a:p>
          <a:p>
            <a:pPr marL="203200" indent="-203200">
              <a:spcAft>
                <a:spcPts val="600"/>
              </a:spcAft>
              <a:buSzPct val="100000"/>
              <a:buChar char="•"/>
            </a:pPr>
            <a:r>
              <a:rPr lang="en-US" sz="1800" dirty="0">
                <a:solidFill>
                  <a:srgbClr val="495057"/>
                </a:solidFill>
              </a:rPr>
              <a:t>Webhooks, e-mail workflows, SSE live counter</a:t>
            </a:r>
            <a:endParaRPr lang="en-US" sz="1800" dirty="0"/>
          </a:p>
          <a:p>
            <a:pPr marL="203200" indent="-203200">
              <a:spcAft>
                <a:spcPts val="600"/>
              </a:spcAft>
              <a:buSzPct val="100000"/>
              <a:buChar char="•"/>
            </a:pPr>
            <a:r>
              <a:rPr lang="en-US" sz="1800" dirty="0">
                <a:solidFill>
                  <a:srgbClr val="495057"/>
                </a:solidFill>
              </a:rPr>
              <a:t>Feedback: "nothing new, built many times before"</a:t>
            </a:r>
            <a:endParaRPr lang="en-US" sz="1800" dirty="0"/>
          </a:p>
        </p:txBody>
      </p:sp>
      <p:sp>
        <p:nvSpPr>
          <p:cNvPr id="8" name="arrow"/>
          <p:cNvSpPr/>
          <p:nvPr/>
        </p:nvSpPr>
        <p:spPr>
          <a:xfrm>
            <a:off x="5897880" y="3154680"/>
            <a:ext cx="502920" cy="548640"/>
          </a:xfrm>
          <a:prstGeom prst="rightArrow">
            <a:avLst/>
          </a:prstGeom>
          <a:solidFill>
            <a:schemeClr val="accent1"/>
          </a:solidFill>
          <a:ln w="12700">
            <a:solidFill>
              <a:schemeClr val="accent1"/>
            </a:solidFill>
            <a:prstDash val="solid"/>
          </a:ln>
        </p:spPr>
        <p:txBody>
          <a:bodyPr/>
          <a:lstStyle/>
          <a:p>
            <a:endParaRPr lang="en-US"/>
          </a:p>
        </p:txBody>
      </p:sp>
      <p:sp>
        <p:nvSpPr>
          <p:cNvPr id="9" name="card-32"/>
          <p:cNvSpPr/>
          <p:nvPr/>
        </p:nvSpPr>
        <p:spPr>
          <a:xfrm>
            <a:off x="6537960" y="1325880"/>
            <a:ext cx="5120640" cy="4206240"/>
          </a:xfrm>
          <a:prstGeom prst="roundRect">
            <a:avLst>
              <a:gd name="adj" fmla="val 2609"/>
            </a:avLst>
          </a:prstGeom>
          <a:solidFill>
            <a:schemeClr val="bg2"/>
          </a:solidFill>
          <a:ln w="6350">
            <a:solidFill>
              <a:schemeClr val="bg2"/>
            </a:solidFill>
            <a:prstDash val="solid"/>
          </a:ln>
        </p:spPr>
        <p:txBody>
          <a:bodyPr/>
          <a:lstStyle/>
          <a:p>
            <a:endParaRPr lang="en-US"/>
          </a:p>
        </p:txBody>
      </p:sp>
      <p:sp>
        <p:nvSpPr>
          <p:cNvPr id="10" name="badge-33"/>
          <p:cNvSpPr/>
          <p:nvPr/>
        </p:nvSpPr>
        <p:spPr>
          <a:xfrm>
            <a:off x="6812280" y="1554480"/>
            <a:ext cx="548640" cy="548640"/>
          </a:xfrm>
          <a:prstGeom prst="ellipse">
            <a:avLst/>
          </a:prstGeom>
          <a:solidFill>
            <a:schemeClr val="accent1"/>
          </a:solidFill>
          <a:ln w="6350">
            <a:solidFill>
              <a:schemeClr val="accent1"/>
            </a:solidFill>
            <a:prstDash val="solid"/>
          </a:ln>
        </p:spPr>
        <p:txBody>
          <a:bodyPr/>
          <a:lstStyle/>
          <a:p>
            <a:endParaRPr lang="en-US"/>
          </a:p>
        </p:txBody>
      </p:sp>
      <p:pic>
        <p:nvPicPr>
          <p:cNvPr id="11" name="icon-34" descr="icon"/>
          <p:cNvPicPr>
            <a:picLocks noChangeAspect="1"/>
          </p:cNvPicPr>
          <p:nvPr/>
        </p:nvPicPr>
        <p:blipFill>
          <a:blip r:embed="rId4"/>
          <a:stretch>
            <a:fillRect/>
          </a:stretch>
        </p:blipFill>
        <p:spPr>
          <a:xfrm>
            <a:off x="6943954" y="1686154"/>
            <a:ext cx="285293" cy="285293"/>
          </a:xfrm>
          <a:prstGeom prst="rect">
            <a:avLst/>
          </a:prstGeom>
        </p:spPr>
      </p:pic>
      <p:sp>
        <p:nvSpPr>
          <p:cNvPr id="12" name="text-35"/>
          <p:cNvSpPr txBox="1"/>
          <p:nvPr/>
        </p:nvSpPr>
        <p:spPr>
          <a:xfrm>
            <a:off x="7543800" y="1627632"/>
            <a:ext cx="4023360" cy="457200"/>
          </a:xfrm>
          <a:prstGeom prst="rect">
            <a:avLst/>
          </a:prstGeom>
          <a:noFill/>
          <a:ln/>
        </p:spPr>
        <p:txBody>
          <a:bodyPr wrap="square" lIns="0" tIns="0" rIns="0" bIns="0" rtlCol="0" anchor="t"/>
          <a:lstStyle/>
          <a:p>
            <a:pPr marL="0" indent="0">
              <a:buNone/>
            </a:pPr>
            <a:r>
              <a:rPr lang="en-US" sz="2000" b="1" dirty="0">
                <a:solidFill>
                  <a:schemeClr val="tx1"/>
                </a:solidFill>
              </a:rPr>
              <a:t>Now: research-driven 2.0</a:t>
            </a:r>
            <a:endParaRPr lang="en-US" sz="2000" dirty="0"/>
          </a:p>
        </p:txBody>
      </p:sp>
      <p:sp>
        <p:nvSpPr>
          <p:cNvPr id="13" name="text-36"/>
          <p:cNvSpPr txBox="1"/>
          <p:nvPr/>
        </p:nvSpPr>
        <p:spPr>
          <a:xfrm>
            <a:off x="6858000" y="2331720"/>
            <a:ext cx="4572000" cy="301752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chemeClr val="tx1"/>
                </a:solidFill>
              </a:rPr>
              <a:t>Adaptive engine picks the next question per respondent</a:t>
            </a:r>
            <a:endParaRPr lang="en-US" sz="1800" dirty="0"/>
          </a:p>
          <a:p>
            <a:pPr marL="203200" indent="-203200">
              <a:spcAft>
                <a:spcPts val="600"/>
              </a:spcAft>
              <a:buSzPct val="100000"/>
              <a:buChar char="•"/>
            </a:pPr>
            <a:r>
              <a:rPr lang="en-US" sz="1800" dirty="0">
                <a:solidFill>
                  <a:schemeClr val="tx1"/>
                </a:solidFill>
              </a:rPr>
              <a:t>A free LLM generates forms with metadata</a:t>
            </a:r>
            <a:endParaRPr lang="en-US" sz="1800" dirty="0"/>
          </a:p>
          <a:p>
            <a:pPr marL="203200" indent="-203200">
              <a:spcAft>
                <a:spcPts val="600"/>
              </a:spcAft>
              <a:buSzPct val="100000"/>
              <a:buChar char="•"/>
            </a:pPr>
            <a:r>
              <a:rPr lang="en-US" sz="1800" dirty="0">
                <a:solidFill>
                  <a:schemeClr val="tx1"/>
                </a:solidFill>
              </a:rPr>
              <a:t>Automatic questionnaire quality analysis</a:t>
            </a:r>
            <a:endParaRPr lang="en-US" sz="1800" dirty="0"/>
          </a:p>
          <a:p>
            <a:pPr marL="203200" indent="-203200">
              <a:spcAft>
                <a:spcPts val="600"/>
              </a:spcAft>
              <a:buSzPct val="100000"/>
              <a:buChar char="•"/>
            </a:pPr>
            <a:r>
              <a:rPr lang="en-US" sz="1800" dirty="0">
                <a:solidFill>
                  <a:schemeClr val="tx1"/>
                </a:solidFill>
              </a:rPr>
              <a:t>Synthetic cold start, PII masking, insights</a:t>
            </a:r>
            <a:endParaRPr lang="en-US" sz="1800" dirty="0"/>
          </a:p>
          <a:p>
            <a:pPr marL="203200" indent="-203200">
              <a:spcAft>
                <a:spcPts val="600"/>
              </a:spcAft>
              <a:buSzPct val="100000"/>
              <a:buChar char="•"/>
            </a:pPr>
            <a:r>
              <a:rPr lang="en-US" sz="1800" dirty="0">
                <a:solidFill>
                  <a:schemeClr val="tx1"/>
                </a:solidFill>
              </a:rPr>
              <a:t>Measured against static and rule-based forms</a:t>
            </a:r>
            <a:endParaRPr lang="en-US" sz="18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The Problem with Static Forms</a:t>
            </a:r>
            <a:endParaRPr lang="en-US" sz="3000" dirty="0"/>
          </a:p>
        </p:txBody>
      </p:sp>
      <p:sp>
        <p:nvSpPr>
          <p:cNvPr id="3" name="badge-37"/>
          <p:cNvSpPr/>
          <p:nvPr/>
        </p:nvSpPr>
        <p:spPr>
          <a:xfrm>
            <a:off x="548640" y="1417320"/>
            <a:ext cx="640080" cy="640080"/>
          </a:xfrm>
          <a:prstGeom prst="ellipse">
            <a:avLst/>
          </a:prstGeom>
          <a:solidFill>
            <a:schemeClr val="accent1"/>
          </a:solidFill>
          <a:ln w="6350">
            <a:solidFill>
              <a:schemeClr val="accent1"/>
            </a:solidFill>
            <a:prstDash val="solid"/>
          </a:ln>
        </p:spPr>
        <p:txBody>
          <a:bodyPr/>
          <a:lstStyle/>
          <a:p>
            <a:endParaRPr lang="en-US"/>
          </a:p>
        </p:txBody>
      </p:sp>
      <p:pic>
        <p:nvPicPr>
          <p:cNvPr id="4" name="icon-38" descr="icon"/>
          <p:cNvPicPr>
            <a:picLocks noChangeAspect="1"/>
          </p:cNvPicPr>
          <p:nvPr/>
        </p:nvPicPr>
        <p:blipFill>
          <a:blip r:embed="rId3"/>
          <a:stretch>
            <a:fillRect/>
          </a:stretch>
        </p:blipFill>
        <p:spPr>
          <a:xfrm>
            <a:off x="702259" y="1570939"/>
            <a:ext cx="332842" cy="332842"/>
          </a:xfrm>
          <a:prstGeom prst="rect">
            <a:avLst/>
          </a:prstGeom>
        </p:spPr>
      </p:pic>
      <p:sp>
        <p:nvSpPr>
          <p:cNvPr id="5" name="text-39"/>
          <p:cNvSpPr txBox="1"/>
          <p:nvPr/>
        </p:nvSpPr>
        <p:spPr>
          <a:xfrm>
            <a:off x="1417320" y="1371600"/>
            <a:ext cx="5120640" cy="411480"/>
          </a:xfrm>
          <a:prstGeom prst="rect">
            <a:avLst/>
          </a:prstGeom>
          <a:noFill/>
          <a:ln/>
        </p:spPr>
        <p:txBody>
          <a:bodyPr wrap="square" lIns="0" tIns="0" rIns="0" bIns="0" rtlCol="0" anchor="t"/>
          <a:lstStyle/>
          <a:p>
            <a:pPr marL="0" indent="0">
              <a:buNone/>
            </a:pPr>
            <a:r>
              <a:rPr lang="en-US" sz="1900" b="1" dirty="0">
                <a:solidFill>
                  <a:schemeClr val="tx1"/>
                </a:solidFill>
              </a:rPr>
              <a:t>Same list for everyone</a:t>
            </a:r>
            <a:endParaRPr lang="en-US" sz="1900" dirty="0"/>
          </a:p>
        </p:txBody>
      </p:sp>
      <p:sp>
        <p:nvSpPr>
          <p:cNvPr id="6" name="text-40"/>
          <p:cNvSpPr txBox="1"/>
          <p:nvPr/>
        </p:nvSpPr>
        <p:spPr>
          <a:xfrm>
            <a:off x="1417320" y="1783080"/>
            <a:ext cx="5120640" cy="640080"/>
          </a:xfrm>
          <a:prstGeom prst="rect">
            <a:avLst/>
          </a:prstGeom>
          <a:noFill/>
          <a:ln/>
        </p:spPr>
        <p:txBody>
          <a:bodyPr wrap="square" lIns="0" tIns="0" rIns="0" bIns="0" rtlCol="0" anchor="t"/>
          <a:lstStyle/>
          <a:p>
            <a:pPr marL="0" indent="0">
              <a:buNone/>
            </a:pPr>
            <a:r>
              <a:rPr lang="en-US" sz="1400" dirty="0">
                <a:solidFill>
                  <a:srgbClr val="6B6785"/>
                </a:solidFill>
              </a:rPr>
              <a:t>A student who never met a mentor still answers five mentoring questions</a:t>
            </a:r>
            <a:endParaRPr lang="en-US" sz="1400" dirty="0"/>
          </a:p>
        </p:txBody>
      </p:sp>
      <p:sp>
        <p:nvSpPr>
          <p:cNvPr id="7" name="badge-41"/>
          <p:cNvSpPr/>
          <p:nvPr/>
        </p:nvSpPr>
        <p:spPr>
          <a:xfrm>
            <a:off x="548640" y="2624328"/>
            <a:ext cx="640080" cy="640080"/>
          </a:xfrm>
          <a:prstGeom prst="ellipse">
            <a:avLst/>
          </a:prstGeom>
          <a:solidFill>
            <a:schemeClr val="accent1"/>
          </a:solidFill>
          <a:ln w="6350">
            <a:solidFill>
              <a:schemeClr val="accent1"/>
            </a:solidFill>
            <a:prstDash val="solid"/>
          </a:ln>
        </p:spPr>
        <p:txBody>
          <a:bodyPr/>
          <a:lstStyle/>
          <a:p>
            <a:endParaRPr lang="en-US"/>
          </a:p>
        </p:txBody>
      </p:sp>
      <p:pic>
        <p:nvPicPr>
          <p:cNvPr id="8" name="icon-42" descr="icon"/>
          <p:cNvPicPr>
            <a:picLocks noChangeAspect="1"/>
          </p:cNvPicPr>
          <p:nvPr/>
        </p:nvPicPr>
        <p:blipFill>
          <a:blip r:embed="rId4"/>
          <a:stretch>
            <a:fillRect/>
          </a:stretch>
        </p:blipFill>
        <p:spPr>
          <a:xfrm>
            <a:off x="702259" y="2777947"/>
            <a:ext cx="332842" cy="332842"/>
          </a:xfrm>
          <a:prstGeom prst="rect">
            <a:avLst/>
          </a:prstGeom>
        </p:spPr>
      </p:pic>
      <p:sp>
        <p:nvSpPr>
          <p:cNvPr id="9" name="text-43"/>
          <p:cNvSpPr txBox="1"/>
          <p:nvPr/>
        </p:nvSpPr>
        <p:spPr>
          <a:xfrm>
            <a:off x="1417320" y="2578608"/>
            <a:ext cx="5120640" cy="411480"/>
          </a:xfrm>
          <a:prstGeom prst="rect">
            <a:avLst/>
          </a:prstGeom>
          <a:noFill/>
          <a:ln/>
        </p:spPr>
        <p:txBody>
          <a:bodyPr wrap="square" lIns="0" tIns="0" rIns="0" bIns="0" rtlCol="0" anchor="t"/>
          <a:lstStyle/>
          <a:p>
            <a:pPr marL="0" indent="0">
              <a:buNone/>
            </a:pPr>
            <a:r>
              <a:rPr lang="en-US" sz="1900" b="1" dirty="0">
                <a:solidFill>
                  <a:schemeClr val="tx1"/>
                </a:solidFill>
              </a:rPr>
              <a:t>Long forms get abandoned</a:t>
            </a:r>
            <a:endParaRPr lang="en-US" sz="1900" dirty="0"/>
          </a:p>
        </p:txBody>
      </p:sp>
      <p:sp>
        <p:nvSpPr>
          <p:cNvPr id="10" name="text-44"/>
          <p:cNvSpPr txBox="1"/>
          <p:nvPr/>
        </p:nvSpPr>
        <p:spPr>
          <a:xfrm>
            <a:off x="1417320" y="2990088"/>
            <a:ext cx="5120640" cy="640080"/>
          </a:xfrm>
          <a:prstGeom prst="rect">
            <a:avLst/>
          </a:prstGeom>
          <a:noFill/>
          <a:ln/>
        </p:spPr>
        <p:txBody>
          <a:bodyPr wrap="square" lIns="0" tIns="0" rIns="0" bIns="0" rtlCol="0" anchor="t"/>
          <a:lstStyle/>
          <a:p>
            <a:pPr marL="0" indent="0">
              <a:buNone/>
            </a:pPr>
            <a:r>
              <a:rPr lang="en-US" sz="1400" dirty="0">
                <a:solidFill>
                  <a:srgbClr val="6B6785"/>
                </a:solidFill>
              </a:rPr>
              <a:t>In our simulation about 30% of respondents left the 16-question static form midway</a:t>
            </a:r>
            <a:endParaRPr lang="en-US" sz="1400" dirty="0"/>
          </a:p>
        </p:txBody>
      </p:sp>
      <p:sp>
        <p:nvSpPr>
          <p:cNvPr id="11" name="badge-45"/>
          <p:cNvSpPr/>
          <p:nvPr/>
        </p:nvSpPr>
        <p:spPr>
          <a:xfrm>
            <a:off x="548640" y="3831336"/>
            <a:ext cx="640080" cy="640080"/>
          </a:xfrm>
          <a:prstGeom prst="ellipse">
            <a:avLst/>
          </a:prstGeom>
          <a:solidFill>
            <a:schemeClr val="accent3"/>
          </a:solidFill>
          <a:ln w="6350">
            <a:solidFill>
              <a:schemeClr val="accent3"/>
            </a:solidFill>
            <a:prstDash val="solid"/>
          </a:ln>
        </p:spPr>
        <p:txBody>
          <a:bodyPr/>
          <a:lstStyle/>
          <a:p>
            <a:endParaRPr lang="en-US"/>
          </a:p>
        </p:txBody>
      </p:sp>
      <p:pic>
        <p:nvPicPr>
          <p:cNvPr id="12" name="icon-46" descr="icon"/>
          <p:cNvPicPr>
            <a:picLocks noChangeAspect="1"/>
          </p:cNvPicPr>
          <p:nvPr/>
        </p:nvPicPr>
        <p:blipFill>
          <a:blip r:embed="rId5"/>
          <a:stretch>
            <a:fillRect/>
          </a:stretch>
        </p:blipFill>
        <p:spPr>
          <a:xfrm>
            <a:off x="702259" y="3984955"/>
            <a:ext cx="332842" cy="332842"/>
          </a:xfrm>
          <a:prstGeom prst="rect">
            <a:avLst/>
          </a:prstGeom>
        </p:spPr>
      </p:pic>
      <p:sp>
        <p:nvSpPr>
          <p:cNvPr id="13" name="text-47"/>
          <p:cNvSpPr txBox="1"/>
          <p:nvPr/>
        </p:nvSpPr>
        <p:spPr>
          <a:xfrm>
            <a:off x="1417320" y="3785616"/>
            <a:ext cx="5120640" cy="411480"/>
          </a:xfrm>
          <a:prstGeom prst="rect">
            <a:avLst/>
          </a:prstGeom>
          <a:noFill/>
          <a:ln/>
        </p:spPr>
        <p:txBody>
          <a:bodyPr wrap="square" lIns="0" tIns="0" rIns="0" bIns="0" rtlCol="0" anchor="t"/>
          <a:lstStyle/>
          <a:p>
            <a:pPr marL="0" indent="0">
              <a:buNone/>
            </a:pPr>
            <a:r>
              <a:rPr lang="en-US" sz="1900" b="1" dirty="0">
                <a:solidFill>
                  <a:schemeClr val="tx1"/>
                </a:solidFill>
              </a:rPr>
              <a:t>Badly written questions</a:t>
            </a:r>
            <a:endParaRPr lang="en-US" sz="1900" dirty="0"/>
          </a:p>
        </p:txBody>
      </p:sp>
      <p:sp>
        <p:nvSpPr>
          <p:cNvPr id="14" name="text-48"/>
          <p:cNvSpPr txBox="1"/>
          <p:nvPr/>
        </p:nvSpPr>
        <p:spPr>
          <a:xfrm>
            <a:off x="1417320" y="4197096"/>
            <a:ext cx="5120640" cy="640080"/>
          </a:xfrm>
          <a:prstGeom prst="rect">
            <a:avLst/>
          </a:prstGeom>
          <a:noFill/>
          <a:ln/>
        </p:spPr>
        <p:txBody>
          <a:bodyPr wrap="square" lIns="0" tIns="0" rIns="0" bIns="0" rtlCol="0" anchor="t"/>
          <a:lstStyle/>
          <a:p>
            <a:pPr marL="0" indent="0">
              <a:buNone/>
            </a:pPr>
            <a:r>
              <a:rPr lang="en-US" sz="1400" dirty="0">
                <a:solidFill>
                  <a:srgbClr val="6B6785"/>
                </a:solidFill>
              </a:rPr>
              <a:t>46% of 250 items in locally designed surveys were not recommended for use (Reed et al., 2024)</a:t>
            </a:r>
            <a:endParaRPr lang="en-US" sz="1400" dirty="0"/>
          </a:p>
        </p:txBody>
      </p:sp>
      <p:sp>
        <p:nvSpPr>
          <p:cNvPr id="15" name="badge-49"/>
          <p:cNvSpPr/>
          <p:nvPr/>
        </p:nvSpPr>
        <p:spPr>
          <a:xfrm>
            <a:off x="548640" y="5038344"/>
            <a:ext cx="640080" cy="640080"/>
          </a:xfrm>
          <a:prstGeom prst="ellipse">
            <a:avLst/>
          </a:prstGeom>
          <a:solidFill>
            <a:schemeClr val="accent1"/>
          </a:solidFill>
          <a:ln w="6350">
            <a:solidFill>
              <a:schemeClr val="accent1"/>
            </a:solidFill>
            <a:prstDash val="solid"/>
          </a:ln>
        </p:spPr>
        <p:txBody>
          <a:bodyPr/>
          <a:lstStyle/>
          <a:p>
            <a:endParaRPr lang="en-US"/>
          </a:p>
        </p:txBody>
      </p:sp>
      <p:pic>
        <p:nvPicPr>
          <p:cNvPr id="16" name="icon-50" descr="icon"/>
          <p:cNvPicPr>
            <a:picLocks noChangeAspect="1"/>
          </p:cNvPicPr>
          <p:nvPr/>
        </p:nvPicPr>
        <p:blipFill>
          <a:blip r:embed="rId6"/>
          <a:stretch>
            <a:fillRect/>
          </a:stretch>
        </p:blipFill>
        <p:spPr>
          <a:xfrm>
            <a:off x="702259" y="5191963"/>
            <a:ext cx="332842" cy="332842"/>
          </a:xfrm>
          <a:prstGeom prst="rect">
            <a:avLst/>
          </a:prstGeom>
        </p:spPr>
      </p:pic>
      <p:sp>
        <p:nvSpPr>
          <p:cNvPr id="17" name="text-51"/>
          <p:cNvSpPr txBox="1"/>
          <p:nvPr/>
        </p:nvSpPr>
        <p:spPr>
          <a:xfrm>
            <a:off x="1417320" y="4992624"/>
            <a:ext cx="5120640" cy="411480"/>
          </a:xfrm>
          <a:prstGeom prst="rect">
            <a:avLst/>
          </a:prstGeom>
          <a:noFill/>
          <a:ln/>
        </p:spPr>
        <p:txBody>
          <a:bodyPr wrap="square" lIns="0" tIns="0" rIns="0" bIns="0" rtlCol="0" anchor="t"/>
          <a:lstStyle/>
          <a:p>
            <a:pPr marL="0" indent="0">
              <a:buNone/>
            </a:pPr>
            <a:r>
              <a:rPr lang="en-US" sz="1900" b="1" dirty="0">
                <a:solidFill>
                  <a:schemeClr val="tx1"/>
                </a:solidFill>
              </a:rPr>
              <a:t>AI usually means cloud</a:t>
            </a:r>
            <a:endParaRPr lang="en-US" sz="1900" dirty="0"/>
          </a:p>
        </p:txBody>
      </p:sp>
      <p:sp>
        <p:nvSpPr>
          <p:cNvPr id="18" name="text-52"/>
          <p:cNvSpPr txBox="1"/>
          <p:nvPr/>
        </p:nvSpPr>
        <p:spPr>
          <a:xfrm>
            <a:off x="1417320" y="5404104"/>
            <a:ext cx="5120640" cy="640080"/>
          </a:xfrm>
          <a:prstGeom prst="rect">
            <a:avLst/>
          </a:prstGeom>
          <a:noFill/>
          <a:ln/>
        </p:spPr>
        <p:txBody>
          <a:bodyPr wrap="square" lIns="0" tIns="0" rIns="0" bIns="0" rtlCol="0" anchor="t"/>
          <a:lstStyle/>
          <a:p>
            <a:pPr marL="0" indent="0">
              <a:buNone/>
            </a:pPr>
            <a:r>
              <a:rPr lang="en-US" sz="1400" dirty="0">
                <a:solidFill>
                  <a:srgbClr val="6B6785"/>
                </a:solidFill>
              </a:rPr>
              <a:t>Paid APIs fail on quota and send personal data off the machine</a:t>
            </a:r>
            <a:endParaRPr lang="en-US" sz="1400" dirty="0"/>
          </a:p>
        </p:txBody>
      </p:sp>
      <p:sp>
        <p:nvSpPr>
          <p:cNvPr id="19" name="card-53"/>
          <p:cNvSpPr/>
          <p:nvPr/>
        </p:nvSpPr>
        <p:spPr>
          <a:xfrm>
            <a:off x="6949440" y="1325880"/>
            <a:ext cx="4709160" cy="4754880"/>
          </a:xfrm>
          <a:prstGeom prst="roundRect">
            <a:avLst>
              <a:gd name="adj" fmla="val 2330"/>
            </a:avLst>
          </a:prstGeom>
          <a:solidFill>
            <a:schemeClr val="tx2"/>
          </a:solidFill>
          <a:ln w="6350">
            <a:solidFill>
              <a:schemeClr val="tx2"/>
            </a:solidFill>
            <a:prstDash val="solid"/>
          </a:ln>
        </p:spPr>
        <p:txBody>
          <a:bodyPr/>
          <a:lstStyle/>
          <a:p>
            <a:endParaRPr lang="en-US"/>
          </a:p>
        </p:txBody>
      </p:sp>
      <p:sp>
        <p:nvSpPr>
          <p:cNvPr id="20" name="text-54"/>
          <p:cNvSpPr txBox="1"/>
          <p:nvPr/>
        </p:nvSpPr>
        <p:spPr>
          <a:xfrm>
            <a:off x="7269480" y="1600200"/>
            <a:ext cx="4114800" cy="365760"/>
          </a:xfrm>
          <a:prstGeom prst="rect">
            <a:avLst/>
          </a:prstGeom>
          <a:noFill/>
          <a:ln/>
        </p:spPr>
        <p:txBody>
          <a:bodyPr wrap="square" lIns="0" tIns="0" rIns="0" bIns="0" rtlCol="0" anchor="t"/>
          <a:lstStyle/>
          <a:p>
            <a:pPr marL="0" indent="0">
              <a:buNone/>
            </a:pPr>
            <a:r>
              <a:rPr lang="en-US" sz="1500" b="1" dirty="0">
                <a:solidFill>
                  <a:srgbClr val="B9A8FF"/>
                </a:solidFill>
              </a:rPr>
              <a:t>Research question</a:t>
            </a:r>
            <a:endParaRPr lang="en-US" sz="1500" dirty="0"/>
          </a:p>
        </p:txBody>
      </p:sp>
      <p:sp>
        <p:nvSpPr>
          <p:cNvPr id="21" name="text-55"/>
          <p:cNvSpPr txBox="1"/>
          <p:nvPr/>
        </p:nvSpPr>
        <p:spPr>
          <a:xfrm>
            <a:off x="7269480" y="2057400"/>
            <a:ext cx="4114800" cy="2468880"/>
          </a:xfrm>
          <a:prstGeom prst="rect">
            <a:avLst/>
          </a:prstGeom>
          <a:noFill/>
          <a:ln/>
        </p:spPr>
        <p:txBody>
          <a:bodyPr wrap="square" lIns="0" tIns="0" rIns="0" bIns="0" rtlCol="0" anchor="t"/>
          <a:lstStyle/>
          <a:p>
            <a:pPr marL="0" indent="0">
              <a:buNone/>
            </a:pPr>
            <a:r>
              <a:rPr lang="en-US" sz="2200" i="1" dirty="0">
                <a:solidFill>
                  <a:schemeClr val="bg1"/>
                </a:solidFill>
              </a:rPr>
              <a:t>Can a form decide, for each respondent, which question is worth asking next, so that useful information is collected with fewer questions and less effort?</a:t>
            </a:r>
            <a:endParaRPr lang="en-US" sz="2200" dirty="0"/>
          </a:p>
        </p:txBody>
      </p:sp>
      <p:sp>
        <p:nvSpPr>
          <p:cNvPr id="22" name="text-56"/>
          <p:cNvSpPr txBox="1"/>
          <p:nvPr/>
        </p:nvSpPr>
        <p:spPr>
          <a:xfrm>
            <a:off x="7269480" y="4846320"/>
            <a:ext cx="4114800" cy="914400"/>
          </a:xfrm>
          <a:prstGeom prst="rect">
            <a:avLst/>
          </a:prstGeom>
          <a:noFill/>
          <a:ln/>
        </p:spPr>
        <p:txBody>
          <a:bodyPr wrap="square" lIns="0" tIns="0" rIns="0" bIns="0" rtlCol="0" anchor="t"/>
          <a:lstStyle/>
          <a:p>
            <a:pPr marL="0" indent="0">
              <a:buNone/>
            </a:pPr>
            <a:r>
              <a:rPr lang="en-US" sz="1500" dirty="0">
                <a:solidFill>
                  <a:srgbClr val="CFC6FF"/>
                </a:solidFill>
              </a:rPr>
              <a:t>...while running at zero cost and keeping response data on the machine.</a:t>
            </a:r>
            <a:endParaRPr lang="en-US" sz="15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Objectives</a:t>
            </a:r>
            <a:endParaRPr lang="en-US" sz="3000" dirty="0"/>
          </a:p>
        </p:txBody>
      </p:sp>
      <p:sp>
        <p:nvSpPr>
          <p:cNvPr id="3" name="card-57"/>
          <p:cNvSpPr/>
          <p:nvPr/>
        </p:nvSpPr>
        <p:spPr>
          <a:xfrm>
            <a:off x="548640" y="1371600"/>
            <a:ext cx="3474720" cy="2148840"/>
          </a:xfrm>
          <a:prstGeom prst="roundRect">
            <a:avLst>
              <a:gd name="adj" fmla="val 5106"/>
            </a:avLst>
          </a:prstGeom>
          <a:solidFill>
            <a:schemeClr val="bg2"/>
          </a:solidFill>
          <a:ln w="6350">
            <a:solidFill>
              <a:schemeClr val="bg2"/>
            </a:solidFill>
            <a:prstDash val="solid"/>
          </a:ln>
        </p:spPr>
        <p:txBody>
          <a:bodyPr/>
          <a:lstStyle/>
          <a:p>
            <a:endParaRPr lang="en-US"/>
          </a:p>
        </p:txBody>
      </p:sp>
      <p:sp>
        <p:nvSpPr>
          <p:cNvPr id="4" name="badge-58"/>
          <p:cNvSpPr/>
          <p:nvPr/>
        </p:nvSpPr>
        <p:spPr>
          <a:xfrm>
            <a:off x="822960" y="164592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5" name="icon-59" descr="icon"/>
          <p:cNvPicPr>
            <a:picLocks noChangeAspect="1"/>
          </p:cNvPicPr>
          <p:nvPr/>
        </p:nvPicPr>
        <p:blipFill>
          <a:blip r:embed="rId3"/>
          <a:stretch>
            <a:fillRect/>
          </a:stretch>
        </p:blipFill>
        <p:spPr>
          <a:xfrm>
            <a:off x="965606" y="1788566"/>
            <a:ext cx="309067" cy="309067"/>
          </a:xfrm>
          <a:prstGeom prst="rect">
            <a:avLst/>
          </a:prstGeom>
        </p:spPr>
      </p:pic>
      <p:sp>
        <p:nvSpPr>
          <p:cNvPr id="6" name="text-60"/>
          <p:cNvSpPr txBox="1"/>
          <p:nvPr/>
        </p:nvSpPr>
        <p:spPr>
          <a:xfrm>
            <a:off x="1600200" y="1719072"/>
            <a:ext cx="2286000" cy="457200"/>
          </a:xfrm>
          <a:prstGeom prst="rect">
            <a:avLst/>
          </a:prstGeom>
          <a:noFill/>
          <a:ln/>
        </p:spPr>
        <p:txBody>
          <a:bodyPr wrap="square" lIns="0" tIns="0" rIns="0" bIns="0" rtlCol="0" anchor="t"/>
          <a:lstStyle/>
          <a:p>
            <a:pPr marL="0" indent="0">
              <a:buNone/>
            </a:pPr>
            <a:r>
              <a:rPr lang="en-US" sz="1900" b="1" dirty="0">
                <a:solidFill>
                  <a:schemeClr val="tx1"/>
                </a:solidFill>
              </a:rPr>
              <a:t>AI form generation</a:t>
            </a:r>
            <a:endParaRPr lang="en-US" sz="1900" dirty="0"/>
          </a:p>
        </p:txBody>
      </p:sp>
      <p:sp>
        <p:nvSpPr>
          <p:cNvPr id="7" name="text-61"/>
          <p:cNvSpPr txBox="1"/>
          <p:nvPr/>
        </p:nvSpPr>
        <p:spPr>
          <a:xfrm>
            <a:off x="822960" y="2395728"/>
            <a:ext cx="2971800" cy="1005840"/>
          </a:xfrm>
          <a:prstGeom prst="rect">
            <a:avLst/>
          </a:prstGeom>
          <a:noFill/>
          <a:ln/>
        </p:spPr>
        <p:txBody>
          <a:bodyPr wrap="square" lIns="0" tIns="0" rIns="0" bIns="0" rtlCol="0" anchor="t"/>
          <a:lstStyle/>
          <a:p>
            <a:pPr marL="0" indent="0">
              <a:buNone/>
            </a:pPr>
            <a:r>
              <a:rPr lang="en-US" sz="1400" dirty="0">
                <a:solidFill>
                  <a:srgbClr val="4A4565"/>
                </a:solidFill>
              </a:rPr>
              <a:t>Plain-language prompt to a structured form with metadata, via a free LLM</a:t>
            </a:r>
            <a:endParaRPr lang="en-US" sz="1400" dirty="0"/>
          </a:p>
        </p:txBody>
      </p:sp>
      <p:sp>
        <p:nvSpPr>
          <p:cNvPr id="8" name="card-62"/>
          <p:cNvSpPr/>
          <p:nvPr/>
        </p:nvSpPr>
        <p:spPr>
          <a:xfrm>
            <a:off x="4297680" y="1371600"/>
            <a:ext cx="3474720" cy="2148840"/>
          </a:xfrm>
          <a:prstGeom prst="roundRect">
            <a:avLst>
              <a:gd name="adj" fmla="val 5106"/>
            </a:avLst>
          </a:prstGeom>
          <a:solidFill>
            <a:schemeClr val="bg2"/>
          </a:solidFill>
          <a:ln w="6350">
            <a:solidFill>
              <a:schemeClr val="bg2"/>
            </a:solidFill>
            <a:prstDash val="solid"/>
          </a:ln>
        </p:spPr>
        <p:txBody>
          <a:bodyPr/>
          <a:lstStyle/>
          <a:p>
            <a:endParaRPr lang="en-US"/>
          </a:p>
        </p:txBody>
      </p:sp>
      <p:sp>
        <p:nvSpPr>
          <p:cNvPr id="9" name="badge-63"/>
          <p:cNvSpPr/>
          <p:nvPr/>
        </p:nvSpPr>
        <p:spPr>
          <a:xfrm>
            <a:off x="4572000" y="164592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10" name="icon-64" descr="icon"/>
          <p:cNvPicPr>
            <a:picLocks noChangeAspect="1"/>
          </p:cNvPicPr>
          <p:nvPr/>
        </p:nvPicPr>
        <p:blipFill>
          <a:blip r:embed="rId4"/>
          <a:stretch>
            <a:fillRect/>
          </a:stretch>
        </p:blipFill>
        <p:spPr>
          <a:xfrm>
            <a:off x="4714646" y="1788566"/>
            <a:ext cx="309067" cy="309067"/>
          </a:xfrm>
          <a:prstGeom prst="rect">
            <a:avLst/>
          </a:prstGeom>
        </p:spPr>
      </p:pic>
      <p:sp>
        <p:nvSpPr>
          <p:cNvPr id="11" name="text-65"/>
          <p:cNvSpPr txBox="1"/>
          <p:nvPr/>
        </p:nvSpPr>
        <p:spPr>
          <a:xfrm>
            <a:off x="5349240" y="1719072"/>
            <a:ext cx="2286000" cy="457200"/>
          </a:xfrm>
          <a:prstGeom prst="rect">
            <a:avLst/>
          </a:prstGeom>
          <a:noFill/>
          <a:ln/>
        </p:spPr>
        <p:txBody>
          <a:bodyPr wrap="square" lIns="0" tIns="0" rIns="0" bIns="0" rtlCol="0" anchor="t"/>
          <a:lstStyle/>
          <a:p>
            <a:pPr marL="0" indent="0">
              <a:buNone/>
            </a:pPr>
            <a:r>
              <a:rPr lang="en-US" sz="1900" b="1" dirty="0">
                <a:solidFill>
                  <a:schemeClr val="tx1"/>
                </a:solidFill>
              </a:rPr>
              <a:t>Quality analyzer</a:t>
            </a:r>
            <a:endParaRPr lang="en-US" sz="1900" dirty="0"/>
          </a:p>
        </p:txBody>
      </p:sp>
      <p:sp>
        <p:nvSpPr>
          <p:cNvPr id="12" name="text-66"/>
          <p:cNvSpPr txBox="1"/>
          <p:nvPr/>
        </p:nvSpPr>
        <p:spPr>
          <a:xfrm>
            <a:off x="4572000" y="2395728"/>
            <a:ext cx="2971800" cy="1005840"/>
          </a:xfrm>
          <a:prstGeom prst="rect">
            <a:avLst/>
          </a:prstGeom>
          <a:noFill/>
          <a:ln/>
        </p:spPr>
        <p:txBody>
          <a:bodyPr wrap="square" lIns="0" tIns="0" rIns="0" bIns="0" rtlCol="0" anchor="t"/>
          <a:lstStyle/>
          <a:p>
            <a:pPr marL="0" indent="0">
              <a:buNone/>
            </a:pPr>
            <a:r>
              <a:rPr lang="en-US" sz="1400" dirty="0">
                <a:solidFill>
                  <a:srgbClr val="4A4565"/>
                </a:solidFill>
              </a:rPr>
              <a:t>Flag double-barrelled, leading, ambiguous and redundant questions; estimate time</a:t>
            </a:r>
            <a:endParaRPr lang="en-US" sz="1400" dirty="0"/>
          </a:p>
        </p:txBody>
      </p:sp>
      <p:sp>
        <p:nvSpPr>
          <p:cNvPr id="13" name="card-67"/>
          <p:cNvSpPr/>
          <p:nvPr/>
        </p:nvSpPr>
        <p:spPr>
          <a:xfrm>
            <a:off x="8046720" y="1371600"/>
            <a:ext cx="3474720" cy="2148840"/>
          </a:xfrm>
          <a:prstGeom prst="roundRect">
            <a:avLst>
              <a:gd name="adj" fmla="val 5106"/>
            </a:avLst>
          </a:prstGeom>
          <a:solidFill>
            <a:schemeClr val="bg2"/>
          </a:solidFill>
          <a:ln w="6350">
            <a:solidFill>
              <a:schemeClr val="bg2"/>
            </a:solidFill>
            <a:prstDash val="solid"/>
          </a:ln>
        </p:spPr>
        <p:txBody>
          <a:bodyPr/>
          <a:lstStyle/>
          <a:p>
            <a:endParaRPr lang="en-US"/>
          </a:p>
        </p:txBody>
      </p:sp>
      <p:sp>
        <p:nvSpPr>
          <p:cNvPr id="14" name="badge-68"/>
          <p:cNvSpPr/>
          <p:nvPr/>
        </p:nvSpPr>
        <p:spPr>
          <a:xfrm>
            <a:off x="8321040" y="164592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15" name="icon-69" descr="icon"/>
          <p:cNvPicPr>
            <a:picLocks noChangeAspect="1"/>
          </p:cNvPicPr>
          <p:nvPr/>
        </p:nvPicPr>
        <p:blipFill>
          <a:blip r:embed="rId5"/>
          <a:stretch>
            <a:fillRect/>
          </a:stretch>
        </p:blipFill>
        <p:spPr>
          <a:xfrm>
            <a:off x="8463686" y="1788566"/>
            <a:ext cx="309067" cy="309067"/>
          </a:xfrm>
          <a:prstGeom prst="rect">
            <a:avLst/>
          </a:prstGeom>
        </p:spPr>
      </p:pic>
      <p:sp>
        <p:nvSpPr>
          <p:cNvPr id="16" name="text-70"/>
          <p:cNvSpPr txBox="1"/>
          <p:nvPr/>
        </p:nvSpPr>
        <p:spPr>
          <a:xfrm>
            <a:off x="9098280" y="1719072"/>
            <a:ext cx="2286000" cy="457200"/>
          </a:xfrm>
          <a:prstGeom prst="rect">
            <a:avLst/>
          </a:prstGeom>
          <a:noFill/>
          <a:ln/>
        </p:spPr>
        <p:txBody>
          <a:bodyPr wrap="square" lIns="0" tIns="0" rIns="0" bIns="0" rtlCol="0" anchor="t"/>
          <a:lstStyle/>
          <a:p>
            <a:pPr marL="0" indent="0">
              <a:buNone/>
            </a:pPr>
            <a:r>
              <a:rPr lang="en-US" sz="1900" b="1" dirty="0">
                <a:solidFill>
                  <a:schemeClr val="tx1"/>
                </a:solidFill>
              </a:rPr>
              <a:t>Adaptive engine</a:t>
            </a:r>
            <a:endParaRPr lang="en-US" sz="1900" dirty="0"/>
          </a:p>
        </p:txBody>
      </p:sp>
      <p:sp>
        <p:nvSpPr>
          <p:cNvPr id="17" name="text-71"/>
          <p:cNvSpPr txBox="1"/>
          <p:nvPr/>
        </p:nvSpPr>
        <p:spPr>
          <a:xfrm>
            <a:off x="8321040" y="2395728"/>
            <a:ext cx="2971800" cy="1005840"/>
          </a:xfrm>
          <a:prstGeom prst="rect">
            <a:avLst/>
          </a:prstGeom>
          <a:noFill/>
          <a:ln/>
        </p:spPr>
        <p:txBody>
          <a:bodyPr wrap="square" lIns="0" tIns="0" rIns="0" bIns="0" rtlCol="0" anchor="t"/>
          <a:lstStyle/>
          <a:p>
            <a:pPr marL="0" indent="0">
              <a:buNone/>
            </a:pPr>
            <a:r>
              <a:rPr lang="en-US" sz="1400" dirty="0">
                <a:solidFill>
                  <a:srgbClr val="4A4565"/>
                </a:solidFill>
              </a:rPr>
              <a:t>Score every unanswered question and ask the one with the highest utility</a:t>
            </a:r>
            <a:endParaRPr lang="en-US" sz="1400" dirty="0"/>
          </a:p>
        </p:txBody>
      </p:sp>
      <p:sp>
        <p:nvSpPr>
          <p:cNvPr id="18" name="card-72"/>
          <p:cNvSpPr/>
          <p:nvPr/>
        </p:nvSpPr>
        <p:spPr>
          <a:xfrm>
            <a:off x="548640" y="3794760"/>
            <a:ext cx="3474720" cy="2148840"/>
          </a:xfrm>
          <a:prstGeom prst="roundRect">
            <a:avLst>
              <a:gd name="adj" fmla="val 5106"/>
            </a:avLst>
          </a:prstGeom>
          <a:solidFill>
            <a:schemeClr val="bg2"/>
          </a:solidFill>
          <a:ln w="6350">
            <a:solidFill>
              <a:schemeClr val="bg2"/>
            </a:solidFill>
            <a:prstDash val="solid"/>
          </a:ln>
        </p:spPr>
        <p:txBody>
          <a:bodyPr/>
          <a:lstStyle/>
          <a:p>
            <a:endParaRPr lang="en-US"/>
          </a:p>
        </p:txBody>
      </p:sp>
      <p:sp>
        <p:nvSpPr>
          <p:cNvPr id="19" name="badge-73"/>
          <p:cNvSpPr/>
          <p:nvPr/>
        </p:nvSpPr>
        <p:spPr>
          <a:xfrm>
            <a:off x="822960" y="406908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20" name="icon-74" descr="icon"/>
          <p:cNvPicPr>
            <a:picLocks noChangeAspect="1"/>
          </p:cNvPicPr>
          <p:nvPr/>
        </p:nvPicPr>
        <p:blipFill>
          <a:blip r:embed="rId6"/>
          <a:stretch>
            <a:fillRect/>
          </a:stretch>
        </p:blipFill>
        <p:spPr>
          <a:xfrm>
            <a:off x="965606" y="4211726"/>
            <a:ext cx="309067" cy="309067"/>
          </a:xfrm>
          <a:prstGeom prst="rect">
            <a:avLst/>
          </a:prstGeom>
        </p:spPr>
      </p:pic>
      <p:sp>
        <p:nvSpPr>
          <p:cNvPr id="21" name="text-75"/>
          <p:cNvSpPr txBox="1"/>
          <p:nvPr/>
        </p:nvSpPr>
        <p:spPr>
          <a:xfrm>
            <a:off x="1600200" y="4142232"/>
            <a:ext cx="2286000" cy="457200"/>
          </a:xfrm>
          <a:prstGeom prst="rect">
            <a:avLst/>
          </a:prstGeom>
          <a:noFill/>
          <a:ln/>
        </p:spPr>
        <p:txBody>
          <a:bodyPr wrap="square" lIns="0" tIns="0" rIns="0" bIns="0" rtlCol="0" anchor="t"/>
          <a:lstStyle/>
          <a:p>
            <a:pPr marL="0" indent="0">
              <a:buNone/>
            </a:pPr>
            <a:r>
              <a:rPr lang="en-US" sz="1900" b="1" dirty="0">
                <a:solidFill>
                  <a:schemeClr val="tx1"/>
                </a:solidFill>
              </a:rPr>
              <a:t>Cold start</a:t>
            </a:r>
            <a:endParaRPr lang="en-US" sz="1900" dirty="0"/>
          </a:p>
        </p:txBody>
      </p:sp>
      <p:sp>
        <p:nvSpPr>
          <p:cNvPr id="22" name="text-76"/>
          <p:cNvSpPr txBox="1"/>
          <p:nvPr/>
        </p:nvSpPr>
        <p:spPr>
          <a:xfrm>
            <a:off x="822960" y="4818888"/>
            <a:ext cx="2971800" cy="1005840"/>
          </a:xfrm>
          <a:prstGeom prst="rect">
            <a:avLst/>
          </a:prstGeom>
          <a:noFill/>
          <a:ln/>
        </p:spPr>
        <p:txBody>
          <a:bodyPr wrap="square" lIns="0" tIns="0" rIns="0" bIns="0" rtlCol="0" anchor="t"/>
          <a:lstStyle/>
          <a:p>
            <a:pPr marL="0" indent="0">
              <a:buNone/>
            </a:pPr>
            <a:r>
              <a:rPr lang="en-US" sz="1400" dirty="0">
                <a:solidFill>
                  <a:srgbClr val="4A4565"/>
                </a:solidFill>
              </a:rPr>
              <a:t>Warm start new forms with synthetic respondents whose weight decays</a:t>
            </a:r>
            <a:endParaRPr lang="en-US" sz="1400" dirty="0"/>
          </a:p>
        </p:txBody>
      </p:sp>
      <p:sp>
        <p:nvSpPr>
          <p:cNvPr id="23" name="card-77"/>
          <p:cNvSpPr/>
          <p:nvPr/>
        </p:nvSpPr>
        <p:spPr>
          <a:xfrm>
            <a:off x="4297680" y="3794760"/>
            <a:ext cx="3474720" cy="2148840"/>
          </a:xfrm>
          <a:prstGeom prst="roundRect">
            <a:avLst>
              <a:gd name="adj" fmla="val 5106"/>
            </a:avLst>
          </a:prstGeom>
          <a:solidFill>
            <a:schemeClr val="bg2"/>
          </a:solidFill>
          <a:ln w="6350">
            <a:solidFill>
              <a:schemeClr val="bg2"/>
            </a:solidFill>
            <a:prstDash val="solid"/>
          </a:ln>
        </p:spPr>
        <p:txBody>
          <a:bodyPr/>
          <a:lstStyle/>
          <a:p>
            <a:endParaRPr lang="en-US"/>
          </a:p>
        </p:txBody>
      </p:sp>
      <p:sp>
        <p:nvSpPr>
          <p:cNvPr id="24" name="badge-78"/>
          <p:cNvSpPr/>
          <p:nvPr/>
        </p:nvSpPr>
        <p:spPr>
          <a:xfrm>
            <a:off x="4572000" y="406908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25" name="icon-79" descr="icon"/>
          <p:cNvPicPr>
            <a:picLocks noChangeAspect="1"/>
          </p:cNvPicPr>
          <p:nvPr/>
        </p:nvPicPr>
        <p:blipFill>
          <a:blip r:embed="rId7"/>
          <a:stretch>
            <a:fillRect/>
          </a:stretch>
        </p:blipFill>
        <p:spPr>
          <a:xfrm>
            <a:off x="4714646" y="4211726"/>
            <a:ext cx="309067" cy="309067"/>
          </a:xfrm>
          <a:prstGeom prst="rect">
            <a:avLst/>
          </a:prstGeom>
        </p:spPr>
      </p:pic>
      <p:sp>
        <p:nvSpPr>
          <p:cNvPr id="26" name="text-80"/>
          <p:cNvSpPr txBox="1"/>
          <p:nvPr/>
        </p:nvSpPr>
        <p:spPr>
          <a:xfrm>
            <a:off x="5349240" y="4142232"/>
            <a:ext cx="2286000" cy="457200"/>
          </a:xfrm>
          <a:prstGeom prst="rect">
            <a:avLst/>
          </a:prstGeom>
          <a:noFill/>
          <a:ln/>
        </p:spPr>
        <p:txBody>
          <a:bodyPr wrap="square" lIns="0" tIns="0" rIns="0" bIns="0" rtlCol="0" anchor="t"/>
          <a:lstStyle/>
          <a:p>
            <a:pPr marL="0" indent="0">
              <a:buNone/>
            </a:pPr>
            <a:r>
              <a:rPr lang="en-US" sz="1900" b="1" dirty="0">
                <a:solidFill>
                  <a:schemeClr val="tx1"/>
                </a:solidFill>
              </a:rPr>
              <a:t>Privacy and insights</a:t>
            </a:r>
            <a:endParaRPr lang="en-US" sz="1900" dirty="0"/>
          </a:p>
        </p:txBody>
      </p:sp>
      <p:sp>
        <p:nvSpPr>
          <p:cNvPr id="27" name="text-81"/>
          <p:cNvSpPr txBox="1"/>
          <p:nvPr/>
        </p:nvSpPr>
        <p:spPr>
          <a:xfrm>
            <a:off x="4572000" y="4818888"/>
            <a:ext cx="2971800" cy="1005840"/>
          </a:xfrm>
          <a:prstGeom prst="rect">
            <a:avLst/>
          </a:prstGeom>
          <a:noFill/>
          <a:ln/>
        </p:spPr>
        <p:txBody>
          <a:bodyPr wrap="square" lIns="0" tIns="0" rIns="0" bIns="0" rtlCol="0" anchor="t"/>
          <a:lstStyle/>
          <a:p>
            <a:pPr marL="0" indent="0">
              <a:buNone/>
            </a:pPr>
            <a:r>
              <a:rPr lang="en-US" sz="1400" dirty="0">
                <a:solidFill>
                  <a:srgbClr val="4A4565"/>
                </a:solidFill>
              </a:rPr>
              <a:t>Mask PII before any model call; summarise answers into topics and sentiment</a:t>
            </a:r>
            <a:endParaRPr lang="en-US" sz="1400" dirty="0"/>
          </a:p>
        </p:txBody>
      </p:sp>
      <p:sp>
        <p:nvSpPr>
          <p:cNvPr id="28" name="card-82"/>
          <p:cNvSpPr/>
          <p:nvPr/>
        </p:nvSpPr>
        <p:spPr>
          <a:xfrm>
            <a:off x="8046720" y="3794760"/>
            <a:ext cx="3474720" cy="2148840"/>
          </a:xfrm>
          <a:prstGeom prst="roundRect">
            <a:avLst>
              <a:gd name="adj" fmla="val 5106"/>
            </a:avLst>
          </a:prstGeom>
          <a:solidFill>
            <a:schemeClr val="bg2"/>
          </a:solidFill>
          <a:ln w="6350">
            <a:solidFill>
              <a:schemeClr val="bg2"/>
            </a:solidFill>
            <a:prstDash val="solid"/>
          </a:ln>
        </p:spPr>
        <p:txBody>
          <a:bodyPr/>
          <a:lstStyle/>
          <a:p>
            <a:endParaRPr lang="en-US"/>
          </a:p>
        </p:txBody>
      </p:sp>
      <p:sp>
        <p:nvSpPr>
          <p:cNvPr id="29" name="badge-83"/>
          <p:cNvSpPr/>
          <p:nvPr/>
        </p:nvSpPr>
        <p:spPr>
          <a:xfrm>
            <a:off x="8321040" y="406908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30" name="icon-84" descr="icon"/>
          <p:cNvPicPr>
            <a:picLocks noChangeAspect="1"/>
          </p:cNvPicPr>
          <p:nvPr/>
        </p:nvPicPr>
        <p:blipFill>
          <a:blip r:embed="rId8"/>
          <a:stretch>
            <a:fillRect/>
          </a:stretch>
        </p:blipFill>
        <p:spPr>
          <a:xfrm>
            <a:off x="8463686" y="4211726"/>
            <a:ext cx="309067" cy="309067"/>
          </a:xfrm>
          <a:prstGeom prst="rect">
            <a:avLst/>
          </a:prstGeom>
        </p:spPr>
      </p:pic>
      <p:sp>
        <p:nvSpPr>
          <p:cNvPr id="31" name="text-85"/>
          <p:cNvSpPr txBox="1"/>
          <p:nvPr/>
        </p:nvSpPr>
        <p:spPr>
          <a:xfrm>
            <a:off x="9098280" y="4142232"/>
            <a:ext cx="2286000" cy="457200"/>
          </a:xfrm>
          <a:prstGeom prst="rect">
            <a:avLst/>
          </a:prstGeom>
          <a:noFill/>
          <a:ln/>
        </p:spPr>
        <p:txBody>
          <a:bodyPr wrap="square" lIns="0" tIns="0" rIns="0" bIns="0" rtlCol="0" anchor="t"/>
          <a:lstStyle/>
          <a:p>
            <a:pPr marL="0" indent="0">
              <a:buNone/>
            </a:pPr>
            <a:r>
              <a:rPr lang="en-US" sz="1900" b="1" dirty="0">
                <a:solidFill>
                  <a:schemeClr val="tx1"/>
                </a:solidFill>
              </a:rPr>
              <a:t>Evaluation</a:t>
            </a:r>
            <a:endParaRPr lang="en-US" sz="1900" dirty="0"/>
          </a:p>
        </p:txBody>
      </p:sp>
      <p:sp>
        <p:nvSpPr>
          <p:cNvPr id="32" name="text-86"/>
          <p:cNvSpPr txBox="1"/>
          <p:nvPr/>
        </p:nvSpPr>
        <p:spPr>
          <a:xfrm>
            <a:off x="8321040" y="4818888"/>
            <a:ext cx="2971800" cy="1005840"/>
          </a:xfrm>
          <a:prstGeom prst="rect">
            <a:avLst/>
          </a:prstGeom>
          <a:noFill/>
          <a:ln/>
        </p:spPr>
        <p:txBody>
          <a:bodyPr wrap="square" lIns="0" tIns="0" rIns="0" bIns="0" rtlCol="0" anchor="t"/>
          <a:lstStyle/>
          <a:p>
            <a:pPr marL="0" indent="0">
              <a:buNone/>
            </a:pPr>
            <a:r>
              <a:rPr lang="en-US" sz="1400" dirty="0">
                <a:solidFill>
                  <a:srgbClr val="4A4565"/>
                </a:solidFill>
              </a:rPr>
              <a:t>Compare with static and rule-based forms on seven metrics</a:t>
            </a:r>
            <a:endParaRPr lang="en-US" sz="1400" dirty="0"/>
          </a:p>
        </p:txBody>
      </p:sp>
      <p:sp>
        <p:nvSpPr>
          <p:cNvPr id="33"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Literature Survey: Key Recent Work</a:t>
            </a:r>
            <a:endParaRPr lang="en-US" sz="3000" dirty="0"/>
          </a:p>
        </p:txBody>
      </p:sp>
      <p:graphicFrame>
        <p:nvGraphicFramePr>
          <p:cNvPr id="7" name="lit-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Work</a:t>
                      </a:r>
                      <a:endParaRPr lang="en-US" sz="14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6D3EF5"/>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Focus</a:t>
                      </a:r>
                      <a:endParaRPr lang="en-US" sz="14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6D3EF5"/>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Key finding</a:t>
                      </a:r>
                      <a:endParaRPr lang="en-US" sz="14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6D3EF5"/>
                    </a:solidFill>
                  </a:tcPr>
                </a:tc>
                <a:extLst>
                  <a:ext uri="{0D108BD9-81ED-4DB2-BD59-A6C34878D82A}">
                    <a16:rowId xmlns:a16="http://schemas.microsoft.com/office/drawing/2014/main" val="10000"/>
                  </a:ext>
                </a:extLst>
              </a:tr>
              <a:tr h="47548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Bachmann et al., 2024</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Adaptive questionnaires</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74% accuracy vs &lt;40% for fixed short forms</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extLst>
                  <a:ext uri="{0D108BD9-81ED-4DB2-BD59-A6C34878D82A}">
                    <a16:rowId xmlns:a16="http://schemas.microsoft.com/office/drawing/2014/main" val="10001"/>
                  </a:ext>
                </a:extLst>
              </a:tr>
              <a:tr h="47548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Bachmann et al., 2025</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GPT-4 synthetic cold start</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RMSE 0.420 to 0.297; gain fades after ~175 users</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Hu et al., 2024</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Information-gain questioning</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+38.1% task success with fewer questions</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extLst>
                  <a:ext uri="{0D108BD9-81ED-4DB2-BD59-A6C34878D82A}">
                    <a16:rowId xmlns:a16="http://schemas.microsoft.com/office/drawing/2014/main" val="10003"/>
                  </a:ext>
                </a:extLst>
              </a:tr>
              <a:tr h="47548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Li et al., 2025</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Adaptive testing (ATLAS)</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Up to 90% fewer items at same precision</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Adhikari et al., 2025</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LLM questionnaire generation</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Generated items clearer and more specific</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extLst>
                  <a:ext uri="{0D108BD9-81ED-4DB2-BD59-A6C34878D82A}">
                    <a16:rowId xmlns:a16="http://schemas.microsoft.com/office/drawing/2014/main" val="10005"/>
                  </a:ext>
                </a:extLst>
              </a:tr>
              <a:tr h="47548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Reed et al., 2024</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Quality of local surveys</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46% of 250 items not recommended</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Lukauskas &amp; Šarkauskaitė, 2026</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Audit of synthetic respondents</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+0.84 SD acquiescence; poor transfer</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extLst>
                  <a:ext uri="{0D108BD9-81ED-4DB2-BD59-A6C34878D82A}">
                    <a16:rowId xmlns:a16="http://schemas.microsoft.com/office/drawing/2014/main" val="10007"/>
                  </a:ext>
                </a:extLst>
              </a:tr>
              <a:tr h="47548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Nayyeri &amp; Rasoolzadegan, 2025</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Local LLM for web forms</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Local model avoids cloud data leakage</a:t>
                      </a:r>
                      <a:endParaRPr lang="en-US" sz="1300" dirty="0">
                        <a:latin typeface="Calibri" charset="0"/>
                        <a:ea typeface="Calibri" charset="0"/>
                        <a:cs typeface="Calibri" charset="0"/>
                      </a:endParaRPr>
                    </a:p>
                  </a:txBody>
                  <a:tcPr marL="109728" marR="109728" marT="36576" marB="36576"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 name="text-87"/>
          <p:cNvSpPr txBox="1"/>
          <p:nvPr/>
        </p:nvSpPr>
        <p:spPr>
          <a:xfrm>
            <a:off x="548640" y="5806440"/>
            <a:ext cx="10972800" cy="320040"/>
          </a:xfrm>
          <a:prstGeom prst="rect">
            <a:avLst/>
          </a:prstGeom>
          <a:noFill/>
          <a:ln/>
        </p:spPr>
        <p:txBody>
          <a:bodyPr wrap="square" lIns="0" tIns="0" rIns="0" bIns="0" rtlCol="0" anchor="t"/>
          <a:lstStyle/>
          <a:p>
            <a:pPr marL="0" indent="0">
              <a:buNone/>
            </a:pPr>
            <a:r>
              <a:rPr lang="en-US" sz="1200" i="1" dirty="0">
                <a:solidFill>
                  <a:srgbClr val="6B6785"/>
                </a:solidFill>
              </a:rPr>
              <a:t>15 references in the report, 2024-2026, all with verified DOI or arXiv links</a:t>
            </a:r>
            <a:endParaRPr lang="en-US" sz="12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Research Gap and Our Answer</a:t>
            </a:r>
            <a:endParaRPr lang="en-US" sz="3000" dirty="0"/>
          </a:p>
        </p:txBody>
      </p:sp>
      <p:sp>
        <p:nvSpPr>
          <p:cNvPr id="3" name="text-88"/>
          <p:cNvSpPr txBox="1"/>
          <p:nvPr/>
        </p:nvSpPr>
        <p:spPr>
          <a:xfrm>
            <a:off x="548640" y="1280160"/>
            <a:ext cx="5120640" cy="365760"/>
          </a:xfrm>
          <a:prstGeom prst="rect">
            <a:avLst/>
          </a:prstGeom>
          <a:noFill/>
          <a:ln/>
        </p:spPr>
        <p:txBody>
          <a:bodyPr wrap="square" lIns="0" tIns="0" rIns="0" bIns="0" rtlCol="0" anchor="t"/>
          <a:lstStyle/>
          <a:p>
            <a:pPr marL="0" indent="0">
              <a:buNone/>
            </a:pPr>
            <a:r>
              <a:rPr lang="en-US" sz="1500" b="1" dirty="0">
                <a:solidFill>
                  <a:srgbClr val="6B6785"/>
                </a:solidFill>
              </a:rPr>
              <a:t>Gap in existing work</a:t>
            </a:r>
            <a:endParaRPr lang="en-US" sz="1500" dirty="0"/>
          </a:p>
        </p:txBody>
      </p:sp>
      <p:sp>
        <p:nvSpPr>
          <p:cNvPr id="4" name="text-89"/>
          <p:cNvSpPr txBox="1"/>
          <p:nvPr/>
        </p:nvSpPr>
        <p:spPr>
          <a:xfrm>
            <a:off x="6537960" y="1280160"/>
            <a:ext cx="5120640" cy="365760"/>
          </a:xfrm>
          <a:prstGeom prst="rect">
            <a:avLst/>
          </a:prstGeom>
          <a:noFill/>
          <a:ln/>
        </p:spPr>
        <p:txBody>
          <a:bodyPr wrap="square" lIns="0" tIns="0" rIns="0" bIns="0" rtlCol="0" anchor="t"/>
          <a:lstStyle/>
          <a:p>
            <a:pPr marL="0" indent="0">
              <a:buNone/>
            </a:pPr>
            <a:r>
              <a:rPr lang="en-US" sz="1500" b="1" dirty="0">
                <a:solidFill>
                  <a:schemeClr val="accent1"/>
                </a:solidFill>
              </a:rPr>
              <a:t>FormForge 2.0</a:t>
            </a:r>
            <a:endParaRPr lang="en-US" sz="1500" dirty="0"/>
          </a:p>
        </p:txBody>
      </p:sp>
      <p:sp>
        <p:nvSpPr>
          <p:cNvPr id="5" name="card-90"/>
          <p:cNvSpPr/>
          <p:nvPr/>
        </p:nvSpPr>
        <p:spPr>
          <a:xfrm>
            <a:off x="548640" y="1737360"/>
            <a:ext cx="5257800" cy="731520"/>
          </a:xfrm>
          <a:prstGeom prst="roundRect">
            <a:avLst>
              <a:gd name="adj" fmla="val 15000"/>
            </a:avLst>
          </a:prstGeom>
          <a:solidFill>
            <a:srgbClr val="F8F9FA"/>
          </a:solidFill>
          <a:ln w="6350">
            <a:solidFill>
              <a:srgbClr val="F8F9FA"/>
            </a:solidFill>
            <a:prstDash val="solid"/>
          </a:ln>
        </p:spPr>
        <p:txBody>
          <a:bodyPr/>
          <a:lstStyle/>
          <a:p>
            <a:endParaRPr lang="en-US"/>
          </a:p>
        </p:txBody>
      </p:sp>
      <p:sp>
        <p:nvSpPr>
          <p:cNvPr id="6" name="text-91"/>
          <p:cNvSpPr txBox="1"/>
          <p:nvPr/>
        </p:nvSpPr>
        <p:spPr>
          <a:xfrm>
            <a:off x="777240" y="1828800"/>
            <a:ext cx="4846320" cy="548640"/>
          </a:xfrm>
          <a:prstGeom prst="rect">
            <a:avLst/>
          </a:prstGeom>
          <a:noFill/>
          <a:ln/>
        </p:spPr>
        <p:txBody>
          <a:bodyPr wrap="square" lIns="0" tIns="0" rIns="0" bIns="0" rtlCol="0" anchor="ctr"/>
          <a:lstStyle/>
          <a:p>
            <a:pPr marL="0" indent="0">
              <a:buNone/>
            </a:pPr>
            <a:r>
              <a:rPr lang="en-US" sz="1500" dirty="0">
                <a:solidFill>
                  <a:srgbClr val="495057"/>
                </a:solidFill>
              </a:rPr>
              <a:t>Adaptive questionnaires exist only for fixed instruments</a:t>
            </a:r>
            <a:endParaRPr lang="en-US" sz="1500" dirty="0"/>
          </a:p>
        </p:txBody>
      </p:sp>
      <p:sp>
        <p:nvSpPr>
          <p:cNvPr id="7" name="arrow-92"/>
          <p:cNvSpPr/>
          <p:nvPr/>
        </p:nvSpPr>
        <p:spPr>
          <a:xfrm>
            <a:off x="5943600" y="1938528"/>
            <a:ext cx="411480" cy="329184"/>
          </a:xfrm>
          <a:prstGeom prst="rightArrow">
            <a:avLst/>
          </a:prstGeom>
          <a:solidFill>
            <a:schemeClr val="accent1"/>
          </a:solidFill>
          <a:ln w="12700">
            <a:solidFill>
              <a:schemeClr val="accent1"/>
            </a:solidFill>
            <a:prstDash val="solid"/>
          </a:ln>
        </p:spPr>
        <p:txBody>
          <a:bodyPr/>
          <a:lstStyle/>
          <a:p>
            <a:endParaRPr lang="en-US"/>
          </a:p>
        </p:txBody>
      </p:sp>
      <p:sp>
        <p:nvSpPr>
          <p:cNvPr id="8" name="card-93"/>
          <p:cNvSpPr/>
          <p:nvPr/>
        </p:nvSpPr>
        <p:spPr>
          <a:xfrm>
            <a:off x="6492240" y="1737360"/>
            <a:ext cx="5166360" cy="731520"/>
          </a:xfrm>
          <a:prstGeom prst="roundRect">
            <a:avLst>
              <a:gd name="adj" fmla="val 15000"/>
            </a:avLst>
          </a:prstGeom>
          <a:solidFill>
            <a:schemeClr val="bg2"/>
          </a:solidFill>
          <a:ln w="6350">
            <a:solidFill>
              <a:schemeClr val="bg2"/>
            </a:solidFill>
            <a:prstDash val="solid"/>
          </a:ln>
        </p:spPr>
        <p:txBody>
          <a:bodyPr/>
          <a:lstStyle/>
          <a:p>
            <a:endParaRPr lang="en-US"/>
          </a:p>
        </p:txBody>
      </p:sp>
      <p:sp>
        <p:nvSpPr>
          <p:cNvPr id="9" name="text-94"/>
          <p:cNvSpPr txBox="1"/>
          <p:nvPr/>
        </p:nvSpPr>
        <p:spPr>
          <a:xfrm>
            <a:off x="6720840" y="1828800"/>
            <a:ext cx="4754880" cy="548640"/>
          </a:xfrm>
          <a:prstGeom prst="rect">
            <a:avLst/>
          </a:prstGeom>
          <a:noFill/>
          <a:ln/>
        </p:spPr>
        <p:txBody>
          <a:bodyPr wrap="square" lIns="0" tIns="0" rIns="0" bIns="0" rtlCol="0" anchor="ctr"/>
          <a:lstStyle/>
          <a:p>
            <a:pPr marL="0" indent="0">
              <a:buNone/>
            </a:pPr>
            <a:r>
              <a:rPr lang="en-US" sz="1500" b="1" dirty="0">
                <a:solidFill>
                  <a:schemeClr val="tx1"/>
                </a:solidFill>
              </a:rPr>
              <a:t>Adaptive selection inside a general-purpose form builder</a:t>
            </a:r>
            <a:endParaRPr lang="en-US" sz="1500" dirty="0"/>
          </a:p>
        </p:txBody>
      </p:sp>
      <p:sp>
        <p:nvSpPr>
          <p:cNvPr id="10" name="card-95"/>
          <p:cNvSpPr/>
          <p:nvPr/>
        </p:nvSpPr>
        <p:spPr>
          <a:xfrm>
            <a:off x="548640" y="2624328"/>
            <a:ext cx="5257800" cy="731520"/>
          </a:xfrm>
          <a:prstGeom prst="roundRect">
            <a:avLst>
              <a:gd name="adj" fmla="val 15000"/>
            </a:avLst>
          </a:prstGeom>
          <a:solidFill>
            <a:srgbClr val="F8F9FA"/>
          </a:solidFill>
          <a:ln w="6350">
            <a:solidFill>
              <a:srgbClr val="F8F9FA"/>
            </a:solidFill>
            <a:prstDash val="solid"/>
          </a:ln>
        </p:spPr>
        <p:txBody>
          <a:bodyPr/>
          <a:lstStyle/>
          <a:p>
            <a:endParaRPr lang="en-US"/>
          </a:p>
        </p:txBody>
      </p:sp>
      <p:sp>
        <p:nvSpPr>
          <p:cNvPr id="11" name="text-96"/>
          <p:cNvSpPr txBox="1"/>
          <p:nvPr/>
        </p:nvSpPr>
        <p:spPr>
          <a:xfrm>
            <a:off x="777240" y="2715768"/>
            <a:ext cx="4846320" cy="548640"/>
          </a:xfrm>
          <a:prstGeom prst="rect">
            <a:avLst/>
          </a:prstGeom>
          <a:noFill/>
          <a:ln/>
        </p:spPr>
        <p:txBody>
          <a:bodyPr wrap="square" lIns="0" tIns="0" rIns="0" bIns="0" rtlCol="0" anchor="ctr"/>
          <a:lstStyle/>
          <a:p>
            <a:pPr marL="0" indent="0">
              <a:buNone/>
            </a:pPr>
            <a:r>
              <a:rPr lang="en-US" sz="1500" dirty="0">
                <a:solidFill>
                  <a:srgbClr val="495057"/>
                </a:solidFill>
              </a:rPr>
              <a:t>Generators produce wording, not machine-readable structure</a:t>
            </a:r>
            <a:endParaRPr lang="en-US" sz="1500" dirty="0"/>
          </a:p>
        </p:txBody>
      </p:sp>
      <p:sp>
        <p:nvSpPr>
          <p:cNvPr id="12" name="arrow-97"/>
          <p:cNvSpPr/>
          <p:nvPr/>
        </p:nvSpPr>
        <p:spPr>
          <a:xfrm>
            <a:off x="5943600" y="2825496"/>
            <a:ext cx="411480" cy="329184"/>
          </a:xfrm>
          <a:prstGeom prst="rightArrow">
            <a:avLst/>
          </a:prstGeom>
          <a:solidFill>
            <a:schemeClr val="accent1"/>
          </a:solidFill>
          <a:ln w="12700">
            <a:solidFill>
              <a:schemeClr val="accent1"/>
            </a:solidFill>
            <a:prstDash val="solid"/>
          </a:ln>
        </p:spPr>
        <p:txBody>
          <a:bodyPr/>
          <a:lstStyle/>
          <a:p>
            <a:endParaRPr lang="en-US"/>
          </a:p>
        </p:txBody>
      </p:sp>
      <p:sp>
        <p:nvSpPr>
          <p:cNvPr id="13" name="card-98"/>
          <p:cNvSpPr/>
          <p:nvPr/>
        </p:nvSpPr>
        <p:spPr>
          <a:xfrm>
            <a:off x="6492240" y="2624328"/>
            <a:ext cx="5166360" cy="731520"/>
          </a:xfrm>
          <a:prstGeom prst="roundRect">
            <a:avLst>
              <a:gd name="adj" fmla="val 15000"/>
            </a:avLst>
          </a:prstGeom>
          <a:solidFill>
            <a:schemeClr val="bg2"/>
          </a:solidFill>
          <a:ln w="6350">
            <a:solidFill>
              <a:schemeClr val="bg2"/>
            </a:solidFill>
            <a:prstDash val="solid"/>
          </a:ln>
        </p:spPr>
        <p:txBody>
          <a:bodyPr/>
          <a:lstStyle/>
          <a:p>
            <a:endParaRPr lang="en-US"/>
          </a:p>
        </p:txBody>
      </p:sp>
      <p:sp>
        <p:nvSpPr>
          <p:cNvPr id="14" name="text-99"/>
          <p:cNvSpPr txBox="1"/>
          <p:nvPr/>
        </p:nvSpPr>
        <p:spPr>
          <a:xfrm>
            <a:off x="6720840" y="2715768"/>
            <a:ext cx="4754880" cy="548640"/>
          </a:xfrm>
          <a:prstGeom prst="rect">
            <a:avLst/>
          </a:prstGeom>
          <a:noFill/>
          <a:ln/>
        </p:spPr>
        <p:txBody>
          <a:bodyPr wrap="square" lIns="0" tIns="0" rIns="0" bIns="0" rtlCol="0" anchor="ctr"/>
          <a:lstStyle/>
          <a:p>
            <a:pPr marL="0" indent="0">
              <a:buNone/>
            </a:pPr>
            <a:r>
              <a:rPr lang="en-US" sz="1500" b="1" dirty="0">
                <a:solidFill>
                  <a:schemeClr val="tx1"/>
                </a:solidFill>
              </a:rPr>
              <a:t>Every generated question carries target, objective, time</a:t>
            </a:r>
            <a:endParaRPr lang="en-US" sz="1500" dirty="0"/>
          </a:p>
        </p:txBody>
      </p:sp>
      <p:sp>
        <p:nvSpPr>
          <p:cNvPr id="15" name="card-100"/>
          <p:cNvSpPr/>
          <p:nvPr/>
        </p:nvSpPr>
        <p:spPr>
          <a:xfrm>
            <a:off x="548640" y="3511296"/>
            <a:ext cx="5257800" cy="731520"/>
          </a:xfrm>
          <a:prstGeom prst="roundRect">
            <a:avLst>
              <a:gd name="adj" fmla="val 15000"/>
            </a:avLst>
          </a:prstGeom>
          <a:solidFill>
            <a:srgbClr val="F8F9FA"/>
          </a:solidFill>
          <a:ln w="6350">
            <a:solidFill>
              <a:srgbClr val="F8F9FA"/>
            </a:solidFill>
            <a:prstDash val="solid"/>
          </a:ln>
        </p:spPr>
        <p:txBody>
          <a:bodyPr/>
          <a:lstStyle/>
          <a:p>
            <a:endParaRPr lang="en-US"/>
          </a:p>
        </p:txBody>
      </p:sp>
      <p:sp>
        <p:nvSpPr>
          <p:cNvPr id="16" name="text-101"/>
          <p:cNvSpPr txBox="1"/>
          <p:nvPr/>
        </p:nvSpPr>
        <p:spPr>
          <a:xfrm>
            <a:off x="777240" y="3602736"/>
            <a:ext cx="4846320" cy="548640"/>
          </a:xfrm>
          <a:prstGeom prst="rect">
            <a:avLst/>
          </a:prstGeom>
          <a:noFill/>
          <a:ln/>
        </p:spPr>
        <p:txBody>
          <a:bodyPr wrap="square" lIns="0" tIns="0" rIns="0" bIns="0" rtlCol="0" anchor="ctr"/>
          <a:lstStyle/>
          <a:p>
            <a:pPr marL="0" indent="0">
              <a:buNone/>
            </a:pPr>
            <a:r>
              <a:rPr lang="en-US" sz="1500" dirty="0">
                <a:solidFill>
                  <a:srgbClr val="495057"/>
                </a:solidFill>
              </a:rPr>
              <a:t>Selection optimises information alone</a:t>
            </a:r>
            <a:endParaRPr lang="en-US" sz="1500" dirty="0"/>
          </a:p>
        </p:txBody>
      </p:sp>
      <p:sp>
        <p:nvSpPr>
          <p:cNvPr id="17" name="arrow-102"/>
          <p:cNvSpPr/>
          <p:nvPr/>
        </p:nvSpPr>
        <p:spPr>
          <a:xfrm>
            <a:off x="5943600" y="3712464"/>
            <a:ext cx="411480" cy="329184"/>
          </a:xfrm>
          <a:prstGeom prst="rightArrow">
            <a:avLst/>
          </a:prstGeom>
          <a:solidFill>
            <a:schemeClr val="accent1"/>
          </a:solidFill>
          <a:ln w="12700">
            <a:solidFill>
              <a:schemeClr val="accent1"/>
            </a:solidFill>
            <a:prstDash val="solid"/>
          </a:ln>
        </p:spPr>
        <p:txBody>
          <a:bodyPr/>
          <a:lstStyle/>
          <a:p>
            <a:endParaRPr lang="en-US"/>
          </a:p>
        </p:txBody>
      </p:sp>
      <p:sp>
        <p:nvSpPr>
          <p:cNvPr id="18" name="card-103"/>
          <p:cNvSpPr/>
          <p:nvPr/>
        </p:nvSpPr>
        <p:spPr>
          <a:xfrm>
            <a:off x="6492240" y="3511296"/>
            <a:ext cx="5166360" cy="731520"/>
          </a:xfrm>
          <a:prstGeom prst="roundRect">
            <a:avLst>
              <a:gd name="adj" fmla="val 15000"/>
            </a:avLst>
          </a:prstGeom>
          <a:solidFill>
            <a:schemeClr val="bg2"/>
          </a:solidFill>
          <a:ln w="6350">
            <a:solidFill>
              <a:schemeClr val="bg2"/>
            </a:solidFill>
            <a:prstDash val="solid"/>
          </a:ln>
        </p:spPr>
        <p:txBody>
          <a:bodyPr/>
          <a:lstStyle/>
          <a:p>
            <a:endParaRPr lang="en-US"/>
          </a:p>
        </p:txBody>
      </p:sp>
      <p:sp>
        <p:nvSpPr>
          <p:cNvPr id="19" name="text-104"/>
          <p:cNvSpPr txBox="1"/>
          <p:nvPr/>
        </p:nvSpPr>
        <p:spPr>
          <a:xfrm>
            <a:off x="6720840" y="3602736"/>
            <a:ext cx="4754880" cy="548640"/>
          </a:xfrm>
          <a:prstGeom prst="rect">
            <a:avLst/>
          </a:prstGeom>
          <a:noFill/>
          <a:ln/>
        </p:spPr>
        <p:txBody>
          <a:bodyPr wrap="square" lIns="0" tIns="0" rIns="0" bIns="0" rtlCol="0" anchor="ctr"/>
          <a:lstStyle/>
          <a:p>
            <a:pPr marL="0" indent="0">
              <a:buNone/>
            </a:pPr>
            <a:r>
              <a:rPr lang="en-US" sz="1500" b="1" dirty="0">
                <a:solidFill>
                  <a:schemeClr val="tx1"/>
                </a:solidFill>
              </a:rPr>
              <a:t>Utility adds burden, redundancy and coverage</a:t>
            </a:r>
            <a:endParaRPr lang="en-US" sz="1500" dirty="0"/>
          </a:p>
        </p:txBody>
      </p:sp>
      <p:sp>
        <p:nvSpPr>
          <p:cNvPr id="20" name="card-105"/>
          <p:cNvSpPr/>
          <p:nvPr/>
        </p:nvSpPr>
        <p:spPr>
          <a:xfrm>
            <a:off x="548640" y="4398264"/>
            <a:ext cx="5257800" cy="731520"/>
          </a:xfrm>
          <a:prstGeom prst="roundRect">
            <a:avLst>
              <a:gd name="adj" fmla="val 15000"/>
            </a:avLst>
          </a:prstGeom>
          <a:solidFill>
            <a:srgbClr val="F8F9FA"/>
          </a:solidFill>
          <a:ln w="6350">
            <a:solidFill>
              <a:srgbClr val="F8F9FA"/>
            </a:solidFill>
            <a:prstDash val="solid"/>
          </a:ln>
        </p:spPr>
        <p:txBody>
          <a:bodyPr/>
          <a:lstStyle/>
          <a:p>
            <a:endParaRPr lang="en-US"/>
          </a:p>
        </p:txBody>
      </p:sp>
      <p:sp>
        <p:nvSpPr>
          <p:cNvPr id="21" name="text-106"/>
          <p:cNvSpPr txBox="1"/>
          <p:nvPr/>
        </p:nvSpPr>
        <p:spPr>
          <a:xfrm>
            <a:off x="777240" y="4489704"/>
            <a:ext cx="4846320" cy="548640"/>
          </a:xfrm>
          <a:prstGeom prst="rect">
            <a:avLst/>
          </a:prstGeom>
          <a:noFill/>
          <a:ln/>
        </p:spPr>
        <p:txBody>
          <a:bodyPr wrap="square" lIns="0" tIns="0" rIns="0" bIns="0" rtlCol="0" anchor="ctr"/>
          <a:lstStyle/>
          <a:p>
            <a:pPr marL="0" indent="0">
              <a:buNone/>
            </a:pPr>
            <a:r>
              <a:rPr lang="en-US" sz="1500" dirty="0">
                <a:solidFill>
                  <a:srgbClr val="495057"/>
                </a:solidFill>
              </a:rPr>
              <a:t>Cold start studied with large paid models only</a:t>
            </a:r>
            <a:endParaRPr lang="en-US" sz="1500" dirty="0"/>
          </a:p>
        </p:txBody>
      </p:sp>
      <p:sp>
        <p:nvSpPr>
          <p:cNvPr id="22" name="arrow-107"/>
          <p:cNvSpPr/>
          <p:nvPr/>
        </p:nvSpPr>
        <p:spPr>
          <a:xfrm>
            <a:off x="5943600" y="4599432"/>
            <a:ext cx="411480" cy="329184"/>
          </a:xfrm>
          <a:prstGeom prst="rightArrow">
            <a:avLst/>
          </a:prstGeom>
          <a:solidFill>
            <a:schemeClr val="accent1"/>
          </a:solidFill>
          <a:ln w="12700">
            <a:solidFill>
              <a:schemeClr val="accent1"/>
            </a:solidFill>
            <a:prstDash val="solid"/>
          </a:ln>
        </p:spPr>
        <p:txBody>
          <a:bodyPr/>
          <a:lstStyle/>
          <a:p>
            <a:endParaRPr lang="en-US"/>
          </a:p>
        </p:txBody>
      </p:sp>
      <p:sp>
        <p:nvSpPr>
          <p:cNvPr id="23" name="card-108"/>
          <p:cNvSpPr/>
          <p:nvPr/>
        </p:nvSpPr>
        <p:spPr>
          <a:xfrm>
            <a:off x="6492240" y="4398264"/>
            <a:ext cx="5166360" cy="731520"/>
          </a:xfrm>
          <a:prstGeom prst="roundRect">
            <a:avLst>
              <a:gd name="adj" fmla="val 15000"/>
            </a:avLst>
          </a:prstGeom>
          <a:solidFill>
            <a:schemeClr val="bg2"/>
          </a:solidFill>
          <a:ln w="6350">
            <a:solidFill>
              <a:schemeClr val="bg2"/>
            </a:solidFill>
            <a:prstDash val="solid"/>
          </a:ln>
        </p:spPr>
        <p:txBody>
          <a:bodyPr/>
          <a:lstStyle/>
          <a:p>
            <a:endParaRPr lang="en-US"/>
          </a:p>
        </p:txBody>
      </p:sp>
      <p:sp>
        <p:nvSpPr>
          <p:cNvPr id="24" name="text-109"/>
          <p:cNvSpPr txBox="1"/>
          <p:nvPr/>
        </p:nvSpPr>
        <p:spPr>
          <a:xfrm>
            <a:off x="6720840" y="4489704"/>
            <a:ext cx="4754880" cy="548640"/>
          </a:xfrm>
          <a:prstGeom prst="rect">
            <a:avLst/>
          </a:prstGeom>
          <a:noFill/>
          <a:ln/>
        </p:spPr>
        <p:txBody>
          <a:bodyPr wrap="square" lIns="0" tIns="0" rIns="0" bIns="0" rtlCol="0" anchor="ctr"/>
          <a:lstStyle/>
          <a:p>
            <a:pPr marL="0" indent="0">
              <a:buNone/>
            </a:pPr>
            <a:r>
              <a:rPr lang="en-US" sz="1500" b="1" dirty="0">
                <a:solidFill>
                  <a:schemeClr val="tx1"/>
                </a:solidFill>
              </a:rPr>
              <a:t>Synthetic warm start with a free model and a decaying weight</a:t>
            </a:r>
            <a:endParaRPr lang="en-US" sz="1500" dirty="0"/>
          </a:p>
        </p:txBody>
      </p:sp>
      <p:sp>
        <p:nvSpPr>
          <p:cNvPr id="25" name="card-110"/>
          <p:cNvSpPr/>
          <p:nvPr/>
        </p:nvSpPr>
        <p:spPr>
          <a:xfrm>
            <a:off x="548640" y="5285232"/>
            <a:ext cx="5257800" cy="731520"/>
          </a:xfrm>
          <a:prstGeom prst="roundRect">
            <a:avLst>
              <a:gd name="adj" fmla="val 15000"/>
            </a:avLst>
          </a:prstGeom>
          <a:solidFill>
            <a:srgbClr val="F8F9FA"/>
          </a:solidFill>
          <a:ln w="6350">
            <a:solidFill>
              <a:srgbClr val="F8F9FA"/>
            </a:solidFill>
            <a:prstDash val="solid"/>
          </a:ln>
        </p:spPr>
        <p:txBody>
          <a:bodyPr/>
          <a:lstStyle/>
          <a:p>
            <a:endParaRPr lang="en-US"/>
          </a:p>
        </p:txBody>
      </p:sp>
      <p:sp>
        <p:nvSpPr>
          <p:cNvPr id="26" name="text-111"/>
          <p:cNvSpPr txBox="1"/>
          <p:nvPr/>
        </p:nvSpPr>
        <p:spPr>
          <a:xfrm>
            <a:off x="777240" y="5376672"/>
            <a:ext cx="4846320" cy="548640"/>
          </a:xfrm>
          <a:prstGeom prst="rect">
            <a:avLst/>
          </a:prstGeom>
          <a:noFill/>
          <a:ln/>
        </p:spPr>
        <p:txBody>
          <a:bodyPr wrap="square" lIns="0" tIns="0" rIns="0" bIns="0" rtlCol="0" anchor="ctr"/>
          <a:lstStyle/>
          <a:p>
            <a:pPr marL="0" indent="0">
              <a:buNone/>
            </a:pPr>
            <a:r>
              <a:rPr lang="en-US" sz="1500" dirty="0">
                <a:solidFill>
                  <a:srgbClr val="495057"/>
                </a:solidFill>
              </a:rPr>
              <a:t>AI features send raw responses to the cloud</a:t>
            </a:r>
            <a:endParaRPr lang="en-US" sz="1500" dirty="0"/>
          </a:p>
        </p:txBody>
      </p:sp>
      <p:sp>
        <p:nvSpPr>
          <p:cNvPr id="27" name="arrow-112"/>
          <p:cNvSpPr/>
          <p:nvPr/>
        </p:nvSpPr>
        <p:spPr>
          <a:xfrm>
            <a:off x="5943600" y="5486400"/>
            <a:ext cx="411480" cy="329184"/>
          </a:xfrm>
          <a:prstGeom prst="rightArrow">
            <a:avLst/>
          </a:prstGeom>
          <a:solidFill>
            <a:schemeClr val="accent1"/>
          </a:solidFill>
          <a:ln w="12700">
            <a:solidFill>
              <a:schemeClr val="accent1"/>
            </a:solidFill>
            <a:prstDash val="solid"/>
          </a:ln>
        </p:spPr>
        <p:txBody>
          <a:bodyPr/>
          <a:lstStyle/>
          <a:p>
            <a:endParaRPr lang="en-US"/>
          </a:p>
        </p:txBody>
      </p:sp>
      <p:sp>
        <p:nvSpPr>
          <p:cNvPr id="28" name="card-113"/>
          <p:cNvSpPr/>
          <p:nvPr/>
        </p:nvSpPr>
        <p:spPr>
          <a:xfrm>
            <a:off x="6492240" y="5285232"/>
            <a:ext cx="5166360" cy="731520"/>
          </a:xfrm>
          <a:prstGeom prst="roundRect">
            <a:avLst>
              <a:gd name="adj" fmla="val 15000"/>
            </a:avLst>
          </a:prstGeom>
          <a:solidFill>
            <a:schemeClr val="bg2"/>
          </a:solidFill>
          <a:ln w="6350">
            <a:solidFill>
              <a:schemeClr val="bg2"/>
            </a:solidFill>
            <a:prstDash val="solid"/>
          </a:ln>
        </p:spPr>
        <p:txBody>
          <a:bodyPr/>
          <a:lstStyle/>
          <a:p>
            <a:endParaRPr lang="en-US"/>
          </a:p>
        </p:txBody>
      </p:sp>
      <p:sp>
        <p:nvSpPr>
          <p:cNvPr id="29" name="text-114"/>
          <p:cNvSpPr txBox="1"/>
          <p:nvPr/>
        </p:nvSpPr>
        <p:spPr>
          <a:xfrm>
            <a:off x="6720840" y="5376672"/>
            <a:ext cx="4754880" cy="548640"/>
          </a:xfrm>
          <a:prstGeom prst="rect">
            <a:avLst/>
          </a:prstGeom>
          <a:noFill/>
          <a:ln/>
        </p:spPr>
        <p:txBody>
          <a:bodyPr wrap="square" lIns="0" tIns="0" rIns="0" bIns="0" rtlCol="0" anchor="ctr"/>
          <a:lstStyle/>
          <a:p>
            <a:pPr marL="0" indent="0">
              <a:buNone/>
            </a:pPr>
            <a:r>
              <a:rPr lang="en-US" sz="1500" b="1" dirty="0">
                <a:solidFill>
                  <a:schemeClr val="tx1"/>
                </a:solidFill>
              </a:rPr>
              <a:t>PII masking before any model call; local model one setting away</a:t>
            </a:r>
            <a:endParaRPr lang="en-US" sz="1500" dirty="0"/>
          </a:p>
        </p:txBody>
      </p:sp>
      <p:sp>
        <p:nvSpPr>
          <p:cNvPr id="30"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Solution Overview</a:t>
            </a:r>
            <a:endParaRPr lang="en-US" sz="3000" dirty="0"/>
          </a:p>
        </p:txBody>
      </p:sp>
      <p:sp>
        <p:nvSpPr>
          <p:cNvPr id="3" name="text-115"/>
          <p:cNvSpPr txBox="1"/>
          <p:nvPr/>
        </p:nvSpPr>
        <p:spPr>
          <a:xfrm>
            <a:off x="548640" y="1143000"/>
            <a:ext cx="10972800" cy="365760"/>
          </a:xfrm>
          <a:prstGeom prst="rect">
            <a:avLst/>
          </a:prstGeom>
          <a:noFill/>
          <a:ln/>
        </p:spPr>
        <p:txBody>
          <a:bodyPr wrap="square" lIns="0" tIns="0" rIns="0" bIns="0" rtlCol="0" anchor="t"/>
          <a:lstStyle/>
          <a:p>
            <a:pPr marL="0" indent="0">
              <a:buNone/>
            </a:pPr>
            <a:r>
              <a:rPr lang="en-US" sz="1600" dirty="0">
                <a:solidFill>
                  <a:srgbClr val="6B6785"/>
                </a:solidFill>
              </a:rPr>
              <a:t>Six intelligence modules added on top of the existing FormForge platform</a:t>
            </a:r>
            <a:endParaRPr lang="en-US" sz="1600" dirty="0"/>
          </a:p>
        </p:txBody>
      </p:sp>
      <p:sp>
        <p:nvSpPr>
          <p:cNvPr id="4" name="card-116"/>
          <p:cNvSpPr/>
          <p:nvPr/>
        </p:nvSpPr>
        <p:spPr>
          <a:xfrm>
            <a:off x="548640" y="1691640"/>
            <a:ext cx="1691640" cy="2743200"/>
          </a:xfrm>
          <a:prstGeom prst="roundRect">
            <a:avLst>
              <a:gd name="adj" fmla="val 6486"/>
            </a:avLst>
          </a:prstGeom>
          <a:solidFill>
            <a:schemeClr val="bg2"/>
          </a:solidFill>
          <a:ln w="6350">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5" name="badge-117"/>
          <p:cNvSpPr/>
          <p:nvPr/>
        </p:nvSpPr>
        <p:spPr>
          <a:xfrm>
            <a:off x="1097280" y="192024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6" name="icon-118" descr="icon"/>
          <p:cNvPicPr>
            <a:picLocks noChangeAspect="1"/>
          </p:cNvPicPr>
          <p:nvPr/>
        </p:nvPicPr>
        <p:blipFill>
          <a:blip r:embed="rId3"/>
          <a:stretch>
            <a:fillRect/>
          </a:stretch>
        </p:blipFill>
        <p:spPr>
          <a:xfrm>
            <a:off x="1239926" y="2062886"/>
            <a:ext cx="309067" cy="309067"/>
          </a:xfrm>
          <a:prstGeom prst="rect">
            <a:avLst/>
          </a:prstGeom>
        </p:spPr>
      </p:pic>
      <p:sp>
        <p:nvSpPr>
          <p:cNvPr id="7" name="text-119"/>
          <p:cNvSpPr txBox="1"/>
          <p:nvPr/>
        </p:nvSpPr>
        <p:spPr>
          <a:xfrm>
            <a:off x="658368" y="2697480"/>
            <a:ext cx="1472184" cy="685800"/>
          </a:xfrm>
          <a:prstGeom prst="rect">
            <a:avLst/>
          </a:prstGeom>
          <a:noFill/>
          <a:ln/>
        </p:spPr>
        <p:txBody>
          <a:bodyPr wrap="square" lIns="0" tIns="0" rIns="0" bIns="0" rtlCol="0" anchor="t"/>
          <a:lstStyle/>
          <a:p>
            <a:pPr marL="0" indent="0" algn="ctr">
              <a:buNone/>
            </a:pPr>
            <a:r>
              <a:rPr lang="en-US" sz="1500" b="1" dirty="0">
                <a:solidFill>
                  <a:schemeClr val="tx1"/>
                </a:solidFill>
              </a:rPr>
              <a:t>AI Generator</a:t>
            </a:r>
            <a:endParaRPr lang="en-US" sz="1500" dirty="0"/>
          </a:p>
        </p:txBody>
      </p:sp>
      <p:sp>
        <p:nvSpPr>
          <p:cNvPr id="8" name="text-120"/>
          <p:cNvSpPr txBox="1"/>
          <p:nvPr/>
        </p:nvSpPr>
        <p:spPr>
          <a:xfrm>
            <a:off x="658368" y="3383280"/>
            <a:ext cx="1472184" cy="457200"/>
          </a:xfrm>
          <a:prstGeom prst="rect">
            <a:avLst/>
          </a:prstGeom>
          <a:noFill/>
          <a:ln/>
        </p:spPr>
        <p:txBody>
          <a:bodyPr wrap="square" lIns="0" tIns="0" rIns="0" bIns="0" rtlCol="0" anchor="t"/>
          <a:lstStyle/>
          <a:p>
            <a:pPr marL="0" indent="0" algn="ctr">
              <a:buNone/>
            </a:pPr>
            <a:r>
              <a:rPr lang="en-US" sz="1300" dirty="0">
                <a:solidFill>
                  <a:srgbClr val="6B6785"/>
                </a:solidFill>
              </a:rPr>
              <a:t>Prompt to draft form</a:t>
            </a:r>
            <a:endParaRPr lang="en-US" sz="1300" dirty="0"/>
          </a:p>
        </p:txBody>
      </p:sp>
      <p:sp>
        <p:nvSpPr>
          <p:cNvPr id="9" name="text-121"/>
          <p:cNvSpPr txBox="1"/>
          <p:nvPr/>
        </p:nvSpPr>
        <p:spPr>
          <a:xfrm>
            <a:off x="658368" y="3931920"/>
            <a:ext cx="1472184" cy="320040"/>
          </a:xfrm>
          <a:prstGeom prst="rect">
            <a:avLst/>
          </a:prstGeom>
          <a:noFill/>
          <a:ln/>
        </p:spPr>
        <p:txBody>
          <a:bodyPr wrap="square" lIns="0" tIns="0" rIns="0" bIns="0" rtlCol="0" anchor="t"/>
          <a:lstStyle/>
          <a:p>
            <a:pPr marL="0" indent="0" algn="ctr">
              <a:buNone/>
            </a:pPr>
            <a:r>
              <a:rPr lang="en-US" sz="1200" b="1" dirty="0">
                <a:solidFill>
                  <a:schemeClr val="accent1"/>
                </a:solidFill>
              </a:rPr>
              <a:t>Creation</a:t>
            </a:r>
            <a:endParaRPr lang="en-US" sz="1200" dirty="0"/>
          </a:p>
        </p:txBody>
      </p:sp>
      <p:sp>
        <p:nvSpPr>
          <p:cNvPr id="10" name="card-122"/>
          <p:cNvSpPr/>
          <p:nvPr/>
        </p:nvSpPr>
        <p:spPr>
          <a:xfrm>
            <a:off x="2423160" y="1691640"/>
            <a:ext cx="1691640" cy="2743200"/>
          </a:xfrm>
          <a:prstGeom prst="roundRect">
            <a:avLst>
              <a:gd name="adj" fmla="val 6486"/>
            </a:avLst>
          </a:prstGeom>
          <a:solidFill>
            <a:schemeClr val="bg2"/>
          </a:solidFill>
          <a:ln w="6350">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1" name="badge-123"/>
          <p:cNvSpPr/>
          <p:nvPr/>
        </p:nvSpPr>
        <p:spPr>
          <a:xfrm>
            <a:off x="2971800" y="192024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12" name="icon-124" descr="icon"/>
          <p:cNvPicPr>
            <a:picLocks noChangeAspect="1"/>
          </p:cNvPicPr>
          <p:nvPr/>
        </p:nvPicPr>
        <p:blipFill>
          <a:blip r:embed="rId4"/>
          <a:stretch>
            <a:fillRect/>
          </a:stretch>
        </p:blipFill>
        <p:spPr>
          <a:xfrm>
            <a:off x="3114446" y="2062886"/>
            <a:ext cx="309067" cy="309067"/>
          </a:xfrm>
          <a:prstGeom prst="rect">
            <a:avLst/>
          </a:prstGeom>
        </p:spPr>
      </p:pic>
      <p:sp>
        <p:nvSpPr>
          <p:cNvPr id="13" name="text-125"/>
          <p:cNvSpPr txBox="1"/>
          <p:nvPr/>
        </p:nvSpPr>
        <p:spPr>
          <a:xfrm>
            <a:off x="2532888" y="2697480"/>
            <a:ext cx="1472184" cy="685800"/>
          </a:xfrm>
          <a:prstGeom prst="rect">
            <a:avLst/>
          </a:prstGeom>
          <a:noFill/>
          <a:ln/>
        </p:spPr>
        <p:txBody>
          <a:bodyPr wrap="square" lIns="0" tIns="0" rIns="0" bIns="0" rtlCol="0" anchor="t"/>
          <a:lstStyle/>
          <a:p>
            <a:pPr marL="0" indent="0" algn="ctr">
              <a:buNone/>
            </a:pPr>
            <a:r>
              <a:rPr lang="en-US" sz="1500" b="1" dirty="0">
                <a:solidFill>
                  <a:schemeClr val="tx1"/>
                </a:solidFill>
              </a:rPr>
              <a:t>Quality Analyzer</a:t>
            </a:r>
            <a:endParaRPr lang="en-US" sz="1500" dirty="0"/>
          </a:p>
        </p:txBody>
      </p:sp>
      <p:sp>
        <p:nvSpPr>
          <p:cNvPr id="14" name="text-126"/>
          <p:cNvSpPr txBox="1"/>
          <p:nvPr/>
        </p:nvSpPr>
        <p:spPr>
          <a:xfrm>
            <a:off x="2532888" y="3383280"/>
            <a:ext cx="1472184" cy="457200"/>
          </a:xfrm>
          <a:prstGeom prst="rect">
            <a:avLst/>
          </a:prstGeom>
          <a:noFill/>
          <a:ln/>
        </p:spPr>
        <p:txBody>
          <a:bodyPr wrap="square" lIns="0" tIns="0" rIns="0" bIns="0" rtlCol="0" anchor="t"/>
          <a:lstStyle/>
          <a:p>
            <a:pPr marL="0" indent="0" algn="ctr">
              <a:buNone/>
            </a:pPr>
            <a:r>
              <a:rPr lang="en-US" sz="1300" dirty="0">
                <a:solidFill>
                  <a:srgbClr val="6B6785"/>
                </a:solidFill>
              </a:rPr>
              <a:t>Score + issues</a:t>
            </a:r>
            <a:endParaRPr lang="en-US" sz="1300" dirty="0"/>
          </a:p>
        </p:txBody>
      </p:sp>
      <p:sp>
        <p:nvSpPr>
          <p:cNvPr id="15" name="text-127"/>
          <p:cNvSpPr txBox="1"/>
          <p:nvPr/>
        </p:nvSpPr>
        <p:spPr>
          <a:xfrm>
            <a:off x="2532888" y="3931920"/>
            <a:ext cx="1472184" cy="320040"/>
          </a:xfrm>
          <a:prstGeom prst="rect">
            <a:avLst/>
          </a:prstGeom>
          <a:noFill/>
          <a:ln/>
        </p:spPr>
        <p:txBody>
          <a:bodyPr wrap="square" lIns="0" tIns="0" rIns="0" bIns="0" rtlCol="0" anchor="t"/>
          <a:lstStyle/>
          <a:p>
            <a:pPr marL="0" indent="0" algn="ctr">
              <a:buNone/>
            </a:pPr>
            <a:r>
              <a:rPr lang="en-US" sz="1200" b="1" dirty="0">
                <a:solidFill>
                  <a:schemeClr val="accent1"/>
                </a:solidFill>
              </a:rPr>
              <a:t>Creation</a:t>
            </a:r>
            <a:endParaRPr lang="en-US" sz="1200" dirty="0"/>
          </a:p>
        </p:txBody>
      </p:sp>
      <p:sp>
        <p:nvSpPr>
          <p:cNvPr id="16" name="card-128"/>
          <p:cNvSpPr/>
          <p:nvPr/>
        </p:nvSpPr>
        <p:spPr>
          <a:xfrm>
            <a:off x="4297680" y="1691640"/>
            <a:ext cx="1691640" cy="2743200"/>
          </a:xfrm>
          <a:prstGeom prst="roundRect">
            <a:avLst>
              <a:gd name="adj" fmla="val 6486"/>
            </a:avLst>
          </a:prstGeom>
          <a:solidFill>
            <a:schemeClr val="bg2"/>
          </a:solidFill>
          <a:ln w="6350">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17" name="badge-129"/>
          <p:cNvSpPr/>
          <p:nvPr/>
        </p:nvSpPr>
        <p:spPr>
          <a:xfrm>
            <a:off x="4846320" y="192024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18" name="icon-130" descr="icon"/>
          <p:cNvPicPr>
            <a:picLocks noChangeAspect="1"/>
          </p:cNvPicPr>
          <p:nvPr/>
        </p:nvPicPr>
        <p:blipFill>
          <a:blip r:embed="rId5"/>
          <a:stretch>
            <a:fillRect/>
          </a:stretch>
        </p:blipFill>
        <p:spPr>
          <a:xfrm>
            <a:off x="4988966" y="2062886"/>
            <a:ext cx="309067" cy="309067"/>
          </a:xfrm>
          <a:prstGeom prst="rect">
            <a:avLst/>
          </a:prstGeom>
        </p:spPr>
      </p:pic>
      <p:sp>
        <p:nvSpPr>
          <p:cNvPr id="19" name="text-131"/>
          <p:cNvSpPr txBox="1"/>
          <p:nvPr/>
        </p:nvSpPr>
        <p:spPr>
          <a:xfrm>
            <a:off x="4407408" y="2697480"/>
            <a:ext cx="1472184" cy="685800"/>
          </a:xfrm>
          <a:prstGeom prst="rect">
            <a:avLst/>
          </a:prstGeom>
          <a:noFill/>
          <a:ln/>
        </p:spPr>
        <p:txBody>
          <a:bodyPr wrap="square" lIns="0" tIns="0" rIns="0" bIns="0" rtlCol="0" anchor="t"/>
          <a:lstStyle/>
          <a:p>
            <a:pPr marL="0" indent="0" algn="ctr">
              <a:buNone/>
            </a:pPr>
            <a:r>
              <a:rPr lang="en-US" sz="1500" b="1" dirty="0">
                <a:solidFill>
                  <a:schemeClr val="tx1"/>
                </a:solidFill>
              </a:rPr>
              <a:t>Adaptive Engine</a:t>
            </a:r>
            <a:endParaRPr lang="en-US" sz="1500" dirty="0"/>
          </a:p>
        </p:txBody>
      </p:sp>
      <p:sp>
        <p:nvSpPr>
          <p:cNvPr id="20" name="text-132"/>
          <p:cNvSpPr txBox="1"/>
          <p:nvPr/>
        </p:nvSpPr>
        <p:spPr>
          <a:xfrm>
            <a:off x="4407408" y="3383280"/>
            <a:ext cx="1472184" cy="457200"/>
          </a:xfrm>
          <a:prstGeom prst="rect">
            <a:avLst/>
          </a:prstGeom>
          <a:noFill/>
          <a:ln/>
        </p:spPr>
        <p:txBody>
          <a:bodyPr wrap="square" lIns="0" tIns="0" rIns="0" bIns="0" rtlCol="0" anchor="t"/>
          <a:lstStyle/>
          <a:p>
            <a:pPr marL="0" indent="0" algn="ctr">
              <a:buNone/>
            </a:pPr>
            <a:r>
              <a:rPr lang="en-US" sz="1300" dirty="0">
                <a:solidFill>
                  <a:srgbClr val="6B6785"/>
                </a:solidFill>
              </a:rPr>
              <a:t>Next best question</a:t>
            </a:r>
            <a:endParaRPr lang="en-US" sz="1300" dirty="0"/>
          </a:p>
        </p:txBody>
      </p:sp>
      <p:sp>
        <p:nvSpPr>
          <p:cNvPr id="21" name="text-133"/>
          <p:cNvSpPr txBox="1"/>
          <p:nvPr/>
        </p:nvSpPr>
        <p:spPr>
          <a:xfrm>
            <a:off x="4407408" y="3931920"/>
            <a:ext cx="1472184" cy="320040"/>
          </a:xfrm>
          <a:prstGeom prst="rect">
            <a:avLst/>
          </a:prstGeom>
          <a:noFill/>
          <a:ln/>
        </p:spPr>
        <p:txBody>
          <a:bodyPr wrap="square" lIns="0" tIns="0" rIns="0" bIns="0" rtlCol="0" anchor="t"/>
          <a:lstStyle/>
          <a:p>
            <a:pPr marL="0" indent="0" algn="ctr">
              <a:buNone/>
            </a:pPr>
            <a:r>
              <a:rPr lang="en-US" sz="1200" b="1" dirty="0">
                <a:solidFill>
                  <a:schemeClr val="accent1"/>
                </a:solidFill>
              </a:rPr>
              <a:t>Answering</a:t>
            </a:r>
            <a:endParaRPr lang="en-US" sz="1200" dirty="0"/>
          </a:p>
        </p:txBody>
      </p:sp>
      <p:sp>
        <p:nvSpPr>
          <p:cNvPr id="22" name="card-134"/>
          <p:cNvSpPr/>
          <p:nvPr/>
        </p:nvSpPr>
        <p:spPr>
          <a:xfrm>
            <a:off x="6172200" y="1691640"/>
            <a:ext cx="1691640" cy="2743200"/>
          </a:xfrm>
          <a:prstGeom prst="roundRect">
            <a:avLst>
              <a:gd name="adj" fmla="val 6486"/>
            </a:avLst>
          </a:prstGeom>
          <a:solidFill>
            <a:schemeClr val="bg2"/>
          </a:solidFill>
          <a:ln w="6350">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3" name="badge-135"/>
          <p:cNvSpPr/>
          <p:nvPr/>
        </p:nvSpPr>
        <p:spPr>
          <a:xfrm>
            <a:off x="6720840" y="192024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24" name="icon-136" descr="icon"/>
          <p:cNvPicPr>
            <a:picLocks noChangeAspect="1"/>
          </p:cNvPicPr>
          <p:nvPr/>
        </p:nvPicPr>
        <p:blipFill>
          <a:blip r:embed="rId6"/>
          <a:stretch>
            <a:fillRect/>
          </a:stretch>
        </p:blipFill>
        <p:spPr>
          <a:xfrm>
            <a:off x="6863486" y="2062886"/>
            <a:ext cx="309067" cy="309067"/>
          </a:xfrm>
          <a:prstGeom prst="rect">
            <a:avLst/>
          </a:prstGeom>
        </p:spPr>
      </p:pic>
      <p:sp>
        <p:nvSpPr>
          <p:cNvPr id="25" name="text-137"/>
          <p:cNvSpPr txBox="1"/>
          <p:nvPr/>
        </p:nvSpPr>
        <p:spPr>
          <a:xfrm>
            <a:off x="6281928" y="2697480"/>
            <a:ext cx="1472184" cy="685800"/>
          </a:xfrm>
          <a:prstGeom prst="rect">
            <a:avLst/>
          </a:prstGeom>
          <a:noFill/>
          <a:ln/>
        </p:spPr>
        <p:txBody>
          <a:bodyPr wrap="square" lIns="0" tIns="0" rIns="0" bIns="0" rtlCol="0" anchor="t"/>
          <a:lstStyle/>
          <a:p>
            <a:pPr marL="0" indent="0" algn="ctr">
              <a:buNone/>
            </a:pPr>
            <a:r>
              <a:rPr lang="en-US" sz="1500" b="1" dirty="0">
                <a:solidFill>
                  <a:schemeClr val="tx1"/>
                </a:solidFill>
              </a:rPr>
              <a:t>Cold-start Simulator</a:t>
            </a:r>
            <a:endParaRPr lang="en-US" sz="1500" dirty="0"/>
          </a:p>
        </p:txBody>
      </p:sp>
      <p:sp>
        <p:nvSpPr>
          <p:cNvPr id="26" name="text-138"/>
          <p:cNvSpPr txBox="1"/>
          <p:nvPr/>
        </p:nvSpPr>
        <p:spPr>
          <a:xfrm>
            <a:off x="6281928" y="3383280"/>
            <a:ext cx="1472184" cy="457200"/>
          </a:xfrm>
          <a:prstGeom prst="rect">
            <a:avLst/>
          </a:prstGeom>
          <a:noFill/>
          <a:ln/>
        </p:spPr>
        <p:txBody>
          <a:bodyPr wrap="square" lIns="0" tIns="0" rIns="0" bIns="0" rtlCol="0" anchor="t"/>
          <a:lstStyle/>
          <a:p>
            <a:pPr marL="0" indent="0" algn="ctr">
              <a:buNone/>
            </a:pPr>
            <a:r>
              <a:rPr lang="en-US" sz="1300" dirty="0">
                <a:solidFill>
                  <a:srgbClr val="6B6785"/>
                </a:solidFill>
              </a:rPr>
              <a:t>Synthetic warm start</a:t>
            </a:r>
            <a:endParaRPr lang="en-US" sz="1300" dirty="0"/>
          </a:p>
        </p:txBody>
      </p:sp>
      <p:sp>
        <p:nvSpPr>
          <p:cNvPr id="27" name="text-139"/>
          <p:cNvSpPr txBox="1"/>
          <p:nvPr/>
        </p:nvSpPr>
        <p:spPr>
          <a:xfrm>
            <a:off x="6281928" y="3931920"/>
            <a:ext cx="1472184" cy="320040"/>
          </a:xfrm>
          <a:prstGeom prst="rect">
            <a:avLst/>
          </a:prstGeom>
          <a:noFill/>
          <a:ln/>
        </p:spPr>
        <p:txBody>
          <a:bodyPr wrap="square" lIns="0" tIns="0" rIns="0" bIns="0" rtlCol="0" anchor="t"/>
          <a:lstStyle/>
          <a:p>
            <a:pPr marL="0" indent="0" algn="ctr">
              <a:buNone/>
            </a:pPr>
            <a:r>
              <a:rPr lang="en-US" sz="1200" b="1" dirty="0">
                <a:solidFill>
                  <a:schemeClr val="accent1"/>
                </a:solidFill>
              </a:rPr>
              <a:t>Answering</a:t>
            </a:r>
            <a:endParaRPr lang="en-US" sz="1200" dirty="0"/>
          </a:p>
        </p:txBody>
      </p:sp>
      <p:sp>
        <p:nvSpPr>
          <p:cNvPr id="28" name="card-140"/>
          <p:cNvSpPr/>
          <p:nvPr/>
        </p:nvSpPr>
        <p:spPr>
          <a:xfrm>
            <a:off x="8046720" y="1691640"/>
            <a:ext cx="1691640" cy="2743200"/>
          </a:xfrm>
          <a:prstGeom prst="roundRect">
            <a:avLst>
              <a:gd name="adj" fmla="val 6486"/>
            </a:avLst>
          </a:prstGeom>
          <a:solidFill>
            <a:schemeClr val="bg2"/>
          </a:solidFill>
          <a:ln w="6350">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29" name="badge-141"/>
          <p:cNvSpPr/>
          <p:nvPr/>
        </p:nvSpPr>
        <p:spPr>
          <a:xfrm>
            <a:off x="8595360" y="192024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30" name="icon-142" descr="icon"/>
          <p:cNvPicPr>
            <a:picLocks noChangeAspect="1"/>
          </p:cNvPicPr>
          <p:nvPr/>
        </p:nvPicPr>
        <p:blipFill>
          <a:blip r:embed="rId7"/>
          <a:stretch>
            <a:fillRect/>
          </a:stretch>
        </p:blipFill>
        <p:spPr>
          <a:xfrm>
            <a:off x="8738006" y="2062886"/>
            <a:ext cx="309067" cy="309067"/>
          </a:xfrm>
          <a:prstGeom prst="rect">
            <a:avLst/>
          </a:prstGeom>
        </p:spPr>
      </p:pic>
      <p:sp>
        <p:nvSpPr>
          <p:cNvPr id="31" name="text-143"/>
          <p:cNvSpPr txBox="1"/>
          <p:nvPr/>
        </p:nvSpPr>
        <p:spPr>
          <a:xfrm>
            <a:off x="8156448" y="2697480"/>
            <a:ext cx="1472184" cy="685800"/>
          </a:xfrm>
          <a:prstGeom prst="rect">
            <a:avLst/>
          </a:prstGeom>
          <a:noFill/>
          <a:ln/>
        </p:spPr>
        <p:txBody>
          <a:bodyPr wrap="square" lIns="0" tIns="0" rIns="0" bIns="0" rtlCol="0" anchor="t"/>
          <a:lstStyle/>
          <a:p>
            <a:pPr marL="0" indent="0" algn="ctr">
              <a:buNone/>
            </a:pPr>
            <a:r>
              <a:rPr lang="en-US" sz="1500" b="1" dirty="0">
                <a:solidFill>
                  <a:schemeClr val="tx1"/>
                </a:solidFill>
              </a:rPr>
              <a:t>PII Redactor</a:t>
            </a:r>
            <a:endParaRPr lang="en-US" sz="1500" dirty="0"/>
          </a:p>
        </p:txBody>
      </p:sp>
      <p:sp>
        <p:nvSpPr>
          <p:cNvPr id="32" name="text-144"/>
          <p:cNvSpPr txBox="1"/>
          <p:nvPr/>
        </p:nvSpPr>
        <p:spPr>
          <a:xfrm>
            <a:off x="8156448" y="3383280"/>
            <a:ext cx="1472184" cy="457200"/>
          </a:xfrm>
          <a:prstGeom prst="rect">
            <a:avLst/>
          </a:prstGeom>
          <a:noFill/>
          <a:ln/>
        </p:spPr>
        <p:txBody>
          <a:bodyPr wrap="square" lIns="0" tIns="0" rIns="0" bIns="0" rtlCol="0" anchor="t"/>
          <a:lstStyle/>
          <a:p>
            <a:pPr marL="0" indent="0" algn="ctr">
              <a:buNone/>
            </a:pPr>
            <a:r>
              <a:rPr lang="en-US" sz="1300" dirty="0">
                <a:solidFill>
                  <a:srgbClr val="6B6785"/>
                </a:solidFill>
              </a:rPr>
              <a:t>Mask before AI</a:t>
            </a:r>
            <a:endParaRPr lang="en-US" sz="1300" dirty="0"/>
          </a:p>
        </p:txBody>
      </p:sp>
      <p:sp>
        <p:nvSpPr>
          <p:cNvPr id="33" name="text-145"/>
          <p:cNvSpPr txBox="1"/>
          <p:nvPr/>
        </p:nvSpPr>
        <p:spPr>
          <a:xfrm>
            <a:off x="8156448" y="3931920"/>
            <a:ext cx="1472184" cy="320040"/>
          </a:xfrm>
          <a:prstGeom prst="rect">
            <a:avLst/>
          </a:prstGeom>
          <a:noFill/>
          <a:ln/>
        </p:spPr>
        <p:txBody>
          <a:bodyPr wrap="square" lIns="0" tIns="0" rIns="0" bIns="0" rtlCol="0" anchor="t"/>
          <a:lstStyle/>
          <a:p>
            <a:pPr marL="0" indent="0" algn="ctr">
              <a:buNone/>
            </a:pPr>
            <a:r>
              <a:rPr lang="en-US" sz="1200" b="1" dirty="0">
                <a:solidFill>
                  <a:schemeClr val="accent1"/>
                </a:solidFill>
              </a:rPr>
              <a:t>Analysis</a:t>
            </a:r>
            <a:endParaRPr lang="en-US" sz="1200" dirty="0"/>
          </a:p>
        </p:txBody>
      </p:sp>
      <p:sp>
        <p:nvSpPr>
          <p:cNvPr id="34" name="card-146"/>
          <p:cNvSpPr/>
          <p:nvPr/>
        </p:nvSpPr>
        <p:spPr>
          <a:xfrm>
            <a:off x="9921240" y="1691640"/>
            <a:ext cx="1691640" cy="2743200"/>
          </a:xfrm>
          <a:prstGeom prst="roundRect">
            <a:avLst>
              <a:gd name="adj" fmla="val 6486"/>
            </a:avLst>
          </a:prstGeom>
          <a:solidFill>
            <a:schemeClr val="bg2"/>
          </a:solidFill>
          <a:ln w="6350">
            <a:solidFill>
              <a:schemeClr val="bg2"/>
            </a:solidFill>
            <a:prstDash val="solid"/>
          </a:ln>
          <a:effectLst>
            <a:outerShdw blurRad="76200" dist="25400" dir="5400000" algn="bl" rotWithShape="0">
              <a:srgbClr val="000000">
                <a:alpha val="12000"/>
              </a:srgbClr>
            </a:outerShdw>
          </a:effectLst>
        </p:spPr>
        <p:txBody>
          <a:bodyPr/>
          <a:lstStyle/>
          <a:p>
            <a:endParaRPr lang="en-US"/>
          </a:p>
        </p:txBody>
      </p:sp>
      <p:sp>
        <p:nvSpPr>
          <p:cNvPr id="35" name="badge-147"/>
          <p:cNvSpPr/>
          <p:nvPr/>
        </p:nvSpPr>
        <p:spPr>
          <a:xfrm>
            <a:off x="10469880" y="192024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36" name="icon-148" descr="icon"/>
          <p:cNvPicPr>
            <a:picLocks noChangeAspect="1"/>
          </p:cNvPicPr>
          <p:nvPr/>
        </p:nvPicPr>
        <p:blipFill>
          <a:blip r:embed="rId8"/>
          <a:stretch>
            <a:fillRect/>
          </a:stretch>
        </p:blipFill>
        <p:spPr>
          <a:xfrm>
            <a:off x="10612526" y="2062886"/>
            <a:ext cx="309067" cy="309067"/>
          </a:xfrm>
          <a:prstGeom prst="rect">
            <a:avLst/>
          </a:prstGeom>
        </p:spPr>
      </p:pic>
      <p:sp>
        <p:nvSpPr>
          <p:cNvPr id="37" name="text-149"/>
          <p:cNvSpPr txBox="1"/>
          <p:nvPr/>
        </p:nvSpPr>
        <p:spPr>
          <a:xfrm>
            <a:off x="10030968" y="2697480"/>
            <a:ext cx="1472184" cy="685800"/>
          </a:xfrm>
          <a:prstGeom prst="rect">
            <a:avLst/>
          </a:prstGeom>
          <a:noFill/>
          <a:ln/>
        </p:spPr>
        <p:txBody>
          <a:bodyPr wrap="square" lIns="0" tIns="0" rIns="0" bIns="0" rtlCol="0" anchor="t"/>
          <a:lstStyle/>
          <a:p>
            <a:pPr marL="0" indent="0" algn="ctr">
              <a:buNone/>
            </a:pPr>
            <a:r>
              <a:rPr lang="en-US" sz="1500" b="1" dirty="0">
                <a:solidFill>
                  <a:schemeClr val="tx1"/>
                </a:solidFill>
              </a:rPr>
              <a:t>Response Intelligence</a:t>
            </a:r>
            <a:endParaRPr lang="en-US" sz="1500" dirty="0"/>
          </a:p>
        </p:txBody>
      </p:sp>
      <p:sp>
        <p:nvSpPr>
          <p:cNvPr id="38" name="text-150"/>
          <p:cNvSpPr txBox="1"/>
          <p:nvPr/>
        </p:nvSpPr>
        <p:spPr>
          <a:xfrm>
            <a:off x="10030968" y="3383280"/>
            <a:ext cx="1472184" cy="457200"/>
          </a:xfrm>
          <a:prstGeom prst="rect">
            <a:avLst/>
          </a:prstGeom>
          <a:noFill/>
          <a:ln/>
        </p:spPr>
        <p:txBody>
          <a:bodyPr wrap="square" lIns="0" tIns="0" rIns="0" bIns="0" rtlCol="0" anchor="t"/>
          <a:lstStyle/>
          <a:p>
            <a:pPr marL="0" indent="0" algn="ctr">
              <a:buNone/>
            </a:pPr>
            <a:r>
              <a:rPr lang="en-US" sz="1300" dirty="0">
                <a:solidFill>
                  <a:srgbClr val="6B6785"/>
                </a:solidFill>
              </a:rPr>
              <a:t>Topics, sentiment</a:t>
            </a:r>
            <a:endParaRPr lang="en-US" sz="1300" dirty="0"/>
          </a:p>
        </p:txBody>
      </p:sp>
      <p:sp>
        <p:nvSpPr>
          <p:cNvPr id="39" name="text-151"/>
          <p:cNvSpPr txBox="1"/>
          <p:nvPr/>
        </p:nvSpPr>
        <p:spPr>
          <a:xfrm>
            <a:off x="10030968" y="3931920"/>
            <a:ext cx="1472184" cy="320040"/>
          </a:xfrm>
          <a:prstGeom prst="rect">
            <a:avLst/>
          </a:prstGeom>
          <a:noFill/>
          <a:ln/>
        </p:spPr>
        <p:txBody>
          <a:bodyPr wrap="square" lIns="0" tIns="0" rIns="0" bIns="0" rtlCol="0" anchor="t"/>
          <a:lstStyle/>
          <a:p>
            <a:pPr marL="0" indent="0" algn="ctr">
              <a:buNone/>
            </a:pPr>
            <a:r>
              <a:rPr lang="en-US" sz="1200" b="1" dirty="0">
                <a:solidFill>
                  <a:schemeClr val="accent1"/>
                </a:solidFill>
              </a:rPr>
              <a:t>Analysis</a:t>
            </a:r>
            <a:endParaRPr lang="en-US" sz="1200" dirty="0"/>
          </a:p>
        </p:txBody>
      </p:sp>
      <p:sp>
        <p:nvSpPr>
          <p:cNvPr id="40" name="card-152"/>
          <p:cNvSpPr/>
          <p:nvPr/>
        </p:nvSpPr>
        <p:spPr>
          <a:xfrm>
            <a:off x="548640" y="4709160"/>
            <a:ext cx="11109960" cy="1371600"/>
          </a:xfrm>
          <a:prstGeom prst="roundRect">
            <a:avLst>
              <a:gd name="adj" fmla="val 8000"/>
            </a:avLst>
          </a:prstGeom>
          <a:solidFill>
            <a:srgbClr val="F8F9FA"/>
          </a:solidFill>
          <a:ln w="6350">
            <a:solidFill>
              <a:srgbClr val="F8F9FA"/>
            </a:solidFill>
            <a:prstDash val="solid"/>
          </a:ln>
        </p:spPr>
        <p:txBody>
          <a:bodyPr/>
          <a:lstStyle/>
          <a:p>
            <a:endParaRPr lang="en-US"/>
          </a:p>
        </p:txBody>
      </p:sp>
      <p:sp>
        <p:nvSpPr>
          <p:cNvPr id="41" name="text-153"/>
          <p:cNvSpPr txBox="1"/>
          <p:nvPr/>
        </p:nvSpPr>
        <p:spPr>
          <a:xfrm>
            <a:off x="822960" y="4846320"/>
            <a:ext cx="3657600" cy="365760"/>
          </a:xfrm>
          <a:prstGeom prst="rect">
            <a:avLst/>
          </a:prstGeom>
          <a:noFill/>
          <a:ln/>
        </p:spPr>
        <p:txBody>
          <a:bodyPr wrap="square" lIns="0" tIns="0" rIns="0" bIns="0" rtlCol="0" anchor="t"/>
          <a:lstStyle/>
          <a:p>
            <a:pPr marL="0" indent="0">
              <a:buNone/>
            </a:pPr>
            <a:r>
              <a:rPr lang="en-US" sz="1500" b="1" dirty="0">
                <a:solidFill>
                  <a:schemeClr val="tx1"/>
                </a:solidFill>
              </a:rPr>
              <a:t>Foundation (FormForge 1.0)</a:t>
            </a:r>
            <a:endParaRPr lang="en-US" sz="1500" dirty="0"/>
          </a:p>
        </p:txBody>
      </p:sp>
      <p:sp>
        <p:nvSpPr>
          <p:cNvPr id="42" name="text-154"/>
          <p:cNvSpPr txBox="1"/>
          <p:nvPr/>
        </p:nvSpPr>
        <p:spPr>
          <a:xfrm>
            <a:off x="822960" y="5257800"/>
            <a:ext cx="10607040" cy="640080"/>
          </a:xfrm>
          <a:prstGeom prst="rect">
            <a:avLst/>
          </a:prstGeom>
          <a:noFill/>
          <a:ln/>
        </p:spPr>
        <p:txBody>
          <a:bodyPr wrap="square" lIns="0" tIns="0" rIns="0" bIns="0" rtlCol="0" anchor="t"/>
          <a:lstStyle/>
          <a:p>
            <a:pPr marL="0" indent="0">
              <a:buNone/>
            </a:pPr>
            <a:r>
              <a:rPr lang="en-US" sz="1500" dirty="0">
                <a:solidFill>
                  <a:srgbClr val="495057"/>
                </a:solidFill>
              </a:rPr>
              <a:t>Workspaces + RBAC  |  JWT auth  |  drag-and-drop builder  |  public forms  |  webhooks with HMAC + retries  |  SSE live counter  |  analytics  |  CSV export</a:t>
            </a:r>
            <a:endParaRPr lang="en-US" sz="1500" dirty="0"/>
          </a:p>
        </p:txBody>
      </p:sp>
      <p:sp>
        <p:nvSpPr>
          <p:cNvPr id="43"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Tools and Technologies</a:t>
            </a:r>
            <a:endParaRPr lang="en-US" sz="3000" dirty="0"/>
          </a:p>
        </p:txBody>
      </p:sp>
      <p:sp>
        <p:nvSpPr>
          <p:cNvPr id="3" name="card-155"/>
          <p:cNvSpPr/>
          <p:nvPr/>
        </p:nvSpPr>
        <p:spPr>
          <a:xfrm>
            <a:off x="548640" y="1280160"/>
            <a:ext cx="5440680" cy="1463040"/>
          </a:xfrm>
          <a:prstGeom prst="roundRect">
            <a:avLst>
              <a:gd name="adj" fmla="val 7500"/>
            </a:avLst>
          </a:prstGeom>
          <a:solidFill>
            <a:schemeClr val="bg2"/>
          </a:solidFill>
          <a:ln w="6350">
            <a:solidFill>
              <a:schemeClr val="bg2"/>
            </a:solidFill>
            <a:prstDash val="solid"/>
          </a:ln>
        </p:spPr>
        <p:txBody>
          <a:bodyPr/>
          <a:lstStyle/>
          <a:p>
            <a:endParaRPr lang="en-US"/>
          </a:p>
        </p:txBody>
      </p:sp>
      <p:sp>
        <p:nvSpPr>
          <p:cNvPr id="4" name="text-156"/>
          <p:cNvSpPr txBox="1"/>
          <p:nvPr/>
        </p:nvSpPr>
        <p:spPr>
          <a:xfrm>
            <a:off x="777240" y="1444752"/>
            <a:ext cx="1463040" cy="365760"/>
          </a:xfrm>
          <a:prstGeom prst="rect">
            <a:avLst/>
          </a:prstGeom>
          <a:noFill/>
          <a:ln/>
        </p:spPr>
        <p:txBody>
          <a:bodyPr wrap="square" lIns="0" tIns="0" rIns="0" bIns="0" rtlCol="0" anchor="t"/>
          <a:lstStyle/>
          <a:p>
            <a:pPr marL="0" indent="0">
              <a:buNone/>
            </a:pPr>
            <a:r>
              <a:rPr lang="en-US" sz="1700" b="1" dirty="0">
                <a:solidFill>
                  <a:schemeClr val="accent1"/>
                </a:solidFill>
              </a:rPr>
              <a:t>Frontend</a:t>
            </a:r>
            <a:endParaRPr lang="en-US" sz="1700" dirty="0"/>
          </a:p>
        </p:txBody>
      </p:sp>
      <p:sp>
        <p:nvSpPr>
          <p:cNvPr id="5" name="text-157"/>
          <p:cNvSpPr txBox="1"/>
          <p:nvPr/>
        </p:nvSpPr>
        <p:spPr>
          <a:xfrm>
            <a:off x="777240" y="1874520"/>
            <a:ext cx="1600200" cy="731520"/>
          </a:xfrm>
          <a:prstGeom prst="rect">
            <a:avLst/>
          </a:prstGeom>
          <a:noFill/>
          <a:ln/>
        </p:spPr>
        <p:txBody>
          <a:bodyPr wrap="square" lIns="0" tIns="0" rIns="0" bIns="0" rtlCol="0" anchor="t"/>
          <a:lstStyle/>
          <a:p>
            <a:pPr marL="0" indent="0">
              <a:buNone/>
            </a:pPr>
            <a:r>
              <a:rPr lang="en-US" sz="1200" dirty="0">
                <a:solidFill>
                  <a:srgbClr val="6B6785"/>
                </a:solidFill>
              </a:rPr>
              <a:t>dnd-kit, Zustand, TanStack Query, Recharts</a:t>
            </a:r>
            <a:endParaRPr lang="en-US" sz="1200" dirty="0"/>
          </a:p>
        </p:txBody>
      </p:sp>
      <p:pic>
        <p:nvPicPr>
          <p:cNvPr id="6" name="tech-158" descr="Next.js 14"/>
          <p:cNvPicPr>
            <a:picLocks noChangeAspect="1"/>
          </p:cNvPicPr>
          <p:nvPr/>
        </p:nvPicPr>
        <p:blipFill>
          <a:blip r:embed="rId3"/>
          <a:stretch>
            <a:fillRect/>
          </a:stretch>
        </p:blipFill>
        <p:spPr>
          <a:xfrm>
            <a:off x="2788920" y="1463040"/>
            <a:ext cx="548640" cy="548640"/>
          </a:xfrm>
          <a:prstGeom prst="rect">
            <a:avLst/>
          </a:prstGeom>
        </p:spPr>
      </p:pic>
      <p:sp>
        <p:nvSpPr>
          <p:cNvPr id="7" name="text-159"/>
          <p:cNvSpPr txBox="1"/>
          <p:nvPr/>
        </p:nvSpPr>
        <p:spPr>
          <a:xfrm>
            <a:off x="2468880" y="212140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Next.js 14</a:t>
            </a:r>
            <a:endParaRPr lang="en-US" sz="1200" dirty="0"/>
          </a:p>
        </p:txBody>
      </p:sp>
      <p:pic>
        <p:nvPicPr>
          <p:cNvPr id="8" name="tech-160" descr="React 18"/>
          <p:cNvPicPr>
            <a:picLocks noChangeAspect="1"/>
          </p:cNvPicPr>
          <p:nvPr/>
        </p:nvPicPr>
        <p:blipFill>
          <a:blip r:embed="rId4"/>
          <a:stretch>
            <a:fillRect/>
          </a:stretch>
        </p:blipFill>
        <p:spPr>
          <a:xfrm>
            <a:off x="3950208" y="1463040"/>
            <a:ext cx="548640" cy="548640"/>
          </a:xfrm>
          <a:prstGeom prst="rect">
            <a:avLst/>
          </a:prstGeom>
        </p:spPr>
      </p:pic>
      <p:sp>
        <p:nvSpPr>
          <p:cNvPr id="9" name="text-161"/>
          <p:cNvSpPr txBox="1"/>
          <p:nvPr/>
        </p:nvSpPr>
        <p:spPr>
          <a:xfrm>
            <a:off x="3630168" y="212140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React 18</a:t>
            </a:r>
            <a:endParaRPr lang="en-US" sz="1200" dirty="0"/>
          </a:p>
        </p:txBody>
      </p:sp>
      <p:pic>
        <p:nvPicPr>
          <p:cNvPr id="10" name="tech-162" descr="Tailwind"/>
          <p:cNvPicPr>
            <a:picLocks noChangeAspect="1"/>
          </p:cNvPicPr>
          <p:nvPr/>
        </p:nvPicPr>
        <p:blipFill>
          <a:blip r:embed="rId5"/>
          <a:stretch>
            <a:fillRect/>
          </a:stretch>
        </p:blipFill>
        <p:spPr>
          <a:xfrm>
            <a:off x="5111496" y="1463040"/>
            <a:ext cx="548640" cy="548640"/>
          </a:xfrm>
          <a:prstGeom prst="rect">
            <a:avLst/>
          </a:prstGeom>
        </p:spPr>
      </p:pic>
      <p:sp>
        <p:nvSpPr>
          <p:cNvPr id="11" name="text-163"/>
          <p:cNvSpPr txBox="1"/>
          <p:nvPr/>
        </p:nvSpPr>
        <p:spPr>
          <a:xfrm>
            <a:off x="4791456" y="212140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Tailwind</a:t>
            </a:r>
            <a:endParaRPr lang="en-US" sz="1200" dirty="0"/>
          </a:p>
        </p:txBody>
      </p:sp>
      <p:sp>
        <p:nvSpPr>
          <p:cNvPr id="12" name="card-164"/>
          <p:cNvSpPr/>
          <p:nvPr/>
        </p:nvSpPr>
        <p:spPr>
          <a:xfrm>
            <a:off x="6172200" y="1280160"/>
            <a:ext cx="5440680" cy="1463040"/>
          </a:xfrm>
          <a:prstGeom prst="roundRect">
            <a:avLst>
              <a:gd name="adj" fmla="val 7500"/>
            </a:avLst>
          </a:prstGeom>
          <a:solidFill>
            <a:srgbClr val="F8F9FA"/>
          </a:solidFill>
          <a:ln w="6350">
            <a:solidFill>
              <a:srgbClr val="F8F9FA"/>
            </a:solidFill>
            <a:prstDash val="solid"/>
          </a:ln>
        </p:spPr>
        <p:txBody>
          <a:bodyPr/>
          <a:lstStyle/>
          <a:p>
            <a:endParaRPr lang="en-US"/>
          </a:p>
        </p:txBody>
      </p:sp>
      <p:sp>
        <p:nvSpPr>
          <p:cNvPr id="13" name="text-165"/>
          <p:cNvSpPr txBox="1"/>
          <p:nvPr/>
        </p:nvSpPr>
        <p:spPr>
          <a:xfrm>
            <a:off x="6400800" y="1444752"/>
            <a:ext cx="1463040" cy="365760"/>
          </a:xfrm>
          <a:prstGeom prst="rect">
            <a:avLst/>
          </a:prstGeom>
          <a:noFill/>
          <a:ln/>
        </p:spPr>
        <p:txBody>
          <a:bodyPr wrap="square" lIns="0" tIns="0" rIns="0" bIns="0" rtlCol="0" anchor="t"/>
          <a:lstStyle/>
          <a:p>
            <a:pPr marL="0" indent="0">
              <a:buNone/>
            </a:pPr>
            <a:r>
              <a:rPr lang="en-US" sz="1700" b="1" dirty="0">
                <a:solidFill>
                  <a:schemeClr val="accent1"/>
                </a:solidFill>
              </a:rPr>
              <a:t>Backend</a:t>
            </a:r>
            <a:endParaRPr lang="en-US" sz="1700" dirty="0"/>
          </a:p>
        </p:txBody>
      </p:sp>
      <p:sp>
        <p:nvSpPr>
          <p:cNvPr id="14" name="text-166"/>
          <p:cNvSpPr txBox="1"/>
          <p:nvPr/>
        </p:nvSpPr>
        <p:spPr>
          <a:xfrm>
            <a:off x="6400800" y="1874520"/>
            <a:ext cx="1600200" cy="731520"/>
          </a:xfrm>
          <a:prstGeom prst="rect">
            <a:avLst/>
          </a:prstGeom>
          <a:noFill/>
          <a:ln/>
        </p:spPr>
        <p:txBody>
          <a:bodyPr wrap="square" lIns="0" tIns="0" rIns="0" bIns="0" rtlCol="0" anchor="t"/>
          <a:lstStyle/>
          <a:p>
            <a:pPr marL="0" indent="0">
              <a:buNone/>
            </a:pPr>
            <a:r>
              <a:rPr lang="en-US" sz="1200" dirty="0">
                <a:solidFill>
                  <a:srgbClr val="6B6785"/>
                </a:solidFill>
              </a:rPr>
              <a:t>zod validation, JWT, bcrypt, node-cron</a:t>
            </a:r>
            <a:endParaRPr lang="en-US" sz="1200" dirty="0"/>
          </a:p>
        </p:txBody>
      </p:sp>
      <p:pic>
        <p:nvPicPr>
          <p:cNvPr id="15" name="tech-167" descr="Node.js"/>
          <p:cNvPicPr>
            <a:picLocks noChangeAspect="1"/>
          </p:cNvPicPr>
          <p:nvPr/>
        </p:nvPicPr>
        <p:blipFill>
          <a:blip r:embed="rId6"/>
          <a:stretch>
            <a:fillRect/>
          </a:stretch>
        </p:blipFill>
        <p:spPr>
          <a:xfrm>
            <a:off x="8412480" y="1463040"/>
            <a:ext cx="548640" cy="548640"/>
          </a:xfrm>
          <a:prstGeom prst="rect">
            <a:avLst/>
          </a:prstGeom>
        </p:spPr>
      </p:pic>
      <p:sp>
        <p:nvSpPr>
          <p:cNvPr id="16" name="text-168"/>
          <p:cNvSpPr txBox="1"/>
          <p:nvPr/>
        </p:nvSpPr>
        <p:spPr>
          <a:xfrm>
            <a:off x="8092440" y="212140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Node.js</a:t>
            </a:r>
            <a:endParaRPr lang="en-US" sz="1200" dirty="0"/>
          </a:p>
        </p:txBody>
      </p:sp>
      <p:pic>
        <p:nvPicPr>
          <p:cNvPr id="17" name="tech-169" descr="Express"/>
          <p:cNvPicPr>
            <a:picLocks noChangeAspect="1"/>
          </p:cNvPicPr>
          <p:nvPr/>
        </p:nvPicPr>
        <p:blipFill>
          <a:blip r:embed="rId7"/>
          <a:stretch>
            <a:fillRect/>
          </a:stretch>
        </p:blipFill>
        <p:spPr>
          <a:xfrm>
            <a:off x="9573768" y="1463040"/>
            <a:ext cx="548640" cy="548640"/>
          </a:xfrm>
          <a:prstGeom prst="rect">
            <a:avLst/>
          </a:prstGeom>
        </p:spPr>
      </p:pic>
      <p:sp>
        <p:nvSpPr>
          <p:cNvPr id="18" name="text-170"/>
          <p:cNvSpPr txBox="1"/>
          <p:nvPr/>
        </p:nvSpPr>
        <p:spPr>
          <a:xfrm>
            <a:off x="9253728" y="212140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Express</a:t>
            </a:r>
            <a:endParaRPr lang="en-US" sz="1200" dirty="0"/>
          </a:p>
        </p:txBody>
      </p:sp>
      <p:pic>
        <p:nvPicPr>
          <p:cNvPr id="19" name="tech-171" descr="TypeScript"/>
          <p:cNvPicPr>
            <a:picLocks noChangeAspect="1"/>
          </p:cNvPicPr>
          <p:nvPr/>
        </p:nvPicPr>
        <p:blipFill>
          <a:blip r:embed="rId8"/>
          <a:stretch>
            <a:fillRect/>
          </a:stretch>
        </p:blipFill>
        <p:spPr>
          <a:xfrm>
            <a:off x="10735056" y="1463040"/>
            <a:ext cx="548640" cy="548640"/>
          </a:xfrm>
          <a:prstGeom prst="rect">
            <a:avLst/>
          </a:prstGeom>
        </p:spPr>
      </p:pic>
      <p:sp>
        <p:nvSpPr>
          <p:cNvPr id="20" name="text-172"/>
          <p:cNvSpPr txBox="1"/>
          <p:nvPr/>
        </p:nvSpPr>
        <p:spPr>
          <a:xfrm>
            <a:off x="10415016" y="212140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TypeScript</a:t>
            </a:r>
            <a:endParaRPr lang="en-US" sz="1200" dirty="0"/>
          </a:p>
        </p:txBody>
      </p:sp>
      <p:sp>
        <p:nvSpPr>
          <p:cNvPr id="21" name="card-173"/>
          <p:cNvSpPr/>
          <p:nvPr/>
        </p:nvSpPr>
        <p:spPr>
          <a:xfrm>
            <a:off x="548640" y="2926080"/>
            <a:ext cx="5440680" cy="1463040"/>
          </a:xfrm>
          <a:prstGeom prst="roundRect">
            <a:avLst>
              <a:gd name="adj" fmla="val 7500"/>
            </a:avLst>
          </a:prstGeom>
          <a:solidFill>
            <a:schemeClr val="bg2"/>
          </a:solidFill>
          <a:ln w="6350">
            <a:solidFill>
              <a:schemeClr val="bg2"/>
            </a:solidFill>
            <a:prstDash val="solid"/>
          </a:ln>
        </p:spPr>
        <p:txBody>
          <a:bodyPr/>
          <a:lstStyle/>
          <a:p>
            <a:endParaRPr lang="en-US"/>
          </a:p>
        </p:txBody>
      </p:sp>
      <p:sp>
        <p:nvSpPr>
          <p:cNvPr id="22" name="text-174"/>
          <p:cNvSpPr txBox="1"/>
          <p:nvPr/>
        </p:nvSpPr>
        <p:spPr>
          <a:xfrm>
            <a:off x="777240" y="3090672"/>
            <a:ext cx="1463040" cy="365760"/>
          </a:xfrm>
          <a:prstGeom prst="rect">
            <a:avLst/>
          </a:prstGeom>
          <a:noFill/>
          <a:ln/>
        </p:spPr>
        <p:txBody>
          <a:bodyPr wrap="square" lIns="0" tIns="0" rIns="0" bIns="0" rtlCol="0" anchor="t"/>
          <a:lstStyle/>
          <a:p>
            <a:pPr marL="0" indent="0">
              <a:buNone/>
            </a:pPr>
            <a:r>
              <a:rPr lang="en-US" sz="1700" b="1" dirty="0">
                <a:solidFill>
                  <a:schemeClr val="accent1"/>
                </a:solidFill>
              </a:rPr>
              <a:t>Data</a:t>
            </a:r>
            <a:endParaRPr lang="en-US" sz="1700" dirty="0"/>
          </a:p>
        </p:txBody>
      </p:sp>
      <p:sp>
        <p:nvSpPr>
          <p:cNvPr id="23" name="text-175"/>
          <p:cNvSpPr txBox="1"/>
          <p:nvPr/>
        </p:nvSpPr>
        <p:spPr>
          <a:xfrm>
            <a:off x="777240" y="3520440"/>
            <a:ext cx="1600200" cy="731520"/>
          </a:xfrm>
          <a:prstGeom prst="rect">
            <a:avLst/>
          </a:prstGeom>
          <a:noFill/>
          <a:ln/>
        </p:spPr>
        <p:txBody>
          <a:bodyPr wrap="square" lIns="0" tIns="0" rIns="0" bIns="0" rtlCol="0" anchor="t"/>
          <a:lstStyle/>
          <a:p>
            <a:pPr marL="0" indent="0">
              <a:buNone/>
            </a:pPr>
            <a:r>
              <a:rPr lang="en-US" sz="1200" dirty="0">
                <a:solidFill>
                  <a:srgbClr val="6B6785"/>
                </a:solidFill>
              </a:rPr>
              <a:t>JSONB fields, migrations, Compose</a:t>
            </a:r>
            <a:endParaRPr lang="en-US" sz="1200" dirty="0"/>
          </a:p>
        </p:txBody>
      </p:sp>
      <p:pic>
        <p:nvPicPr>
          <p:cNvPr id="24" name="tech-176" descr="PostgreSQL 16"/>
          <p:cNvPicPr>
            <a:picLocks noChangeAspect="1"/>
          </p:cNvPicPr>
          <p:nvPr/>
        </p:nvPicPr>
        <p:blipFill>
          <a:blip r:embed="rId9"/>
          <a:stretch>
            <a:fillRect/>
          </a:stretch>
        </p:blipFill>
        <p:spPr>
          <a:xfrm>
            <a:off x="2788920" y="3108960"/>
            <a:ext cx="548640" cy="548640"/>
          </a:xfrm>
          <a:prstGeom prst="rect">
            <a:avLst/>
          </a:prstGeom>
        </p:spPr>
      </p:pic>
      <p:sp>
        <p:nvSpPr>
          <p:cNvPr id="25" name="text-177"/>
          <p:cNvSpPr txBox="1"/>
          <p:nvPr/>
        </p:nvSpPr>
        <p:spPr>
          <a:xfrm>
            <a:off x="2468880" y="376732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PostgreSQL 16</a:t>
            </a:r>
            <a:endParaRPr lang="en-US" sz="1200" dirty="0"/>
          </a:p>
        </p:txBody>
      </p:sp>
      <p:pic>
        <p:nvPicPr>
          <p:cNvPr id="26" name="tech-178" descr="Prisma 6"/>
          <p:cNvPicPr>
            <a:picLocks noChangeAspect="1"/>
          </p:cNvPicPr>
          <p:nvPr/>
        </p:nvPicPr>
        <p:blipFill>
          <a:blip r:embed="rId10"/>
          <a:stretch>
            <a:fillRect/>
          </a:stretch>
        </p:blipFill>
        <p:spPr>
          <a:xfrm>
            <a:off x="3950208" y="3108960"/>
            <a:ext cx="548640" cy="548640"/>
          </a:xfrm>
          <a:prstGeom prst="rect">
            <a:avLst/>
          </a:prstGeom>
        </p:spPr>
      </p:pic>
      <p:sp>
        <p:nvSpPr>
          <p:cNvPr id="27" name="text-179"/>
          <p:cNvSpPr txBox="1"/>
          <p:nvPr/>
        </p:nvSpPr>
        <p:spPr>
          <a:xfrm>
            <a:off x="3630168" y="376732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Prisma 6</a:t>
            </a:r>
            <a:endParaRPr lang="en-US" sz="1200" dirty="0"/>
          </a:p>
        </p:txBody>
      </p:sp>
      <p:pic>
        <p:nvPicPr>
          <p:cNvPr id="28" name="tech-180" descr="Docker"/>
          <p:cNvPicPr>
            <a:picLocks noChangeAspect="1"/>
          </p:cNvPicPr>
          <p:nvPr/>
        </p:nvPicPr>
        <p:blipFill>
          <a:blip r:embed="rId11"/>
          <a:stretch>
            <a:fillRect/>
          </a:stretch>
        </p:blipFill>
        <p:spPr>
          <a:xfrm>
            <a:off x="5111496" y="3108960"/>
            <a:ext cx="548640" cy="548640"/>
          </a:xfrm>
          <a:prstGeom prst="rect">
            <a:avLst/>
          </a:prstGeom>
        </p:spPr>
      </p:pic>
      <p:sp>
        <p:nvSpPr>
          <p:cNvPr id="29" name="text-181"/>
          <p:cNvSpPr txBox="1"/>
          <p:nvPr/>
        </p:nvSpPr>
        <p:spPr>
          <a:xfrm>
            <a:off x="4791456" y="376732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Docker</a:t>
            </a:r>
            <a:endParaRPr lang="en-US" sz="1200" dirty="0"/>
          </a:p>
        </p:txBody>
      </p:sp>
      <p:sp>
        <p:nvSpPr>
          <p:cNvPr id="30" name="card-182"/>
          <p:cNvSpPr/>
          <p:nvPr/>
        </p:nvSpPr>
        <p:spPr>
          <a:xfrm>
            <a:off x="6172200" y="2926080"/>
            <a:ext cx="5440680" cy="1463040"/>
          </a:xfrm>
          <a:prstGeom prst="roundRect">
            <a:avLst>
              <a:gd name="adj" fmla="val 7500"/>
            </a:avLst>
          </a:prstGeom>
          <a:solidFill>
            <a:srgbClr val="F8F9FA"/>
          </a:solidFill>
          <a:ln w="6350">
            <a:solidFill>
              <a:srgbClr val="F8F9FA"/>
            </a:solidFill>
            <a:prstDash val="solid"/>
          </a:ln>
        </p:spPr>
        <p:txBody>
          <a:bodyPr/>
          <a:lstStyle/>
          <a:p>
            <a:endParaRPr lang="en-US"/>
          </a:p>
        </p:txBody>
      </p:sp>
      <p:sp>
        <p:nvSpPr>
          <p:cNvPr id="31" name="text-183"/>
          <p:cNvSpPr txBox="1"/>
          <p:nvPr/>
        </p:nvSpPr>
        <p:spPr>
          <a:xfrm>
            <a:off x="6400800" y="3090672"/>
            <a:ext cx="1463040" cy="365760"/>
          </a:xfrm>
          <a:prstGeom prst="rect">
            <a:avLst/>
          </a:prstGeom>
          <a:noFill/>
          <a:ln/>
        </p:spPr>
        <p:txBody>
          <a:bodyPr wrap="square" lIns="0" tIns="0" rIns="0" bIns="0" rtlCol="0" anchor="t"/>
          <a:lstStyle/>
          <a:p>
            <a:pPr marL="0" indent="0">
              <a:buNone/>
            </a:pPr>
            <a:r>
              <a:rPr lang="en-US" sz="1700" b="1" dirty="0">
                <a:solidFill>
                  <a:schemeClr val="accent1"/>
                </a:solidFill>
              </a:rPr>
              <a:t>AI</a:t>
            </a:r>
            <a:endParaRPr lang="en-US" sz="1700" dirty="0"/>
          </a:p>
        </p:txBody>
      </p:sp>
      <p:sp>
        <p:nvSpPr>
          <p:cNvPr id="32" name="text-184"/>
          <p:cNvSpPr txBox="1"/>
          <p:nvPr/>
        </p:nvSpPr>
        <p:spPr>
          <a:xfrm>
            <a:off x="6400800" y="3520440"/>
            <a:ext cx="1600200" cy="731520"/>
          </a:xfrm>
          <a:prstGeom prst="rect">
            <a:avLst/>
          </a:prstGeom>
          <a:noFill/>
          <a:ln/>
        </p:spPr>
        <p:txBody>
          <a:bodyPr wrap="square" lIns="0" tIns="0" rIns="0" bIns="0" rtlCol="0" anchor="t"/>
          <a:lstStyle/>
          <a:p>
            <a:pPr marL="0" indent="0">
              <a:buNone/>
            </a:pPr>
            <a:r>
              <a:rPr lang="en-US" sz="1200" dirty="0">
                <a:solidFill>
                  <a:srgbClr val="6B6785"/>
                </a:solidFill>
              </a:rPr>
              <a:t>Free tier, OpenAI-compatible, swappable</a:t>
            </a:r>
            <a:endParaRPr lang="en-US" sz="1200" dirty="0"/>
          </a:p>
        </p:txBody>
      </p:sp>
      <p:pic>
        <p:nvPicPr>
          <p:cNvPr id="33" name="tech-185" descr="Gemini API"/>
          <p:cNvPicPr>
            <a:picLocks noChangeAspect="1"/>
          </p:cNvPicPr>
          <p:nvPr/>
        </p:nvPicPr>
        <p:blipFill>
          <a:blip r:embed="rId12"/>
          <a:stretch>
            <a:fillRect/>
          </a:stretch>
        </p:blipFill>
        <p:spPr>
          <a:xfrm>
            <a:off x="8412480" y="3108960"/>
            <a:ext cx="548640" cy="548640"/>
          </a:xfrm>
          <a:prstGeom prst="rect">
            <a:avLst/>
          </a:prstGeom>
        </p:spPr>
      </p:pic>
      <p:sp>
        <p:nvSpPr>
          <p:cNvPr id="34" name="text-186"/>
          <p:cNvSpPr txBox="1"/>
          <p:nvPr/>
        </p:nvSpPr>
        <p:spPr>
          <a:xfrm>
            <a:off x="8092440" y="376732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Gemini API</a:t>
            </a:r>
            <a:endParaRPr lang="en-US" sz="1200" dirty="0"/>
          </a:p>
        </p:txBody>
      </p:sp>
      <p:pic>
        <p:nvPicPr>
          <p:cNvPr id="35" name="tech-187" descr="flash-lite"/>
          <p:cNvPicPr>
            <a:picLocks noChangeAspect="1"/>
          </p:cNvPicPr>
          <p:nvPr/>
        </p:nvPicPr>
        <p:blipFill>
          <a:blip r:embed="rId13"/>
          <a:stretch>
            <a:fillRect/>
          </a:stretch>
        </p:blipFill>
        <p:spPr>
          <a:xfrm>
            <a:off x="9573768" y="3108960"/>
            <a:ext cx="548640" cy="548640"/>
          </a:xfrm>
          <a:prstGeom prst="rect">
            <a:avLst/>
          </a:prstGeom>
        </p:spPr>
      </p:pic>
      <p:sp>
        <p:nvSpPr>
          <p:cNvPr id="36" name="text-188"/>
          <p:cNvSpPr txBox="1"/>
          <p:nvPr/>
        </p:nvSpPr>
        <p:spPr>
          <a:xfrm>
            <a:off x="9253728" y="376732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flash-lite</a:t>
            </a:r>
            <a:endParaRPr lang="en-US" sz="1200" dirty="0"/>
          </a:p>
        </p:txBody>
      </p:sp>
      <p:pic>
        <p:nvPicPr>
          <p:cNvPr id="37" name="tech-189" descr="Ollama (opt.)"/>
          <p:cNvPicPr>
            <a:picLocks noChangeAspect="1"/>
          </p:cNvPicPr>
          <p:nvPr/>
        </p:nvPicPr>
        <p:blipFill>
          <a:blip r:embed="rId14"/>
          <a:stretch>
            <a:fillRect/>
          </a:stretch>
        </p:blipFill>
        <p:spPr>
          <a:xfrm>
            <a:off x="10735056" y="3108960"/>
            <a:ext cx="548640" cy="548640"/>
          </a:xfrm>
          <a:prstGeom prst="rect">
            <a:avLst/>
          </a:prstGeom>
        </p:spPr>
      </p:pic>
      <p:sp>
        <p:nvSpPr>
          <p:cNvPr id="38" name="text-190"/>
          <p:cNvSpPr txBox="1"/>
          <p:nvPr/>
        </p:nvSpPr>
        <p:spPr>
          <a:xfrm>
            <a:off x="10415016" y="376732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Ollama (opt.)</a:t>
            </a:r>
            <a:endParaRPr lang="en-US" sz="1200" dirty="0"/>
          </a:p>
        </p:txBody>
      </p:sp>
      <p:sp>
        <p:nvSpPr>
          <p:cNvPr id="39" name="card-191"/>
          <p:cNvSpPr/>
          <p:nvPr/>
        </p:nvSpPr>
        <p:spPr>
          <a:xfrm>
            <a:off x="548640" y="4572000"/>
            <a:ext cx="5440680" cy="1463040"/>
          </a:xfrm>
          <a:prstGeom prst="roundRect">
            <a:avLst>
              <a:gd name="adj" fmla="val 7500"/>
            </a:avLst>
          </a:prstGeom>
          <a:solidFill>
            <a:schemeClr val="bg2"/>
          </a:solidFill>
          <a:ln w="6350">
            <a:solidFill>
              <a:schemeClr val="bg2"/>
            </a:solidFill>
            <a:prstDash val="solid"/>
          </a:ln>
        </p:spPr>
        <p:txBody>
          <a:bodyPr/>
          <a:lstStyle/>
          <a:p>
            <a:endParaRPr lang="en-US"/>
          </a:p>
        </p:txBody>
      </p:sp>
      <p:sp>
        <p:nvSpPr>
          <p:cNvPr id="40" name="text-192"/>
          <p:cNvSpPr txBox="1"/>
          <p:nvPr/>
        </p:nvSpPr>
        <p:spPr>
          <a:xfrm>
            <a:off x="777240" y="4736592"/>
            <a:ext cx="1463040" cy="365760"/>
          </a:xfrm>
          <a:prstGeom prst="rect">
            <a:avLst/>
          </a:prstGeom>
          <a:noFill/>
          <a:ln/>
        </p:spPr>
        <p:txBody>
          <a:bodyPr wrap="square" lIns="0" tIns="0" rIns="0" bIns="0" rtlCol="0" anchor="t"/>
          <a:lstStyle/>
          <a:p>
            <a:pPr marL="0" indent="0">
              <a:buNone/>
            </a:pPr>
            <a:r>
              <a:rPr lang="en-US" sz="1700" b="1" dirty="0">
                <a:solidFill>
                  <a:schemeClr val="accent1"/>
                </a:solidFill>
              </a:rPr>
              <a:t>Research</a:t>
            </a:r>
            <a:endParaRPr lang="en-US" sz="1700" dirty="0"/>
          </a:p>
        </p:txBody>
      </p:sp>
      <p:sp>
        <p:nvSpPr>
          <p:cNvPr id="41" name="text-193"/>
          <p:cNvSpPr txBox="1"/>
          <p:nvPr/>
        </p:nvSpPr>
        <p:spPr>
          <a:xfrm>
            <a:off x="777240" y="5166360"/>
            <a:ext cx="1600200" cy="731520"/>
          </a:xfrm>
          <a:prstGeom prst="rect">
            <a:avLst/>
          </a:prstGeom>
          <a:noFill/>
          <a:ln/>
        </p:spPr>
        <p:txBody>
          <a:bodyPr wrap="square" lIns="0" tIns="0" rIns="0" bIns="0" rtlCol="0" anchor="t"/>
          <a:lstStyle/>
          <a:p>
            <a:pPr marL="0" indent="0">
              <a:buNone/>
            </a:pPr>
            <a:r>
              <a:rPr lang="en-US" sz="1200" dirty="0">
                <a:solidFill>
                  <a:srgbClr val="6B6785"/>
                </a:solidFill>
              </a:rPr>
              <a:t>Simulation, EM, evaluation</a:t>
            </a:r>
            <a:endParaRPr lang="en-US" sz="1200" dirty="0"/>
          </a:p>
        </p:txBody>
      </p:sp>
      <p:pic>
        <p:nvPicPr>
          <p:cNvPr id="42" name="tech-194" descr="Python"/>
          <p:cNvPicPr>
            <a:picLocks noChangeAspect="1"/>
          </p:cNvPicPr>
          <p:nvPr/>
        </p:nvPicPr>
        <p:blipFill>
          <a:blip r:embed="rId15"/>
          <a:stretch>
            <a:fillRect/>
          </a:stretch>
        </p:blipFill>
        <p:spPr>
          <a:xfrm>
            <a:off x="2788920" y="4754880"/>
            <a:ext cx="548640" cy="548640"/>
          </a:xfrm>
          <a:prstGeom prst="rect">
            <a:avLst/>
          </a:prstGeom>
        </p:spPr>
      </p:pic>
      <p:sp>
        <p:nvSpPr>
          <p:cNvPr id="43" name="text-195"/>
          <p:cNvSpPr txBox="1"/>
          <p:nvPr/>
        </p:nvSpPr>
        <p:spPr>
          <a:xfrm>
            <a:off x="2468880" y="541324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Python</a:t>
            </a:r>
            <a:endParaRPr lang="en-US" sz="1200" dirty="0"/>
          </a:p>
        </p:txBody>
      </p:sp>
      <p:pic>
        <p:nvPicPr>
          <p:cNvPr id="44" name="tech-196" descr="NumPy"/>
          <p:cNvPicPr>
            <a:picLocks noChangeAspect="1"/>
          </p:cNvPicPr>
          <p:nvPr/>
        </p:nvPicPr>
        <p:blipFill>
          <a:blip r:embed="rId16"/>
          <a:stretch>
            <a:fillRect/>
          </a:stretch>
        </p:blipFill>
        <p:spPr>
          <a:xfrm>
            <a:off x="3950208" y="4754880"/>
            <a:ext cx="548640" cy="548640"/>
          </a:xfrm>
          <a:prstGeom prst="rect">
            <a:avLst/>
          </a:prstGeom>
        </p:spPr>
      </p:pic>
      <p:sp>
        <p:nvSpPr>
          <p:cNvPr id="45" name="text-197"/>
          <p:cNvSpPr txBox="1"/>
          <p:nvPr/>
        </p:nvSpPr>
        <p:spPr>
          <a:xfrm>
            <a:off x="3630168" y="541324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NumPy</a:t>
            </a:r>
            <a:endParaRPr lang="en-US" sz="1200" dirty="0"/>
          </a:p>
        </p:txBody>
      </p:sp>
      <p:pic>
        <p:nvPicPr>
          <p:cNvPr id="46" name="tech-198" descr="Matplotlib"/>
          <p:cNvPicPr>
            <a:picLocks noChangeAspect="1"/>
          </p:cNvPicPr>
          <p:nvPr/>
        </p:nvPicPr>
        <p:blipFill>
          <a:blip r:embed="rId17"/>
          <a:stretch>
            <a:fillRect/>
          </a:stretch>
        </p:blipFill>
        <p:spPr>
          <a:xfrm>
            <a:off x="5111496" y="4754880"/>
            <a:ext cx="548640" cy="548640"/>
          </a:xfrm>
          <a:prstGeom prst="rect">
            <a:avLst/>
          </a:prstGeom>
        </p:spPr>
      </p:pic>
      <p:sp>
        <p:nvSpPr>
          <p:cNvPr id="47" name="text-199"/>
          <p:cNvSpPr txBox="1"/>
          <p:nvPr/>
        </p:nvSpPr>
        <p:spPr>
          <a:xfrm>
            <a:off x="4791456" y="541324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Matplotlib</a:t>
            </a:r>
            <a:endParaRPr lang="en-US" sz="1200" dirty="0"/>
          </a:p>
        </p:txBody>
      </p:sp>
      <p:sp>
        <p:nvSpPr>
          <p:cNvPr id="48" name="card-200"/>
          <p:cNvSpPr/>
          <p:nvPr/>
        </p:nvSpPr>
        <p:spPr>
          <a:xfrm>
            <a:off x="6172200" y="4572000"/>
            <a:ext cx="5440680" cy="1463040"/>
          </a:xfrm>
          <a:prstGeom prst="roundRect">
            <a:avLst>
              <a:gd name="adj" fmla="val 7500"/>
            </a:avLst>
          </a:prstGeom>
          <a:solidFill>
            <a:srgbClr val="F8F9FA"/>
          </a:solidFill>
          <a:ln w="6350">
            <a:solidFill>
              <a:srgbClr val="F8F9FA"/>
            </a:solidFill>
            <a:prstDash val="solid"/>
          </a:ln>
        </p:spPr>
        <p:txBody>
          <a:bodyPr/>
          <a:lstStyle/>
          <a:p>
            <a:endParaRPr lang="en-US"/>
          </a:p>
        </p:txBody>
      </p:sp>
      <p:sp>
        <p:nvSpPr>
          <p:cNvPr id="49" name="text-201"/>
          <p:cNvSpPr txBox="1"/>
          <p:nvPr/>
        </p:nvSpPr>
        <p:spPr>
          <a:xfrm>
            <a:off x="6400800" y="4736592"/>
            <a:ext cx="1463040" cy="365760"/>
          </a:xfrm>
          <a:prstGeom prst="rect">
            <a:avLst/>
          </a:prstGeom>
          <a:noFill/>
          <a:ln/>
        </p:spPr>
        <p:txBody>
          <a:bodyPr wrap="square" lIns="0" tIns="0" rIns="0" bIns="0" rtlCol="0" anchor="t"/>
          <a:lstStyle/>
          <a:p>
            <a:pPr marL="0" indent="0">
              <a:buNone/>
            </a:pPr>
            <a:r>
              <a:rPr lang="en-US" sz="1700" b="1" dirty="0">
                <a:solidFill>
                  <a:schemeClr val="accent1"/>
                </a:solidFill>
              </a:rPr>
              <a:t>Tooling</a:t>
            </a:r>
            <a:endParaRPr lang="en-US" sz="1700" dirty="0"/>
          </a:p>
        </p:txBody>
      </p:sp>
      <p:sp>
        <p:nvSpPr>
          <p:cNvPr id="50" name="text-202"/>
          <p:cNvSpPr txBox="1"/>
          <p:nvPr/>
        </p:nvSpPr>
        <p:spPr>
          <a:xfrm>
            <a:off x="6400800" y="5166360"/>
            <a:ext cx="1600200" cy="731520"/>
          </a:xfrm>
          <a:prstGeom prst="rect">
            <a:avLst/>
          </a:prstGeom>
          <a:noFill/>
          <a:ln/>
        </p:spPr>
        <p:txBody>
          <a:bodyPr wrap="square" lIns="0" tIns="0" rIns="0" bIns="0" rtlCol="0" anchor="t"/>
          <a:lstStyle/>
          <a:p>
            <a:pPr marL="0" indent="0">
              <a:buNone/>
            </a:pPr>
            <a:r>
              <a:rPr lang="en-US" sz="1200" dirty="0">
                <a:solidFill>
                  <a:srgbClr val="6B6785"/>
                </a:solidFill>
              </a:rPr>
              <a:t>Monorepo, strict TS, 124 tests, CI</a:t>
            </a:r>
            <a:endParaRPr lang="en-US" sz="1200" dirty="0"/>
          </a:p>
        </p:txBody>
      </p:sp>
      <p:pic>
        <p:nvPicPr>
          <p:cNvPr id="51" name="tech-203" descr="Turborepo"/>
          <p:cNvPicPr>
            <a:picLocks noChangeAspect="1"/>
          </p:cNvPicPr>
          <p:nvPr/>
        </p:nvPicPr>
        <p:blipFill>
          <a:blip r:embed="rId18"/>
          <a:stretch>
            <a:fillRect/>
          </a:stretch>
        </p:blipFill>
        <p:spPr>
          <a:xfrm>
            <a:off x="8412480" y="4754880"/>
            <a:ext cx="548640" cy="548640"/>
          </a:xfrm>
          <a:prstGeom prst="rect">
            <a:avLst/>
          </a:prstGeom>
        </p:spPr>
      </p:pic>
      <p:sp>
        <p:nvSpPr>
          <p:cNvPr id="52" name="text-204"/>
          <p:cNvSpPr txBox="1"/>
          <p:nvPr/>
        </p:nvSpPr>
        <p:spPr>
          <a:xfrm>
            <a:off x="8092440" y="541324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Turborepo</a:t>
            </a:r>
            <a:endParaRPr lang="en-US" sz="1200" dirty="0"/>
          </a:p>
        </p:txBody>
      </p:sp>
      <p:pic>
        <p:nvPicPr>
          <p:cNvPr id="53" name="tech-205" descr="Vitest"/>
          <p:cNvPicPr>
            <a:picLocks noChangeAspect="1"/>
          </p:cNvPicPr>
          <p:nvPr/>
        </p:nvPicPr>
        <p:blipFill>
          <a:blip r:embed="rId19"/>
          <a:stretch>
            <a:fillRect/>
          </a:stretch>
        </p:blipFill>
        <p:spPr>
          <a:xfrm>
            <a:off x="9573768" y="4754880"/>
            <a:ext cx="548640" cy="548640"/>
          </a:xfrm>
          <a:prstGeom prst="rect">
            <a:avLst/>
          </a:prstGeom>
        </p:spPr>
      </p:pic>
      <p:sp>
        <p:nvSpPr>
          <p:cNvPr id="54" name="text-206"/>
          <p:cNvSpPr txBox="1"/>
          <p:nvPr/>
        </p:nvSpPr>
        <p:spPr>
          <a:xfrm>
            <a:off x="9253728" y="541324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Vitest</a:t>
            </a:r>
            <a:endParaRPr lang="en-US" sz="1200" dirty="0"/>
          </a:p>
        </p:txBody>
      </p:sp>
      <p:pic>
        <p:nvPicPr>
          <p:cNvPr id="55" name="tech-207" descr="zod"/>
          <p:cNvPicPr>
            <a:picLocks noChangeAspect="1"/>
          </p:cNvPicPr>
          <p:nvPr/>
        </p:nvPicPr>
        <p:blipFill>
          <a:blip r:embed="rId20"/>
          <a:stretch>
            <a:fillRect/>
          </a:stretch>
        </p:blipFill>
        <p:spPr>
          <a:xfrm>
            <a:off x="10735056" y="4754880"/>
            <a:ext cx="548640" cy="548640"/>
          </a:xfrm>
          <a:prstGeom prst="rect">
            <a:avLst/>
          </a:prstGeom>
        </p:spPr>
      </p:pic>
      <p:sp>
        <p:nvSpPr>
          <p:cNvPr id="56" name="text-208"/>
          <p:cNvSpPr txBox="1"/>
          <p:nvPr/>
        </p:nvSpPr>
        <p:spPr>
          <a:xfrm>
            <a:off x="10415016" y="5413248"/>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zod</a:t>
            </a:r>
            <a:endParaRPr lang="en-US" sz="1200" dirty="0"/>
          </a:p>
        </p:txBody>
      </p:sp>
      <p:sp>
        <p:nvSpPr>
          <p:cNvPr id="57"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System Architecture</a:t>
            </a:r>
            <a:endParaRPr lang="en-US" sz="3000" dirty="0"/>
          </a:p>
        </p:txBody>
      </p:sp>
      <p:pic>
        <p:nvPicPr>
          <p:cNvPr id="3" name="img-209" descr="Three-tier architecture diagram"/>
          <p:cNvPicPr>
            <a:picLocks noChangeAspect="1"/>
          </p:cNvPicPr>
          <p:nvPr/>
        </p:nvPicPr>
        <p:blipFill>
          <a:blip r:embed="rId3"/>
          <a:stretch>
            <a:fillRect/>
          </a:stretch>
        </p:blipFill>
        <p:spPr>
          <a:xfrm>
            <a:off x="884509" y="1188720"/>
            <a:ext cx="6643462" cy="5074920"/>
          </a:xfrm>
          <a:prstGeom prst="rect">
            <a:avLst/>
          </a:prstGeom>
        </p:spPr>
      </p:pic>
      <p:sp>
        <p:nvSpPr>
          <p:cNvPr id="4" name="card-210"/>
          <p:cNvSpPr/>
          <p:nvPr/>
        </p:nvSpPr>
        <p:spPr>
          <a:xfrm>
            <a:off x="8183880" y="1371600"/>
            <a:ext cx="3474720" cy="1051560"/>
          </a:xfrm>
          <a:prstGeom prst="roundRect">
            <a:avLst>
              <a:gd name="adj" fmla="val 10435"/>
            </a:avLst>
          </a:prstGeom>
          <a:solidFill>
            <a:schemeClr val="bg2"/>
          </a:solidFill>
          <a:ln w="6350">
            <a:solidFill>
              <a:schemeClr val="bg2"/>
            </a:solidFill>
            <a:prstDash val="solid"/>
          </a:ln>
        </p:spPr>
        <p:txBody>
          <a:bodyPr/>
          <a:lstStyle/>
          <a:p>
            <a:endParaRPr lang="en-US"/>
          </a:p>
        </p:txBody>
      </p:sp>
      <p:sp>
        <p:nvSpPr>
          <p:cNvPr id="5" name="text-211"/>
          <p:cNvSpPr txBox="1"/>
          <p:nvPr/>
        </p:nvSpPr>
        <p:spPr>
          <a:xfrm>
            <a:off x="8412480" y="1481328"/>
            <a:ext cx="3108960" cy="365760"/>
          </a:xfrm>
          <a:prstGeom prst="rect">
            <a:avLst/>
          </a:prstGeom>
          <a:noFill/>
          <a:ln/>
        </p:spPr>
        <p:txBody>
          <a:bodyPr wrap="square" lIns="0" tIns="0" rIns="0" bIns="0" rtlCol="0" anchor="t"/>
          <a:lstStyle/>
          <a:p>
            <a:pPr marL="0" indent="0">
              <a:buNone/>
            </a:pPr>
            <a:r>
              <a:rPr lang="en-US" sz="1600" b="1" dirty="0">
                <a:solidFill>
                  <a:schemeClr val="tx1"/>
                </a:solidFill>
              </a:rPr>
              <a:t>Three tiers</a:t>
            </a:r>
            <a:endParaRPr lang="en-US" sz="1600" dirty="0"/>
          </a:p>
        </p:txBody>
      </p:sp>
      <p:sp>
        <p:nvSpPr>
          <p:cNvPr id="6" name="text-212"/>
          <p:cNvSpPr txBox="1"/>
          <p:nvPr/>
        </p:nvSpPr>
        <p:spPr>
          <a:xfrm>
            <a:off x="8412480" y="1847088"/>
            <a:ext cx="3108960" cy="502920"/>
          </a:xfrm>
          <a:prstGeom prst="rect">
            <a:avLst/>
          </a:prstGeom>
          <a:noFill/>
          <a:ln/>
        </p:spPr>
        <p:txBody>
          <a:bodyPr wrap="square" lIns="0" tIns="0" rIns="0" bIns="0" rtlCol="0" anchor="t"/>
          <a:lstStyle/>
          <a:p>
            <a:pPr marL="0" indent="0">
              <a:buNone/>
            </a:pPr>
            <a:r>
              <a:rPr lang="en-US" sz="1300" dirty="0">
                <a:solidFill>
                  <a:srgbClr val="6B6785"/>
                </a:solidFill>
              </a:rPr>
              <a:t>Next.js client, Express API, PostgreSQL + Gemini API</a:t>
            </a:r>
            <a:endParaRPr lang="en-US" sz="1300" dirty="0"/>
          </a:p>
        </p:txBody>
      </p:sp>
      <p:sp>
        <p:nvSpPr>
          <p:cNvPr id="7" name="card-213"/>
          <p:cNvSpPr/>
          <p:nvPr/>
        </p:nvSpPr>
        <p:spPr>
          <a:xfrm>
            <a:off x="8183880" y="2578608"/>
            <a:ext cx="3474720" cy="1051560"/>
          </a:xfrm>
          <a:prstGeom prst="roundRect">
            <a:avLst>
              <a:gd name="adj" fmla="val 10435"/>
            </a:avLst>
          </a:prstGeom>
          <a:solidFill>
            <a:schemeClr val="bg2"/>
          </a:solidFill>
          <a:ln w="6350">
            <a:solidFill>
              <a:schemeClr val="bg2"/>
            </a:solidFill>
            <a:prstDash val="solid"/>
          </a:ln>
        </p:spPr>
        <p:txBody>
          <a:bodyPr/>
          <a:lstStyle/>
          <a:p>
            <a:endParaRPr lang="en-US"/>
          </a:p>
        </p:txBody>
      </p:sp>
      <p:sp>
        <p:nvSpPr>
          <p:cNvPr id="8" name="text-214"/>
          <p:cNvSpPr txBox="1"/>
          <p:nvPr/>
        </p:nvSpPr>
        <p:spPr>
          <a:xfrm>
            <a:off x="8412480" y="2688336"/>
            <a:ext cx="3108960" cy="365760"/>
          </a:xfrm>
          <a:prstGeom prst="rect">
            <a:avLst/>
          </a:prstGeom>
          <a:noFill/>
          <a:ln/>
        </p:spPr>
        <p:txBody>
          <a:bodyPr wrap="square" lIns="0" tIns="0" rIns="0" bIns="0" rtlCol="0" anchor="t"/>
          <a:lstStyle/>
          <a:p>
            <a:pPr marL="0" indent="0">
              <a:buNone/>
            </a:pPr>
            <a:r>
              <a:rPr lang="en-US" sz="1600" b="1" dirty="0">
                <a:solidFill>
                  <a:schemeClr val="tx1"/>
                </a:solidFill>
              </a:rPr>
              <a:t>Fixed middleware chain</a:t>
            </a:r>
            <a:endParaRPr lang="en-US" sz="1600" dirty="0"/>
          </a:p>
        </p:txBody>
      </p:sp>
      <p:sp>
        <p:nvSpPr>
          <p:cNvPr id="9" name="text-215"/>
          <p:cNvSpPr txBox="1"/>
          <p:nvPr/>
        </p:nvSpPr>
        <p:spPr>
          <a:xfrm>
            <a:off x="8412480" y="3054096"/>
            <a:ext cx="3108960" cy="502920"/>
          </a:xfrm>
          <a:prstGeom prst="rect">
            <a:avLst/>
          </a:prstGeom>
          <a:noFill/>
          <a:ln/>
        </p:spPr>
        <p:txBody>
          <a:bodyPr wrap="square" lIns="0" tIns="0" rIns="0" bIns="0" rtlCol="0" anchor="t"/>
          <a:lstStyle/>
          <a:p>
            <a:pPr marL="0" indent="0">
              <a:buNone/>
            </a:pPr>
            <a:r>
              <a:rPr lang="en-US" sz="1300" dirty="0">
                <a:solidFill>
                  <a:srgbClr val="6B6785"/>
                </a:solidFill>
              </a:rPr>
              <a:t>helmet, CORS, rate limit, JWT, zod, RBAC</a:t>
            </a:r>
            <a:endParaRPr lang="en-US" sz="1300" dirty="0"/>
          </a:p>
        </p:txBody>
      </p:sp>
      <p:sp>
        <p:nvSpPr>
          <p:cNvPr id="10" name="card-216"/>
          <p:cNvSpPr/>
          <p:nvPr/>
        </p:nvSpPr>
        <p:spPr>
          <a:xfrm>
            <a:off x="8183880" y="3785616"/>
            <a:ext cx="3474720" cy="1051560"/>
          </a:xfrm>
          <a:prstGeom prst="roundRect">
            <a:avLst>
              <a:gd name="adj" fmla="val 10435"/>
            </a:avLst>
          </a:prstGeom>
          <a:solidFill>
            <a:schemeClr val="bg2"/>
          </a:solidFill>
          <a:ln w="6350">
            <a:solidFill>
              <a:schemeClr val="bg2"/>
            </a:solidFill>
            <a:prstDash val="solid"/>
          </a:ln>
        </p:spPr>
        <p:txBody>
          <a:bodyPr/>
          <a:lstStyle/>
          <a:p>
            <a:endParaRPr lang="en-US"/>
          </a:p>
        </p:txBody>
      </p:sp>
      <p:sp>
        <p:nvSpPr>
          <p:cNvPr id="11" name="text-217"/>
          <p:cNvSpPr txBox="1"/>
          <p:nvPr/>
        </p:nvSpPr>
        <p:spPr>
          <a:xfrm>
            <a:off x="8412480" y="3895344"/>
            <a:ext cx="3108960" cy="365760"/>
          </a:xfrm>
          <a:prstGeom prst="rect">
            <a:avLst/>
          </a:prstGeom>
          <a:noFill/>
          <a:ln/>
        </p:spPr>
        <p:txBody>
          <a:bodyPr wrap="square" lIns="0" tIns="0" rIns="0" bIns="0" rtlCol="0" anchor="t"/>
          <a:lstStyle/>
          <a:p>
            <a:pPr marL="0" indent="0">
              <a:buNone/>
            </a:pPr>
            <a:r>
              <a:rPr lang="en-US" sz="1600" b="1" dirty="0">
                <a:solidFill>
                  <a:schemeClr val="tx1"/>
                </a:solidFill>
              </a:rPr>
              <a:t>Layered API</a:t>
            </a:r>
            <a:endParaRPr lang="en-US" sz="1600" dirty="0"/>
          </a:p>
        </p:txBody>
      </p:sp>
      <p:sp>
        <p:nvSpPr>
          <p:cNvPr id="12" name="text-218"/>
          <p:cNvSpPr txBox="1"/>
          <p:nvPr/>
        </p:nvSpPr>
        <p:spPr>
          <a:xfrm>
            <a:off x="8412480" y="4261104"/>
            <a:ext cx="3108960" cy="502920"/>
          </a:xfrm>
          <a:prstGeom prst="rect">
            <a:avLst/>
          </a:prstGeom>
          <a:noFill/>
          <a:ln/>
        </p:spPr>
        <p:txBody>
          <a:bodyPr wrap="square" lIns="0" tIns="0" rIns="0" bIns="0" rtlCol="0" anchor="t"/>
          <a:lstStyle/>
          <a:p>
            <a:pPr marL="0" indent="0">
              <a:buNone/>
            </a:pPr>
            <a:r>
              <a:rPr lang="en-US" sz="1300" dirty="0">
                <a:solidFill>
                  <a:srgbClr val="6B6785"/>
                </a:solidFill>
              </a:rPr>
              <a:t>routes, controllers, services, repositories</a:t>
            </a:r>
            <a:endParaRPr lang="en-US" sz="1300" dirty="0"/>
          </a:p>
        </p:txBody>
      </p:sp>
      <p:sp>
        <p:nvSpPr>
          <p:cNvPr id="13" name="card-219"/>
          <p:cNvSpPr/>
          <p:nvPr/>
        </p:nvSpPr>
        <p:spPr>
          <a:xfrm>
            <a:off x="8183880" y="4992624"/>
            <a:ext cx="3474720" cy="1051560"/>
          </a:xfrm>
          <a:prstGeom prst="roundRect">
            <a:avLst>
              <a:gd name="adj" fmla="val 10435"/>
            </a:avLst>
          </a:prstGeom>
          <a:solidFill>
            <a:schemeClr val="bg2"/>
          </a:solidFill>
          <a:ln w="6350">
            <a:solidFill>
              <a:schemeClr val="bg2"/>
            </a:solidFill>
            <a:prstDash val="solid"/>
          </a:ln>
        </p:spPr>
        <p:txBody>
          <a:bodyPr/>
          <a:lstStyle/>
          <a:p>
            <a:endParaRPr lang="en-US"/>
          </a:p>
        </p:txBody>
      </p:sp>
      <p:sp>
        <p:nvSpPr>
          <p:cNvPr id="14" name="text-220"/>
          <p:cNvSpPr txBox="1"/>
          <p:nvPr/>
        </p:nvSpPr>
        <p:spPr>
          <a:xfrm>
            <a:off x="8412480" y="5102352"/>
            <a:ext cx="3108960" cy="365760"/>
          </a:xfrm>
          <a:prstGeom prst="rect">
            <a:avLst/>
          </a:prstGeom>
          <a:noFill/>
          <a:ln/>
        </p:spPr>
        <p:txBody>
          <a:bodyPr wrap="square" lIns="0" tIns="0" rIns="0" bIns="0" rtlCol="0" anchor="t"/>
          <a:lstStyle/>
          <a:p>
            <a:pPr marL="0" indent="0">
              <a:buNone/>
            </a:pPr>
            <a:r>
              <a:rPr lang="en-US" sz="1600" b="1" dirty="0">
                <a:solidFill>
                  <a:schemeClr val="tx1"/>
                </a:solidFill>
              </a:rPr>
              <a:t>One AIProvider interface</a:t>
            </a:r>
            <a:endParaRPr lang="en-US" sz="1600" dirty="0"/>
          </a:p>
        </p:txBody>
      </p:sp>
      <p:sp>
        <p:nvSpPr>
          <p:cNvPr id="15" name="text-221"/>
          <p:cNvSpPr txBox="1"/>
          <p:nvPr/>
        </p:nvSpPr>
        <p:spPr>
          <a:xfrm>
            <a:off x="8412480" y="5468112"/>
            <a:ext cx="3108960" cy="502920"/>
          </a:xfrm>
          <a:prstGeom prst="rect">
            <a:avLst/>
          </a:prstGeom>
          <a:noFill/>
          <a:ln/>
        </p:spPr>
        <p:txBody>
          <a:bodyPr wrap="square" lIns="0" tIns="0" rIns="0" bIns="0" rtlCol="0" anchor="t"/>
          <a:lstStyle/>
          <a:p>
            <a:pPr marL="0" indent="0">
              <a:buNone/>
            </a:pPr>
            <a:r>
              <a:rPr lang="en-US" sz="1300" dirty="0">
                <a:solidFill>
                  <a:srgbClr val="6B6785"/>
                </a:solidFill>
              </a:rPr>
              <a:t>Gemini free tier by default, masked text only</a:t>
            </a:r>
            <a:endParaRPr lang="en-US" sz="13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Use Case and Data Flow Diagrams</a:t>
            </a:r>
            <a:endParaRPr lang="en-US" sz="3000" dirty="0"/>
          </a:p>
        </p:txBody>
      </p:sp>
      <p:sp>
        <p:nvSpPr>
          <p:cNvPr id="3" name="frame-222"/>
          <p:cNvSpPr/>
          <p:nvPr/>
        </p:nvSpPr>
        <p:spPr>
          <a:xfrm>
            <a:off x="548640" y="1473402"/>
            <a:ext cx="5486400" cy="4094075"/>
          </a:xfrm>
          <a:prstGeom prst="roundRect">
            <a:avLst>
              <a:gd name="adj" fmla="val 1787"/>
            </a:avLst>
          </a:prstGeom>
          <a:solidFill>
            <a:schemeClr val="bg1"/>
          </a:solidFill>
          <a:ln w="12700">
            <a:solidFill>
              <a:srgbClr val="D9D3F7"/>
            </a:solidFill>
            <a:prstDash val="solid"/>
          </a:ln>
          <a:effectLst>
            <a:outerShdw blurRad="101600" dist="38100" dir="5400000" algn="bl" rotWithShape="0">
              <a:srgbClr val="000000">
                <a:alpha val="15000"/>
              </a:srgbClr>
            </a:outerShdw>
          </a:effectLst>
        </p:spPr>
        <p:txBody>
          <a:bodyPr/>
          <a:lstStyle/>
          <a:p>
            <a:endParaRPr lang="en-US"/>
          </a:p>
        </p:txBody>
      </p:sp>
      <p:pic>
        <p:nvPicPr>
          <p:cNvPr id="4" name="shot-223" descr="Use case diagram"/>
          <p:cNvPicPr>
            <a:picLocks noChangeAspect="1"/>
          </p:cNvPicPr>
          <p:nvPr/>
        </p:nvPicPr>
        <p:blipFill>
          <a:blip r:embed="rId3"/>
          <a:stretch>
            <a:fillRect/>
          </a:stretch>
        </p:blipFill>
        <p:spPr>
          <a:xfrm>
            <a:off x="603504" y="1528266"/>
            <a:ext cx="5376672" cy="3984347"/>
          </a:xfrm>
          <a:prstGeom prst="rect">
            <a:avLst/>
          </a:prstGeom>
        </p:spPr>
      </p:pic>
      <p:sp>
        <p:nvSpPr>
          <p:cNvPr id="5" name="frame-224"/>
          <p:cNvSpPr/>
          <p:nvPr/>
        </p:nvSpPr>
        <p:spPr>
          <a:xfrm>
            <a:off x="6172200" y="1838709"/>
            <a:ext cx="5486400" cy="3363462"/>
          </a:xfrm>
          <a:prstGeom prst="roundRect">
            <a:avLst>
              <a:gd name="adj" fmla="val 2175"/>
            </a:avLst>
          </a:prstGeom>
          <a:solidFill>
            <a:schemeClr val="bg1"/>
          </a:solidFill>
          <a:ln w="12700">
            <a:solidFill>
              <a:srgbClr val="D9D3F7"/>
            </a:solidFill>
            <a:prstDash val="solid"/>
          </a:ln>
          <a:effectLst>
            <a:outerShdw blurRad="101600" dist="38100" dir="5400000" algn="bl" rotWithShape="0">
              <a:srgbClr val="000000">
                <a:alpha val="15000"/>
              </a:srgbClr>
            </a:outerShdw>
          </a:effectLst>
        </p:spPr>
        <p:txBody>
          <a:bodyPr/>
          <a:lstStyle/>
          <a:p>
            <a:endParaRPr lang="en-US"/>
          </a:p>
        </p:txBody>
      </p:sp>
      <p:pic>
        <p:nvPicPr>
          <p:cNvPr id="6" name="shot-225" descr="Level 0 data flow diagram"/>
          <p:cNvPicPr>
            <a:picLocks noChangeAspect="1"/>
          </p:cNvPicPr>
          <p:nvPr/>
        </p:nvPicPr>
        <p:blipFill>
          <a:blip r:embed="rId4"/>
          <a:stretch>
            <a:fillRect/>
          </a:stretch>
        </p:blipFill>
        <p:spPr>
          <a:xfrm>
            <a:off x="6227064" y="1893573"/>
            <a:ext cx="5376672" cy="3253734"/>
          </a:xfrm>
          <a:prstGeom prst="rect">
            <a:avLst/>
          </a:prstGeom>
        </p:spPr>
      </p:pic>
      <p:sp>
        <p:nvSpPr>
          <p:cNvPr id="7" name="text-226"/>
          <p:cNvSpPr txBox="1"/>
          <p:nvPr/>
        </p:nvSpPr>
        <p:spPr>
          <a:xfrm>
            <a:off x="548640" y="5897880"/>
            <a:ext cx="5486400" cy="365760"/>
          </a:xfrm>
          <a:prstGeom prst="rect">
            <a:avLst/>
          </a:prstGeom>
          <a:noFill/>
          <a:ln/>
        </p:spPr>
        <p:txBody>
          <a:bodyPr wrap="square" lIns="0" tIns="0" rIns="0" bIns="0" rtlCol="0" anchor="t"/>
          <a:lstStyle/>
          <a:p>
            <a:pPr marL="0" indent="0" algn="ctr">
              <a:buNone/>
            </a:pPr>
            <a:r>
              <a:rPr lang="en-US" sz="1300" dirty="0">
                <a:solidFill>
                  <a:srgbClr val="6B6785"/>
                </a:solidFill>
              </a:rPr>
              <a:t>Use case: creator, viewer, respondent; LLM provider as secondary actor</a:t>
            </a:r>
            <a:endParaRPr lang="en-US" sz="1300" dirty="0"/>
          </a:p>
        </p:txBody>
      </p:sp>
      <p:sp>
        <p:nvSpPr>
          <p:cNvPr id="8" name="text-227"/>
          <p:cNvSpPr txBox="1"/>
          <p:nvPr/>
        </p:nvSpPr>
        <p:spPr>
          <a:xfrm>
            <a:off x="6172200" y="5897880"/>
            <a:ext cx="5486400" cy="365760"/>
          </a:xfrm>
          <a:prstGeom prst="rect">
            <a:avLst/>
          </a:prstGeom>
          <a:noFill/>
          <a:ln/>
        </p:spPr>
        <p:txBody>
          <a:bodyPr wrap="square" lIns="0" tIns="0" rIns="0" bIns="0" rtlCol="0" anchor="t"/>
          <a:lstStyle/>
          <a:p>
            <a:pPr marL="0" indent="0" algn="ctr">
              <a:buNone/>
            </a:pPr>
            <a:r>
              <a:rPr lang="en-US" sz="1300" dirty="0">
                <a:solidFill>
                  <a:srgbClr val="6B6785"/>
                </a:solidFill>
              </a:rPr>
              <a:t>DFD level 0: only redacted text flows to the model; only JSON returns</a:t>
            </a:r>
            <a:endParaRPr lang="en-US" sz="13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Data Model</a:t>
            </a:r>
            <a:endParaRPr lang="en-US" sz="3000" dirty="0"/>
          </a:p>
        </p:txBody>
      </p:sp>
      <p:sp>
        <p:nvSpPr>
          <p:cNvPr id="3" name="frame-228"/>
          <p:cNvSpPr/>
          <p:nvPr/>
        </p:nvSpPr>
        <p:spPr>
          <a:xfrm>
            <a:off x="743586" y="1188720"/>
            <a:ext cx="6833868" cy="5029200"/>
          </a:xfrm>
          <a:prstGeom prst="roundRect">
            <a:avLst>
              <a:gd name="adj" fmla="val 1455"/>
            </a:avLst>
          </a:prstGeom>
          <a:solidFill>
            <a:schemeClr val="bg1"/>
          </a:solidFill>
          <a:ln w="12700">
            <a:solidFill>
              <a:srgbClr val="D9D3F7"/>
            </a:solidFill>
            <a:prstDash val="solid"/>
          </a:ln>
          <a:effectLst>
            <a:outerShdw blurRad="101600" dist="38100" dir="5400000" algn="bl" rotWithShape="0">
              <a:srgbClr val="000000">
                <a:alpha val="15000"/>
              </a:srgbClr>
            </a:outerShdw>
          </a:effectLst>
        </p:spPr>
        <p:txBody>
          <a:bodyPr/>
          <a:lstStyle/>
          <a:p>
            <a:endParaRPr lang="en-US"/>
          </a:p>
        </p:txBody>
      </p:sp>
      <p:pic>
        <p:nvPicPr>
          <p:cNvPr id="4" name="shot-229" descr="Entity relationship diagram"/>
          <p:cNvPicPr>
            <a:picLocks noChangeAspect="1"/>
          </p:cNvPicPr>
          <p:nvPr/>
        </p:nvPicPr>
        <p:blipFill>
          <a:blip r:embed="rId3"/>
          <a:stretch>
            <a:fillRect/>
          </a:stretch>
        </p:blipFill>
        <p:spPr>
          <a:xfrm>
            <a:off x="798450" y="1243584"/>
            <a:ext cx="6724140" cy="4919472"/>
          </a:xfrm>
          <a:prstGeom prst="rect">
            <a:avLst/>
          </a:prstGeom>
        </p:spPr>
      </p:pic>
      <p:sp>
        <p:nvSpPr>
          <p:cNvPr id="5" name="text-230"/>
          <p:cNvSpPr txBox="1"/>
          <p:nvPr/>
        </p:nvSpPr>
        <p:spPr>
          <a:xfrm>
            <a:off x="8092440" y="1325880"/>
            <a:ext cx="3566160" cy="365760"/>
          </a:xfrm>
          <a:prstGeom prst="rect">
            <a:avLst/>
          </a:prstGeom>
          <a:noFill/>
          <a:ln/>
        </p:spPr>
        <p:txBody>
          <a:bodyPr wrap="square" lIns="0" tIns="0" rIns="0" bIns="0" rtlCol="0" anchor="t"/>
          <a:lstStyle/>
          <a:p>
            <a:pPr marL="0" indent="0">
              <a:buNone/>
            </a:pPr>
            <a:r>
              <a:rPr lang="en-US" sz="1700" b="1" dirty="0">
                <a:solidFill>
                  <a:schemeClr val="tx1"/>
                </a:solidFill>
              </a:rPr>
              <a:t>9 existing models kept unchanged</a:t>
            </a:r>
            <a:endParaRPr lang="en-US" sz="1700" dirty="0"/>
          </a:p>
        </p:txBody>
      </p:sp>
      <p:sp>
        <p:nvSpPr>
          <p:cNvPr id="6" name="text-231"/>
          <p:cNvSpPr txBox="1"/>
          <p:nvPr/>
        </p:nvSpPr>
        <p:spPr>
          <a:xfrm>
            <a:off x="8092440" y="1737360"/>
            <a:ext cx="3566160" cy="822960"/>
          </a:xfrm>
          <a:prstGeom prst="rect">
            <a:avLst/>
          </a:prstGeom>
          <a:noFill/>
          <a:ln/>
        </p:spPr>
        <p:txBody>
          <a:bodyPr wrap="square" lIns="0" tIns="0" rIns="0" bIns="0" rtlCol="0" anchor="t"/>
          <a:lstStyle/>
          <a:p>
            <a:pPr marL="0" indent="0">
              <a:buNone/>
            </a:pPr>
            <a:r>
              <a:rPr lang="en-US" sz="1400" dirty="0">
                <a:solidFill>
                  <a:srgbClr val="6B6785"/>
                </a:solidFill>
              </a:rPr>
              <a:t>Only three columns added: Form.objective, Form.adaptiveConfig, Submission.imputed</a:t>
            </a:r>
            <a:endParaRPr lang="en-US" sz="1400" dirty="0"/>
          </a:p>
        </p:txBody>
      </p:sp>
      <p:sp>
        <p:nvSpPr>
          <p:cNvPr id="7" name="card-232"/>
          <p:cNvSpPr/>
          <p:nvPr/>
        </p:nvSpPr>
        <p:spPr>
          <a:xfrm>
            <a:off x="8092440" y="2788920"/>
            <a:ext cx="3566160" cy="713232"/>
          </a:xfrm>
          <a:prstGeom prst="roundRect">
            <a:avLst>
              <a:gd name="adj" fmla="val 15385"/>
            </a:avLst>
          </a:prstGeom>
          <a:solidFill>
            <a:srgbClr val="FFF4C2"/>
          </a:solidFill>
          <a:ln w="6350">
            <a:solidFill>
              <a:srgbClr val="FFF4C2"/>
            </a:solidFill>
            <a:prstDash val="solid"/>
          </a:ln>
        </p:spPr>
        <p:txBody>
          <a:bodyPr/>
          <a:lstStyle/>
          <a:p>
            <a:endParaRPr lang="en-US"/>
          </a:p>
        </p:txBody>
      </p:sp>
      <p:sp>
        <p:nvSpPr>
          <p:cNvPr id="8" name="text-233"/>
          <p:cNvSpPr txBox="1"/>
          <p:nvPr/>
        </p:nvSpPr>
        <p:spPr>
          <a:xfrm>
            <a:off x="8275320" y="2862072"/>
            <a:ext cx="3291840" cy="320040"/>
          </a:xfrm>
          <a:prstGeom prst="rect">
            <a:avLst/>
          </a:prstGeom>
          <a:noFill/>
          <a:ln/>
        </p:spPr>
        <p:txBody>
          <a:bodyPr wrap="square" lIns="0" tIns="0" rIns="0" bIns="0" rtlCol="0" anchor="t"/>
          <a:lstStyle/>
          <a:p>
            <a:pPr marL="0" indent="0">
              <a:buNone/>
            </a:pPr>
            <a:r>
              <a:rPr lang="en-US" sz="1500" b="1" dirty="0">
                <a:solidFill>
                  <a:schemeClr val="tx1"/>
                </a:solidFill>
              </a:rPr>
              <a:t>QualityReport</a:t>
            </a:r>
            <a:endParaRPr lang="en-US" sz="1500" dirty="0"/>
          </a:p>
        </p:txBody>
      </p:sp>
      <p:sp>
        <p:nvSpPr>
          <p:cNvPr id="9" name="text-234"/>
          <p:cNvSpPr txBox="1"/>
          <p:nvPr/>
        </p:nvSpPr>
        <p:spPr>
          <a:xfrm>
            <a:off x="8275320" y="3172968"/>
            <a:ext cx="3291840" cy="274320"/>
          </a:xfrm>
          <a:prstGeom prst="rect">
            <a:avLst/>
          </a:prstGeom>
          <a:noFill/>
          <a:ln/>
        </p:spPr>
        <p:txBody>
          <a:bodyPr wrap="square" lIns="0" tIns="0" rIns="0" bIns="0" rtlCol="0" anchor="t"/>
          <a:lstStyle/>
          <a:p>
            <a:pPr marL="0" indent="0">
              <a:buNone/>
            </a:pPr>
            <a:r>
              <a:rPr lang="en-US" sz="1200" dirty="0">
                <a:solidFill>
                  <a:srgbClr val="6B6785"/>
                </a:solidFill>
              </a:rPr>
              <a:t>score, issues, time</a:t>
            </a:r>
            <a:endParaRPr lang="en-US" sz="1200" dirty="0"/>
          </a:p>
        </p:txBody>
      </p:sp>
      <p:sp>
        <p:nvSpPr>
          <p:cNvPr id="10" name="card-235"/>
          <p:cNvSpPr/>
          <p:nvPr/>
        </p:nvSpPr>
        <p:spPr>
          <a:xfrm>
            <a:off x="8092440" y="3630168"/>
            <a:ext cx="3566160" cy="713232"/>
          </a:xfrm>
          <a:prstGeom prst="roundRect">
            <a:avLst>
              <a:gd name="adj" fmla="val 15385"/>
            </a:avLst>
          </a:prstGeom>
          <a:solidFill>
            <a:srgbClr val="FFF4C2"/>
          </a:solidFill>
          <a:ln w="6350">
            <a:solidFill>
              <a:srgbClr val="FFF4C2"/>
            </a:solidFill>
            <a:prstDash val="solid"/>
          </a:ln>
        </p:spPr>
        <p:txBody>
          <a:bodyPr/>
          <a:lstStyle/>
          <a:p>
            <a:endParaRPr lang="en-US"/>
          </a:p>
        </p:txBody>
      </p:sp>
      <p:sp>
        <p:nvSpPr>
          <p:cNvPr id="11" name="text-236"/>
          <p:cNvSpPr txBox="1"/>
          <p:nvPr/>
        </p:nvSpPr>
        <p:spPr>
          <a:xfrm>
            <a:off x="8275320" y="3703320"/>
            <a:ext cx="3291840" cy="320040"/>
          </a:xfrm>
          <a:prstGeom prst="rect">
            <a:avLst/>
          </a:prstGeom>
          <a:noFill/>
          <a:ln/>
        </p:spPr>
        <p:txBody>
          <a:bodyPr wrap="square" lIns="0" tIns="0" rIns="0" bIns="0" rtlCol="0" anchor="t"/>
          <a:lstStyle/>
          <a:p>
            <a:pPr marL="0" indent="0">
              <a:buNone/>
            </a:pPr>
            <a:r>
              <a:rPr lang="en-US" sz="1500" b="1" dirty="0">
                <a:solidFill>
                  <a:schemeClr val="tx1"/>
                </a:solidFill>
              </a:rPr>
              <a:t>AdaptiveSession</a:t>
            </a:r>
            <a:endParaRPr lang="en-US" sz="1500" dirty="0"/>
          </a:p>
        </p:txBody>
      </p:sp>
      <p:sp>
        <p:nvSpPr>
          <p:cNvPr id="12" name="text-237"/>
          <p:cNvSpPr txBox="1"/>
          <p:nvPr/>
        </p:nvSpPr>
        <p:spPr>
          <a:xfrm>
            <a:off x="8275320" y="4014216"/>
            <a:ext cx="3291840" cy="274320"/>
          </a:xfrm>
          <a:prstGeom prst="rect">
            <a:avLst/>
          </a:prstGeom>
          <a:noFill/>
          <a:ln/>
        </p:spPr>
        <p:txBody>
          <a:bodyPr wrap="square" lIns="0" tIns="0" rIns="0" bIns="0" rtlCol="0" anchor="t"/>
          <a:lstStyle/>
          <a:p>
            <a:pPr marL="0" indent="0">
              <a:buNone/>
            </a:pPr>
            <a:r>
              <a:rPr lang="en-US" sz="1200" dirty="0">
                <a:solidFill>
                  <a:srgbClr val="6B6785"/>
                </a:solidFill>
              </a:rPr>
              <a:t>asked order, posterior</a:t>
            </a:r>
            <a:endParaRPr lang="en-US" sz="1200" dirty="0"/>
          </a:p>
        </p:txBody>
      </p:sp>
      <p:sp>
        <p:nvSpPr>
          <p:cNvPr id="13" name="card-238"/>
          <p:cNvSpPr/>
          <p:nvPr/>
        </p:nvSpPr>
        <p:spPr>
          <a:xfrm>
            <a:off x="8092440" y="4471416"/>
            <a:ext cx="3566160" cy="713232"/>
          </a:xfrm>
          <a:prstGeom prst="roundRect">
            <a:avLst>
              <a:gd name="adj" fmla="val 15385"/>
            </a:avLst>
          </a:prstGeom>
          <a:solidFill>
            <a:srgbClr val="FFF4C2"/>
          </a:solidFill>
          <a:ln w="6350">
            <a:solidFill>
              <a:srgbClr val="FFF4C2"/>
            </a:solidFill>
            <a:prstDash val="solid"/>
          </a:ln>
        </p:spPr>
        <p:txBody>
          <a:bodyPr/>
          <a:lstStyle/>
          <a:p>
            <a:endParaRPr lang="en-US"/>
          </a:p>
        </p:txBody>
      </p:sp>
      <p:sp>
        <p:nvSpPr>
          <p:cNvPr id="14" name="text-239"/>
          <p:cNvSpPr txBox="1"/>
          <p:nvPr/>
        </p:nvSpPr>
        <p:spPr>
          <a:xfrm>
            <a:off x="8275320" y="4544568"/>
            <a:ext cx="3291840" cy="320040"/>
          </a:xfrm>
          <a:prstGeom prst="rect">
            <a:avLst/>
          </a:prstGeom>
          <a:noFill/>
          <a:ln/>
        </p:spPr>
        <p:txBody>
          <a:bodyPr wrap="square" lIns="0" tIns="0" rIns="0" bIns="0" rtlCol="0" anchor="t"/>
          <a:lstStyle/>
          <a:p>
            <a:pPr marL="0" indent="0">
              <a:buNone/>
            </a:pPr>
            <a:r>
              <a:rPr lang="en-US" sz="1500" b="1" dirty="0">
                <a:solidFill>
                  <a:schemeClr val="tx1"/>
                </a:solidFill>
              </a:rPr>
              <a:t>ModelSnapshot</a:t>
            </a:r>
            <a:endParaRPr lang="en-US" sz="1500" dirty="0"/>
          </a:p>
        </p:txBody>
      </p:sp>
      <p:sp>
        <p:nvSpPr>
          <p:cNvPr id="15" name="text-240"/>
          <p:cNvSpPr txBox="1"/>
          <p:nvPr/>
        </p:nvSpPr>
        <p:spPr>
          <a:xfrm>
            <a:off x="8275320" y="4855464"/>
            <a:ext cx="3291840" cy="274320"/>
          </a:xfrm>
          <a:prstGeom prst="rect">
            <a:avLst/>
          </a:prstGeom>
          <a:noFill/>
          <a:ln/>
        </p:spPr>
        <p:txBody>
          <a:bodyPr wrap="square" lIns="0" tIns="0" rIns="0" bIns="0" rtlCol="0" anchor="t"/>
          <a:lstStyle/>
          <a:p>
            <a:pPr marL="0" indent="0">
              <a:buNone/>
            </a:pPr>
            <a:r>
              <a:rPr lang="en-US" sz="1200" dirty="0">
                <a:solidFill>
                  <a:srgbClr val="6B6785"/>
                </a:solidFill>
              </a:rPr>
              <a:t>pi, theta, nReal, nSynthetic</a:t>
            </a:r>
            <a:endParaRPr lang="en-US" sz="1200" dirty="0"/>
          </a:p>
        </p:txBody>
      </p:sp>
      <p:sp>
        <p:nvSpPr>
          <p:cNvPr id="16" name="card-241"/>
          <p:cNvSpPr/>
          <p:nvPr/>
        </p:nvSpPr>
        <p:spPr>
          <a:xfrm>
            <a:off x="8092440" y="5312664"/>
            <a:ext cx="3566160" cy="713232"/>
          </a:xfrm>
          <a:prstGeom prst="roundRect">
            <a:avLst>
              <a:gd name="adj" fmla="val 15385"/>
            </a:avLst>
          </a:prstGeom>
          <a:solidFill>
            <a:srgbClr val="FFF4C2"/>
          </a:solidFill>
          <a:ln w="6350">
            <a:solidFill>
              <a:srgbClr val="FFF4C2"/>
            </a:solidFill>
            <a:prstDash val="solid"/>
          </a:ln>
        </p:spPr>
        <p:txBody>
          <a:bodyPr/>
          <a:lstStyle/>
          <a:p>
            <a:endParaRPr lang="en-US"/>
          </a:p>
        </p:txBody>
      </p:sp>
      <p:sp>
        <p:nvSpPr>
          <p:cNvPr id="17" name="text-242"/>
          <p:cNvSpPr txBox="1"/>
          <p:nvPr/>
        </p:nvSpPr>
        <p:spPr>
          <a:xfrm>
            <a:off x="8275320" y="5385816"/>
            <a:ext cx="3291840" cy="320040"/>
          </a:xfrm>
          <a:prstGeom prst="rect">
            <a:avLst/>
          </a:prstGeom>
          <a:noFill/>
          <a:ln/>
        </p:spPr>
        <p:txBody>
          <a:bodyPr wrap="square" lIns="0" tIns="0" rIns="0" bIns="0" rtlCol="0" anchor="t"/>
          <a:lstStyle/>
          <a:p>
            <a:pPr marL="0" indent="0">
              <a:buNone/>
            </a:pPr>
            <a:r>
              <a:rPr lang="en-US" sz="1500" b="1" dirty="0">
                <a:solidFill>
                  <a:schemeClr val="tx1"/>
                </a:solidFill>
              </a:rPr>
              <a:t>ResponseInsight</a:t>
            </a:r>
            <a:endParaRPr lang="en-US" sz="1500" dirty="0"/>
          </a:p>
        </p:txBody>
      </p:sp>
      <p:sp>
        <p:nvSpPr>
          <p:cNvPr id="18" name="text-243"/>
          <p:cNvSpPr txBox="1"/>
          <p:nvPr/>
        </p:nvSpPr>
        <p:spPr>
          <a:xfrm>
            <a:off x="8275320" y="5696712"/>
            <a:ext cx="3291840" cy="274320"/>
          </a:xfrm>
          <a:prstGeom prst="rect">
            <a:avLst/>
          </a:prstGeom>
          <a:noFill/>
          <a:ln/>
        </p:spPr>
        <p:txBody>
          <a:bodyPr wrap="square" lIns="0" tIns="0" rIns="0" bIns="0" rtlCol="0" anchor="t"/>
          <a:lstStyle/>
          <a:p>
            <a:pPr marL="0" indent="0">
              <a:buNone/>
            </a:pPr>
            <a:r>
              <a:rPr lang="en-US" sz="1200" dirty="0">
                <a:solidFill>
                  <a:srgbClr val="6B6785"/>
                </a:solidFill>
              </a:rPr>
              <a:t>summary, topics, sentiment</a:t>
            </a:r>
            <a:endParaRPr lang="en-US" sz="12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AI Form Generation with a Free LLM</a:t>
            </a:r>
            <a:endParaRPr lang="en-US" sz="3000" dirty="0"/>
          </a:p>
        </p:txBody>
      </p:sp>
      <p:pic>
        <p:nvPicPr>
          <p:cNvPr id="3" name="img-244" descr="AI form generation pipeline"/>
          <p:cNvPicPr>
            <a:picLocks noChangeAspect="1"/>
          </p:cNvPicPr>
          <p:nvPr/>
        </p:nvPicPr>
        <p:blipFill>
          <a:blip r:embed="rId3"/>
          <a:stretch>
            <a:fillRect/>
          </a:stretch>
        </p:blipFill>
        <p:spPr>
          <a:xfrm>
            <a:off x="548640" y="1223858"/>
            <a:ext cx="6766560" cy="3221563"/>
          </a:xfrm>
          <a:prstGeom prst="rect">
            <a:avLst/>
          </a:prstGeom>
        </p:spPr>
      </p:pic>
      <p:sp>
        <p:nvSpPr>
          <p:cNvPr id="4" name="card-245"/>
          <p:cNvSpPr/>
          <p:nvPr/>
        </p:nvSpPr>
        <p:spPr>
          <a:xfrm>
            <a:off x="548640" y="4663440"/>
            <a:ext cx="6766560" cy="1463040"/>
          </a:xfrm>
          <a:prstGeom prst="roundRect">
            <a:avLst>
              <a:gd name="adj" fmla="val 7500"/>
            </a:avLst>
          </a:prstGeom>
          <a:solidFill>
            <a:schemeClr val="bg2"/>
          </a:solidFill>
          <a:ln w="6350">
            <a:solidFill>
              <a:schemeClr val="bg2"/>
            </a:solidFill>
            <a:prstDash val="solid"/>
          </a:ln>
        </p:spPr>
        <p:txBody>
          <a:bodyPr/>
          <a:lstStyle/>
          <a:p>
            <a:endParaRPr lang="en-US"/>
          </a:p>
        </p:txBody>
      </p:sp>
      <p:sp>
        <p:nvSpPr>
          <p:cNvPr id="5" name="text-246"/>
          <p:cNvSpPr txBox="1"/>
          <p:nvPr/>
        </p:nvSpPr>
        <p:spPr>
          <a:xfrm>
            <a:off x="777240" y="4846320"/>
            <a:ext cx="6309360" cy="1097280"/>
          </a:xfrm>
          <a:prstGeom prst="rect">
            <a:avLst/>
          </a:prstGeom>
          <a:noFill/>
          <a:ln/>
        </p:spPr>
        <p:txBody>
          <a:bodyPr wrap="square" lIns="0" tIns="0" rIns="0" bIns="0" rtlCol="0" anchor="t"/>
          <a:lstStyle/>
          <a:p>
            <a:pPr marL="0" indent="0">
              <a:buNone/>
            </a:pPr>
            <a:r>
              <a:rPr lang="en-US" sz="1500" b="1" dirty="0">
                <a:solidFill>
                  <a:schemeClr val="tx1"/>
                </a:solidFill>
              </a:rPr>
              <a:t>Human in the loop: </a:t>
            </a:r>
            <a:r>
              <a:rPr lang="en-US" sz="1500" dirty="0">
                <a:solidFill>
                  <a:schemeClr val="tx1"/>
                </a:solidFill>
              </a:rPr>
              <a:t>the model returns a proposal only. It opens in the existing builder and nothing is saved until the creator approves.</a:t>
            </a:r>
            <a:endParaRPr lang="en-US" sz="1500" dirty="0"/>
          </a:p>
        </p:txBody>
      </p:sp>
      <p:sp>
        <p:nvSpPr>
          <p:cNvPr id="6" name="card-247"/>
          <p:cNvSpPr/>
          <p:nvPr/>
        </p:nvSpPr>
        <p:spPr>
          <a:xfrm>
            <a:off x="7589520" y="1188720"/>
            <a:ext cx="4069080" cy="4937760"/>
          </a:xfrm>
          <a:prstGeom prst="roundRect">
            <a:avLst>
              <a:gd name="adj" fmla="val 2697"/>
            </a:avLst>
          </a:prstGeom>
          <a:solidFill>
            <a:schemeClr val="tx2"/>
          </a:solidFill>
          <a:ln w="6350">
            <a:solidFill>
              <a:schemeClr val="tx2"/>
            </a:solidFill>
            <a:prstDash val="solid"/>
          </a:ln>
        </p:spPr>
        <p:txBody>
          <a:bodyPr/>
          <a:lstStyle/>
          <a:p>
            <a:endParaRPr lang="en-US"/>
          </a:p>
        </p:txBody>
      </p:sp>
      <p:sp>
        <p:nvSpPr>
          <p:cNvPr id="7" name="text-248"/>
          <p:cNvSpPr txBox="1"/>
          <p:nvPr/>
        </p:nvSpPr>
        <p:spPr>
          <a:xfrm>
            <a:off x="7818120" y="1371600"/>
            <a:ext cx="3657600" cy="365760"/>
          </a:xfrm>
          <a:prstGeom prst="rect">
            <a:avLst/>
          </a:prstGeom>
          <a:noFill/>
          <a:ln/>
        </p:spPr>
        <p:txBody>
          <a:bodyPr wrap="square" lIns="0" tIns="0" rIns="0" bIns="0" rtlCol="0" anchor="t"/>
          <a:lstStyle/>
          <a:p>
            <a:pPr marL="0" indent="0">
              <a:buNone/>
            </a:pPr>
            <a:r>
              <a:rPr lang="en-US" sz="1600" b="1" dirty="0">
                <a:solidFill>
                  <a:srgbClr val="B9A8FF"/>
                </a:solidFill>
              </a:rPr>
              <a:t>Every question carries metadata</a:t>
            </a:r>
            <a:endParaRPr lang="en-US" sz="1600" dirty="0"/>
          </a:p>
        </p:txBody>
      </p:sp>
      <p:sp>
        <p:nvSpPr>
          <p:cNvPr id="8" name="text-249"/>
          <p:cNvSpPr txBox="1"/>
          <p:nvPr/>
        </p:nvSpPr>
        <p:spPr>
          <a:xfrm>
            <a:off x="7818120" y="1828800"/>
            <a:ext cx="3703320" cy="3383280"/>
          </a:xfrm>
          <a:prstGeom prst="rect">
            <a:avLst/>
          </a:prstGeom>
          <a:noFill/>
          <a:ln/>
        </p:spPr>
        <p:txBody>
          <a:bodyPr wrap="square" lIns="0" tIns="0" rIns="0" bIns="0" rtlCol="0" anchor="t"/>
          <a:lstStyle/>
          <a:p>
            <a:pPr marL="0" indent="0">
              <a:buNone/>
            </a:pPr>
            <a:r>
              <a:rPr lang="en-US" sz="1400" dirty="0">
                <a:solidFill>
                  <a:srgbClr val="E6E1FF"/>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E6E1FF"/>
                </a:solidFill>
                <a:latin typeface="Courier New" pitchFamily="34" charset="0"/>
                <a:ea typeface="Courier New" pitchFamily="34" charset="-122"/>
                <a:cs typeface="Courier New" pitchFamily="34" charset="-120"/>
              </a:rPr>
              <a:t> "label": "Mentor feedback?",</a:t>
            </a:r>
            <a:endParaRPr lang="en-US" sz="1400" dirty="0"/>
          </a:p>
          <a:p>
            <a:pPr marL="0" indent="0">
              <a:buNone/>
            </a:pPr>
            <a:r>
              <a:rPr lang="en-US" sz="1400" dirty="0">
                <a:solidFill>
                  <a:srgbClr val="E6E1FF"/>
                </a:solidFill>
                <a:latin typeface="Courier New" pitchFamily="34" charset="0"/>
                <a:ea typeface="Courier New" pitchFamily="34" charset="-122"/>
                <a:cs typeface="Courier New" pitchFamily="34" charset="-120"/>
              </a:rPr>
              <a:t> "type": "RATING",</a:t>
            </a:r>
            <a:endParaRPr lang="en-US" sz="1400" dirty="0"/>
          </a:p>
          <a:p>
            <a:pPr marL="0" indent="0">
              <a:buNone/>
            </a:pPr>
            <a:r>
              <a:rPr lang="en-US" sz="1400" dirty="0">
                <a:solidFill>
                  <a:srgbClr val="E6E1FF"/>
                </a:solidFill>
                <a:latin typeface="Courier New" pitchFamily="34" charset="0"/>
                <a:ea typeface="Courier New" pitchFamily="34" charset="-122"/>
                <a:cs typeface="Courier New" pitchFamily="34" charset="-120"/>
              </a:rPr>
              <a:t> "required": false,</a:t>
            </a:r>
            <a:endParaRPr lang="en-US" sz="1400" dirty="0"/>
          </a:p>
          <a:p>
            <a:pPr marL="0" indent="0">
              <a:buNone/>
            </a:pPr>
            <a:r>
              <a:rPr lang="en-US" sz="1400" dirty="0">
                <a:solidFill>
                  <a:srgbClr val="E6E1FF"/>
                </a:solidFill>
                <a:latin typeface="Courier New" pitchFamily="34" charset="0"/>
                <a:ea typeface="Courier New" pitchFamily="34" charset="-122"/>
                <a:cs typeface="Courier New" pitchFamily="34" charset="-120"/>
              </a:rPr>
              <a:t> "objective": "Mentoring",</a:t>
            </a:r>
            <a:endParaRPr lang="en-US" sz="1400" dirty="0"/>
          </a:p>
          <a:p>
            <a:pPr marL="0" indent="0">
              <a:buNone/>
            </a:pPr>
            <a:r>
              <a:rPr lang="en-US" sz="1400" dirty="0">
                <a:solidFill>
                  <a:srgbClr val="E6E1FF"/>
                </a:solidFill>
                <a:latin typeface="Courier New" pitchFamily="34" charset="0"/>
                <a:ea typeface="Courier New" pitchFamily="34" charset="-122"/>
                <a:cs typeface="Courier New" pitchFamily="34" charset="-120"/>
              </a:rPr>
              <a:t> "informationTarget":</a:t>
            </a:r>
            <a:endParaRPr lang="en-US" sz="1400" dirty="0"/>
          </a:p>
          <a:p>
            <a:pPr marL="0" indent="0">
              <a:buNone/>
            </a:pPr>
            <a:r>
              <a:rPr lang="en-US" sz="1400" dirty="0">
                <a:solidFill>
                  <a:srgbClr val="E6E1FF"/>
                </a:solidFill>
                <a:latin typeface="Courier New" pitchFamily="34" charset="0"/>
                <a:ea typeface="Courier New" pitchFamily="34" charset="-122"/>
                <a:cs typeface="Courier New" pitchFamily="34" charset="-120"/>
              </a:rPr>
              <a:t>     "mentor_quality",</a:t>
            </a:r>
            <a:endParaRPr lang="en-US" sz="1400" dirty="0"/>
          </a:p>
          <a:p>
            <a:pPr marL="0" indent="0">
              <a:buNone/>
            </a:pPr>
            <a:r>
              <a:rPr lang="en-US" sz="1400" dirty="0">
                <a:solidFill>
                  <a:srgbClr val="E6E1FF"/>
                </a:solidFill>
                <a:latin typeface="Courier New" pitchFamily="34" charset="0"/>
                <a:ea typeface="Courier New" pitchFamily="34" charset="-122"/>
                <a:cs typeface="Courier New" pitchFamily="34" charset="-120"/>
              </a:rPr>
              <a:t> "estimatedSeconds": 12,</a:t>
            </a:r>
            <a:endParaRPr lang="en-US" sz="1400" dirty="0"/>
          </a:p>
          <a:p>
            <a:pPr marL="0" indent="0">
              <a:buNone/>
            </a:pPr>
            <a:r>
              <a:rPr lang="en-US" sz="1400" dirty="0">
                <a:solidFill>
                  <a:srgbClr val="E6E1FF"/>
                </a:solidFill>
                <a:latin typeface="Courier New" pitchFamily="34" charset="0"/>
                <a:ea typeface="Courier New" pitchFamily="34" charset="-122"/>
                <a:cs typeface="Courier New" pitchFamily="34" charset="-120"/>
              </a:rPr>
              <a:t> "relevance": 0.9</a:t>
            </a:r>
            <a:endParaRPr lang="en-US" sz="1400" dirty="0"/>
          </a:p>
          <a:p>
            <a:pPr marL="0" indent="0">
              <a:buNone/>
            </a:pPr>
            <a:r>
              <a:rPr lang="en-US" sz="1400" dirty="0">
                <a:solidFill>
                  <a:srgbClr val="E6E1FF"/>
                </a:solidFill>
                <a:latin typeface="Courier New" pitchFamily="34" charset="0"/>
                <a:ea typeface="Courier New" pitchFamily="34" charset="-122"/>
                <a:cs typeface="Courier New" pitchFamily="34" charset="-120"/>
              </a:rPr>
              <a:t>}</a:t>
            </a:r>
            <a:endParaRPr lang="en-US" sz="1400" dirty="0"/>
          </a:p>
        </p:txBody>
      </p:sp>
      <p:sp>
        <p:nvSpPr>
          <p:cNvPr id="9" name="text-250"/>
          <p:cNvSpPr txBox="1"/>
          <p:nvPr/>
        </p:nvSpPr>
        <p:spPr>
          <a:xfrm>
            <a:off x="7818120" y="5349240"/>
            <a:ext cx="3657600" cy="548640"/>
          </a:xfrm>
          <a:prstGeom prst="rect">
            <a:avLst/>
          </a:prstGeom>
          <a:noFill/>
          <a:ln/>
        </p:spPr>
        <p:txBody>
          <a:bodyPr wrap="square" lIns="0" tIns="0" rIns="0" bIns="0" rtlCol="0" anchor="t"/>
          <a:lstStyle/>
          <a:p>
            <a:pPr marL="0" indent="0">
              <a:buNone/>
            </a:pPr>
            <a:r>
              <a:rPr lang="en-US" sz="1300" i="1" dirty="0">
                <a:solidFill>
                  <a:srgbClr val="CFC6FF"/>
                </a:solidFill>
              </a:rPr>
              <a:t>Used later by the analyzer and the adaptive engine</a:t>
            </a:r>
            <a:endParaRPr lang="en-US" sz="13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Form Quality Analyzer</a:t>
            </a:r>
            <a:endParaRPr lang="en-US" sz="3000" dirty="0"/>
          </a:p>
        </p:txBody>
      </p:sp>
      <p:sp>
        <p:nvSpPr>
          <p:cNvPr id="3" name="card-251"/>
          <p:cNvSpPr/>
          <p:nvPr/>
        </p:nvSpPr>
        <p:spPr>
          <a:xfrm>
            <a:off x="548640" y="1280160"/>
            <a:ext cx="3429000" cy="1234440"/>
          </a:xfrm>
          <a:prstGeom prst="roundRect">
            <a:avLst>
              <a:gd name="adj" fmla="val 8889"/>
            </a:avLst>
          </a:prstGeom>
          <a:solidFill>
            <a:srgbClr val="FFF0F0"/>
          </a:solidFill>
          <a:ln w="6350">
            <a:solidFill>
              <a:srgbClr val="FFF0F0"/>
            </a:solidFill>
            <a:prstDash val="solid"/>
          </a:ln>
        </p:spPr>
        <p:txBody>
          <a:bodyPr/>
          <a:lstStyle/>
          <a:p>
            <a:endParaRPr lang="en-US"/>
          </a:p>
        </p:txBody>
      </p:sp>
      <p:sp>
        <p:nvSpPr>
          <p:cNvPr id="4" name="text-252"/>
          <p:cNvSpPr txBox="1"/>
          <p:nvPr/>
        </p:nvSpPr>
        <p:spPr>
          <a:xfrm>
            <a:off x="777240" y="1417320"/>
            <a:ext cx="3017520" cy="365760"/>
          </a:xfrm>
          <a:prstGeom prst="rect">
            <a:avLst/>
          </a:prstGeom>
          <a:noFill/>
          <a:ln/>
        </p:spPr>
        <p:txBody>
          <a:bodyPr wrap="square" lIns="0" tIns="0" rIns="0" bIns="0" rtlCol="0" anchor="t"/>
          <a:lstStyle/>
          <a:p>
            <a:pPr marL="0" indent="0">
              <a:buNone/>
            </a:pPr>
            <a:r>
              <a:rPr lang="en-US" sz="1700" b="1" dirty="0">
                <a:solidFill>
                  <a:srgbClr val="C92A2A"/>
                </a:solidFill>
              </a:rPr>
              <a:t>Double-barrelled</a:t>
            </a:r>
            <a:endParaRPr lang="en-US" sz="1700" dirty="0"/>
          </a:p>
        </p:txBody>
      </p:sp>
      <p:sp>
        <p:nvSpPr>
          <p:cNvPr id="5" name="text-253"/>
          <p:cNvSpPr txBox="1"/>
          <p:nvPr/>
        </p:nvSpPr>
        <p:spPr>
          <a:xfrm>
            <a:off x="777240" y="1828800"/>
            <a:ext cx="3017520" cy="594360"/>
          </a:xfrm>
          <a:prstGeom prst="rect">
            <a:avLst/>
          </a:prstGeom>
          <a:noFill/>
          <a:ln/>
        </p:spPr>
        <p:txBody>
          <a:bodyPr wrap="square" lIns="0" tIns="0" rIns="0" bIns="0" rtlCol="0" anchor="t"/>
          <a:lstStyle/>
          <a:p>
            <a:pPr marL="0" indent="0">
              <a:buNone/>
            </a:pPr>
            <a:r>
              <a:rPr lang="en-US" sz="1300" i="1" dirty="0">
                <a:solidFill>
                  <a:srgbClr val="4A4565"/>
                </a:solidFill>
              </a:rPr>
              <a:t>"How satisfied were you with your mentor and project?"</a:t>
            </a:r>
            <a:endParaRPr lang="en-US" sz="1300" dirty="0"/>
          </a:p>
        </p:txBody>
      </p:sp>
      <p:sp>
        <p:nvSpPr>
          <p:cNvPr id="6" name="card-254"/>
          <p:cNvSpPr/>
          <p:nvPr/>
        </p:nvSpPr>
        <p:spPr>
          <a:xfrm>
            <a:off x="4160520" y="1280160"/>
            <a:ext cx="3429000" cy="1234440"/>
          </a:xfrm>
          <a:prstGeom prst="roundRect">
            <a:avLst>
              <a:gd name="adj" fmla="val 8889"/>
            </a:avLst>
          </a:prstGeom>
          <a:solidFill>
            <a:srgbClr val="FFF0F0"/>
          </a:solidFill>
          <a:ln w="6350">
            <a:solidFill>
              <a:srgbClr val="FFF0F0"/>
            </a:solidFill>
            <a:prstDash val="solid"/>
          </a:ln>
        </p:spPr>
        <p:txBody>
          <a:bodyPr/>
          <a:lstStyle/>
          <a:p>
            <a:endParaRPr lang="en-US"/>
          </a:p>
        </p:txBody>
      </p:sp>
      <p:sp>
        <p:nvSpPr>
          <p:cNvPr id="7" name="text-255"/>
          <p:cNvSpPr txBox="1"/>
          <p:nvPr/>
        </p:nvSpPr>
        <p:spPr>
          <a:xfrm>
            <a:off x="4389120" y="1417320"/>
            <a:ext cx="3017520" cy="365760"/>
          </a:xfrm>
          <a:prstGeom prst="rect">
            <a:avLst/>
          </a:prstGeom>
          <a:noFill/>
          <a:ln/>
        </p:spPr>
        <p:txBody>
          <a:bodyPr wrap="square" lIns="0" tIns="0" rIns="0" bIns="0" rtlCol="0" anchor="t"/>
          <a:lstStyle/>
          <a:p>
            <a:pPr marL="0" indent="0">
              <a:buNone/>
            </a:pPr>
            <a:r>
              <a:rPr lang="en-US" sz="1700" b="1" dirty="0">
                <a:solidFill>
                  <a:srgbClr val="C92A2A"/>
                </a:solidFill>
              </a:rPr>
              <a:t>Leading</a:t>
            </a:r>
            <a:endParaRPr lang="en-US" sz="1700" dirty="0"/>
          </a:p>
        </p:txBody>
      </p:sp>
      <p:sp>
        <p:nvSpPr>
          <p:cNvPr id="8" name="text-256"/>
          <p:cNvSpPr txBox="1"/>
          <p:nvPr/>
        </p:nvSpPr>
        <p:spPr>
          <a:xfrm>
            <a:off x="4389120" y="1828800"/>
            <a:ext cx="3017520" cy="594360"/>
          </a:xfrm>
          <a:prstGeom prst="rect">
            <a:avLst/>
          </a:prstGeom>
          <a:noFill/>
          <a:ln/>
        </p:spPr>
        <p:txBody>
          <a:bodyPr wrap="square" lIns="0" tIns="0" rIns="0" bIns="0" rtlCol="0" anchor="t"/>
          <a:lstStyle/>
          <a:p>
            <a:pPr marL="0" indent="0">
              <a:buNone/>
            </a:pPr>
            <a:r>
              <a:rPr lang="en-US" sz="1300" i="1" dirty="0">
                <a:solidFill>
                  <a:srgbClr val="4A4565"/>
                </a:solidFill>
              </a:rPr>
              <a:t>"How much did you enjoy our excellent service?"</a:t>
            </a:r>
            <a:endParaRPr lang="en-US" sz="1300" dirty="0"/>
          </a:p>
        </p:txBody>
      </p:sp>
      <p:sp>
        <p:nvSpPr>
          <p:cNvPr id="9" name="card-257"/>
          <p:cNvSpPr/>
          <p:nvPr/>
        </p:nvSpPr>
        <p:spPr>
          <a:xfrm>
            <a:off x="548640" y="2697480"/>
            <a:ext cx="3429000" cy="1234440"/>
          </a:xfrm>
          <a:prstGeom prst="roundRect">
            <a:avLst>
              <a:gd name="adj" fmla="val 8889"/>
            </a:avLst>
          </a:prstGeom>
          <a:solidFill>
            <a:srgbClr val="FFF0F0"/>
          </a:solidFill>
          <a:ln w="6350">
            <a:solidFill>
              <a:srgbClr val="FFF0F0"/>
            </a:solidFill>
            <a:prstDash val="solid"/>
          </a:ln>
        </p:spPr>
        <p:txBody>
          <a:bodyPr/>
          <a:lstStyle/>
          <a:p>
            <a:endParaRPr lang="en-US"/>
          </a:p>
        </p:txBody>
      </p:sp>
      <p:sp>
        <p:nvSpPr>
          <p:cNvPr id="10" name="text-258"/>
          <p:cNvSpPr txBox="1"/>
          <p:nvPr/>
        </p:nvSpPr>
        <p:spPr>
          <a:xfrm>
            <a:off x="777240" y="2834640"/>
            <a:ext cx="3017520" cy="365760"/>
          </a:xfrm>
          <a:prstGeom prst="rect">
            <a:avLst/>
          </a:prstGeom>
          <a:noFill/>
          <a:ln/>
        </p:spPr>
        <p:txBody>
          <a:bodyPr wrap="square" lIns="0" tIns="0" rIns="0" bIns="0" rtlCol="0" anchor="t"/>
          <a:lstStyle/>
          <a:p>
            <a:pPr marL="0" indent="0">
              <a:buNone/>
            </a:pPr>
            <a:r>
              <a:rPr lang="en-US" sz="1700" b="1" dirty="0">
                <a:solidFill>
                  <a:srgbClr val="C92A2A"/>
                </a:solidFill>
              </a:rPr>
              <a:t>Ambiguous</a:t>
            </a:r>
            <a:endParaRPr lang="en-US" sz="1700" dirty="0"/>
          </a:p>
        </p:txBody>
      </p:sp>
      <p:sp>
        <p:nvSpPr>
          <p:cNvPr id="11" name="text-259"/>
          <p:cNvSpPr txBox="1"/>
          <p:nvPr/>
        </p:nvSpPr>
        <p:spPr>
          <a:xfrm>
            <a:off x="777240" y="3246120"/>
            <a:ext cx="3017520" cy="594360"/>
          </a:xfrm>
          <a:prstGeom prst="rect">
            <a:avLst/>
          </a:prstGeom>
          <a:noFill/>
          <a:ln/>
        </p:spPr>
        <p:txBody>
          <a:bodyPr wrap="square" lIns="0" tIns="0" rIns="0" bIns="0" rtlCol="0" anchor="t"/>
          <a:lstStyle/>
          <a:p>
            <a:pPr marL="0" indent="0">
              <a:buNone/>
            </a:pPr>
            <a:r>
              <a:rPr lang="en-US" sz="1300" i="1" dirty="0">
                <a:solidFill>
                  <a:srgbClr val="4A4565"/>
                </a:solidFill>
              </a:rPr>
              <a:t>"Do you exercise regularly?"</a:t>
            </a:r>
            <a:endParaRPr lang="en-US" sz="1300" dirty="0"/>
          </a:p>
        </p:txBody>
      </p:sp>
      <p:sp>
        <p:nvSpPr>
          <p:cNvPr id="12" name="card-260"/>
          <p:cNvSpPr/>
          <p:nvPr/>
        </p:nvSpPr>
        <p:spPr>
          <a:xfrm>
            <a:off x="4160520" y="2697480"/>
            <a:ext cx="3429000" cy="1234440"/>
          </a:xfrm>
          <a:prstGeom prst="roundRect">
            <a:avLst>
              <a:gd name="adj" fmla="val 8889"/>
            </a:avLst>
          </a:prstGeom>
          <a:solidFill>
            <a:schemeClr val="bg2"/>
          </a:solidFill>
          <a:ln w="6350">
            <a:solidFill>
              <a:schemeClr val="bg2"/>
            </a:solidFill>
            <a:prstDash val="solid"/>
          </a:ln>
        </p:spPr>
        <p:txBody>
          <a:bodyPr/>
          <a:lstStyle/>
          <a:p>
            <a:endParaRPr lang="en-US"/>
          </a:p>
        </p:txBody>
      </p:sp>
      <p:sp>
        <p:nvSpPr>
          <p:cNvPr id="13" name="text-261"/>
          <p:cNvSpPr txBox="1"/>
          <p:nvPr/>
        </p:nvSpPr>
        <p:spPr>
          <a:xfrm>
            <a:off x="4389120" y="2834640"/>
            <a:ext cx="3017520" cy="365760"/>
          </a:xfrm>
          <a:prstGeom prst="rect">
            <a:avLst/>
          </a:prstGeom>
          <a:noFill/>
          <a:ln/>
        </p:spPr>
        <p:txBody>
          <a:bodyPr wrap="square" lIns="0" tIns="0" rIns="0" bIns="0" rtlCol="0" anchor="t"/>
          <a:lstStyle/>
          <a:p>
            <a:pPr marL="0" indent="0">
              <a:buNone/>
            </a:pPr>
            <a:r>
              <a:rPr lang="en-US" sz="1700" b="1" dirty="0">
                <a:solidFill>
                  <a:schemeClr val="tx1"/>
                </a:solidFill>
              </a:rPr>
              <a:t>Redundant</a:t>
            </a:r>
            <a:endParaRPr lang="en-US" sz="1700" dirty="0"/>
          </a:p>
        </p:txBody>
      </p:sp>
      <p:sp>
        <p:nvSpPr>
          <p:cNvPr id="14" name="text-262"/>
          <p:cNvSpPr txBox="1"/>
          <p:nvPr/>
        </p:nvSpPr>
        <p:spPr>
          <a:xfrm>
            <a:off x="4389120" y="3246120"/>
            <a:ext cx="3017520" cy="594360"/>
          </a:xfrm>
          <a:prstGeom prst="rect">
            <a:avLst/>
          </a:prstGeom>
          <a:noFill/>
          <a:ln/>
        </p:spPr>
        <p:txBody>
          <a:bodyPr wrap="square" lIns="0" tIns="0" rIns="0" bIns="0" rtlCol="0" anchor="t"/>
          <a:lstStyle/>
          <a:p>
            <a:pPr marL="0" indent="0">
              <a:buNone/>
            </a:pPr>
            <a:r>
              <a:rPr lang="en-US" sz="1300" i="1" dirty="0">
                <a:solidFill>
                  <a:srgbClr val="4A4565"/>
                </a:solidFill>
              </a:rPr>
              <a:t>"How happy..." vs "How satisfied..."</a:t>
            </a:r>
            <a:endParaRPr lang="en-US" sz="1300" dirty="0"/>
          </a:p>
        </p:txBody>
      </p:sp>
      <p:sp>
        <p:nvSpPr>
          <p:cNvPr id="15" name="card-263"/>
          <p:cNvSpPr/>
          <p:nvPr/>
        </p:nvSpPr>
        <p:spPr>
          <a:xfrm>
            <a:off x="548640" y="4114800"/>
            <a:ext cx="3429000" cy="1234440"/>
          </a:xfrm>
          <a:prstGeom prst="roundRect">
            <a:avLst>
              <a:gd name="adj" fmla="val 8889"/>
            </a:avLst>
          </a:prstGeom>
          <a:solidFill>
            <a:schemeClr val="bg2"/>
          </a:solidFill>
          <a:ln w="6350">
            <a:solidFill>
              <a:schemeClr val="bg2"/>
            </a:solidFill>
            <a:prstDash val="solid"/>
          </a:ln>
        </p:spPr>
        <p:txBody>
          <a:bodyPr/>
          <a:lstStyle/>
          <a:p>
            <a:endParaRPr lang="en-US"/>
          </a:p>
        </p:txBody>
      </p:sp>
      <p:sp>
        <p:nvSpPr>
          <p:cNvPr id="16" name="text-264"/>
          <p:cNvSpPr txBox="1"/>
          <p:nvPr/>
        </p:nvSpPr>
        <p:spPr>
          <a:xfrm>
            <a:off x="777240" y="4251960"/>
            <a:ext cx="3017520" cy="365760"/>
          </a:xfrm>
          <a:prstGeom prst="rect">
            <a:avLst/>
          </a:prstGeom>
          <a:noFill/>
          <a:ln/>
        </p:spPr>
        <p:txBody>
          <a:bodyPr wrap="square" lIns="0" tIns="0" rIns="0" bIns="0" rtlCol="0" anchor="t"/>
          <a:lstStyle/>
          <a:p>
            <a:pPr marL="0" indent="0">
              <a:buNone/>
            </a:pPr>
            <a:r>
              <a:rPr lang="en-US" sz="1700" b="1" dirty="0">
                <a:solidFill>
                  <a:schemeClr val="tx1"/>
                </a:solidFill>
              </a:rPr>
              <a:t>Readability</a:t>
            </a:r>
            <a:endParaRPr lang="en-US" sz="1700" dirty="0"/>
          </a:p>
        </p:txBody>
      </p:sp>
      <p:sp>
        <p:nvSpPr>
          <p:cNvPr id="17" name="text-265"/>
          <p:cNvSpPr txBox="1"/>
          <p:nvPr/>
        </p:nvSpPr>
        <p:spPr>
          <a:xfrm>
            <a:off x="777240" y="4663440"/>
            <a:ext cx="3017520" cy="594360"/>
          </a:xfrm>
          <a:prstGeom prst="rect">
            <a:avLst/>
          </a:prstGeom>
          <a:noFill/>
          <a:ln/>
        </p:spPr>
        <p:txBody>
          <a:bodyPr wrap="square" lIns="0" tIns="0" rIns="0" bIns="0" rtlCol="0" anchor="t"/>
          <a:lstStyle/>
          <a:p>
            <a:pPr marL="0" indent="0">
              <a:buNone/>
            </a:pPr>
            <a:r>
              <a:rPr lang="en-US" sz="1300" dirty="0">
                <a:solidFill>
                  <a:srgbClr val="4A4565"/>
                </a:solidFill>
              </a:rPr>
              <a:t>Flesch below 50 (6+ words) or over 25 words</a:t>
            </a:r>
            <a:endParaRPr lang="en-US" sz="1300" dirty="0"/>
          </a:p>
        </p:txBody>
      </p:sp>
      <p:sp>
        <p:nvSpPr>
          <p:cNvPr id="18" name="card-266"/>
          <p:cNvSpPr/>
          <p:nvPr/>
        </p:nvSpPr>
        <p:spPr>
          <a:xfrm>
            <a:off x="4160520" y="4114800"/>
            <a:ext cx="3429000" cy="1234440"/>
          </a:xfrm>
          <a:prstGeom prst="roundRect">
            <a:avLst>
              <a:gd name="adj" fmla="val 8889"/>
            </a:avLst>
          </a:prstGeom>
          <a:solidFill>
            <a:schemeClr val="bg2"/>
          </a:solidFill>
          <a:ln w="6350">
            <a:solidFill>
              <a:schemeClr val="bg2"/>
            </a:solidFill>
            <a:prstDash val="solid"/>
          </a:ln>
        </p:spPr>
        <p:txBody>
          <a:bodyPr/>
          <a:lstStyle/>
          <a:p>
            <a:endParaRPr lang="en-US"/>
          </a:p>
        </p:txBody>
      </p:sp>
      <p:sp>
        <p:nvSpPr>
          <p:cNvPr id="19" name="text-267"/>
          <p:cNvSpPr txBox="1"/>
          <p:nvPr/>
        </p:nvSpPr>
        <p:spPr>
          <a:xfrm>
            <a:off x="4389120" y="4251960"/>
            <a:ext cx="3017520" cy="365760"/>
          </a:xfrm>
          <a:prstGeom prst="rect">
            <a:avLst/>
          </a:prstGeom>
          <a:noFill/>
          <a:ln/>
        </p:spPr>
        <p:txBody>
          <a:bodyPr wrap="square" lIns="0" tIns="0" rIns="0" bIns="0" rtlCol="0" anchor="t"/>
          <a:lstStyle/>
          <a:p>
            <a:pPr marL="0" indent="0">
              <a:buNone/>
            </a:pPr>
            <a:r>
              <a:rPr lang="en-US" sz="1700" b="1" dirty="0">
                <a:solidFill>
                  <a:schemeClr val="tx1"/>
                </a:solidFill>
              </a:rPr>
              <a:t>Burden</a:t>
            </a:r>
            <a:endParaRPr lang="en-US" sz="1700" dirty="0"/>
          </a:p>
        </p:txBody>
      </p:sp>
      <p:sp>
        <p:nvSpPr>
          <p:cNvPr id="20" name="text-268"/>
          <p:cNvSpPr txBox="1"/>
          <p:nvPr/>
        </p:nvSpPr>
        <p:spPr>
          <a:xfrm>
            <a:off x="4389120" y="4663440"/>
            <a:ext cx="3017520" cy="594360"/>
          </a:xfrm>
          <a:prstGeom prst="rect">
            <a:avLst/>
          </a:prstGeom>
          <a:noFill/>
          <a:ln/>
        </p:spPr>
        <p:txBody>
          <a:bodyPr wrap="square" lIns="0" tIns="0" rIns="0" bIns="0" rtlCol="0" anchor="t"/>
          <a:lstStyle/>
          <a:p>
            <a:pPr marL="0" indent="0">
              <a:buNone/>
            </a:pPr>
            <a:r>
              <a:rPr lang="en-US" sz="1300" dirty="0">
                <a:solidFill>
                  <a:srgbClr val="4A4565"/>
                </a:solidFill>
              </a:rPr>
              <a:t>Required ratio over 70%; time over 5 min</a:t>
            </a:r>
            <a:endParaRPr lang="en-US" sz="1300" dirty="0"/>
          </a:p>
        </p:txBody>
      </p:sp>
      <p:sp>
        <p:nvSpPr>
          <p:cNvPr id="21" name="card-269"/>
          <p:cNvSpPr/>
          <p:nvPr/>
        </p:nvSpPr>
        <p:spPr>
          <a:xfrm>
            <a:off x="7863840" y="1280160"/>
            <a:ext cx="3794760" cy="4023360"/>
          </a:xfrm>
          <a:prstGeom prst="roundRect">
            <a:avLst>
              <a:gd name="adj" fmla="val 2892"/>
            </a:avLst>
          </a:prstGeom>
          <a:solidFill>
            <a:schemeClr val="tx2"/>
          </a:solidFill>
          <a:ln w="6350">
            <a:solidFill>
              <a:schemeClr val="tx2"/>
            </a:solidFill>
            <a:prstDash val="solid"/>
          </a:ln>
        </p:spPr>
        <p:txBody>
          <a:bodyPr/>
          <a:lstStyle/>
          <a:p>
            <a:endParaRPr lang="en-US"/>
          </a:p>
        </p:txBody>
      </p:sp>
      <p:sp>
        <p:nvSpPr>
          <p:cNvPr id="22" name="text-270"/>
          <p:cNvSpPr txBox="1"/>
          <p:nvPr/>
        </p:nvSpPr>
        <p:spPr>
          <a:xfrm>
            <a:off x="8092440" y="1463040"/>
            <a:ext cx="3383280" cy="365760"/>
          </a:xfrm>
          <a:prstGeom prst="rect">
            <a:avLst/>
          </a:prstGeom>
          <a:noFill/>
          <a:ln/>
        </p:spPr>
        <p:txBody>
          <a:bodyPr wrap="square" lIns="0" tIns="0" rIns="0" bIns="0" rtlCol="0" anchor="t"/>
          <a:lstStyle/>
          <a:p>
            <a:pPr marL="0" indent="0">
              <a:buNone/>
            </a:pPr>
            <a:r>
              <a:rPr lang="en-US" sz="1600" b="1" dirty="0">
                <a:solidFill>
                  <a:srgbClr val="B9A8FF"/>
                </a:solidFill>
              </a:rPr>
              <a:t>Quality score</a:t>
            </a:r>
            <a:endParaRPr lang="en-US" sz="1600" dirty="0"/>
          </a:p>
        </p:txBody>
      </p:sp>
      <p:sp>
        <p:nvSpPr>
          <p:cNvPr id="23" name="text-271"/>
          <p:cNvSpPr txBox="1"/>
          <p:nvPr/>
        </p:nvSpPr>
        <p:spPr>
          <a:xfrm>
            <a:off x="8092440" y="1920240"/>
            <a:ext cx="3383280" cy="457200"/>
          </a:xfrm>
          <a:prstGeom prst="rect">
            <a:avLst/>
          </a:prstGeom>
          <a:noFill/>
          <a:ln/>
        </p:spPr>
        <p:txBody>
          <a:bodyPr wrap="square" lIns="0" tIns="0" rIns="0" bIns="0" rtlCol="0" anchor="t"/>
          <a:lstStyle/>
          <a:p>
            <a:pPr marL="0" indent="0">
              <a:buNone/>
            </a:pPr>
            <a:r>
              <a:rPr lang="en-US" sz="1700" b="1" dirty="0">
                <a:solidFill>
                  <a:schemeClr val="bg1"/>
                </a:solidFill>
              </a:rPr>
              <a:t>Score = max(0, 100 - Σ w(issue))</a:t>
            </a:r>
            <a:endParaRPr lang="en-US" sz="1700" dirty="0"/>
          </a:p>
        </p:txBody>
      </p:sp>
      <p:sp>
        <p:nvSpPr>
          <p:cNvPr id="24" name="text-272"/>
          <p:cNvSpPr txBox="1"/>
          <p:nvPr/>
        </p:nvSpPr>
        <p:spPr>
          <a:xfrm>
            <a:off x="8092440" y="2514600"/>
            <a:ext cx="3383280" cy="16459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E6E1FF"/>
                </a:solidFill>
              </a:rPr>
              <a:t>12 for double-barrelled or leading</a:t>
            </a:r>
            <a:endParaRPr lang="en-US" sz="1400" dirty="0"/>
          </a:p>
          <a:p>
            <a:pPr marL="203200" indent="-203200">
              <a:spcAft>
                <a:spcPts val="600"/>
              </a:spcAft>
              <a:buSzPct val="100000"/>
              <a:buChar char="•"/>
            </a:pPr>
            <a:r>
              <a:rPr lang="en-US" sz="1400" dirty="0">
                <a:solidFill>
                  <a:srgbClr val="E6E1FF"/>
                </a:solidFill>
              </a:rPr>
              <a:t>8 for ambiguous or redundant</a:t>
            </a:r>
            <a:endParaRPr lang="en-US" sz="1400" dirty="0"/>
          </a:p>
          <a:p>
            <a:pPr marL="203200" indent="-203200">
              <a:spcAft>
                <a:spcPts val="600"/>
              </a:spcAft>
              <a:buSzPct val="100000"/>
              <a:buChar char="•"/>
            </a:pPr>
            <a:r>
              <a:rPr lang="en-US" sz="1400" dirty="0">
                <a:solidFill>
                  <a:srgbClr val="E6E1FF"/>
                </a:solidFill>
              </a:rPr>
              <a:t>5 for readability</a:t>
            </a:r>
            <a:endParaRPr lang="en-US" sz="1400" dirty="0"/>
          </a:p>
          <a:p>
            <a:pPr marL="203200" indent="-203200">
              <a:spcAft>
                <a:spcPts val="600"/>
              </a:spcAft>
              <a:buSzPct val="100000"/>
              <a:buChar char="•"/>
            </a:pPr>
            <a:r>
              <a:rPr lang="en-US" sz="1400" dirty="0">
                <a:solidFill>
                  <a:srgbClr val="E6E1FF"/>
                </a:solidFill>
              </a:rPr>
              <a:t>6 for required ratio or time</a:t>
            </a:r>
            <a:endParaRPr lang="en-US" sz="1400" dirty="0"/>
          </a:p>
        </p:txBody>
      </p:sp>
      <p:sp>
        <p:nvSpPr>
          <p:cNvPr id="25" name="text-273"/>
          <p:cNvSpPr txBox="1"/>
          <p:nvPr/>
        </p:nvSpPr>
        <p:spPr>
          <a:xfrm>
            <a:off x="8092440" y="4343400"/>
            <a:ext cx="3383280" cy="822960"/>
          </a:xfrm>
          <a:prstGeom prst="rect">
            <a:avLst/>
          </a:prstGeom>
          <a:noFill/>
          <a:ln/>
        </p:spPr>
        <p:txBody>
          <a:bodyPr wrap="square" lIns="0" tIns="0" rIns="0" bIns="0" rtlCol="0" anchor="t"/>
          <a:lstStyle/>
          <a:p>
            <a:pPr marL="0" indent="0">
              <a:buNone/>
            </a:pPr>
            <a:r>
              <a:rPr lang="en-US" sz="1300" i="1" dirty="0">
                <a:solidFill>
                  <a:srgbClr val="CFC6FF"/>
                </a:solidFill>
              </a:rPr>
              <a:t>Rules run instantly in the builder; an optional AI review adds depth</a:t>
            </a:r>
            <a:endParaRPr lang="en-US" sz="1300" dirty="0"/>
          </a:p>
        </p:txBody>
      </p:sp>
      <p:sp>
        <p:nvSpPr>
          <p:cNvPr id="26" name="text-274"/>
          <p:cNvSpPr txBox="1"/>
          <p:nvPr/>
        </p:nvSpPr>
        <p:spPr>
          <a:xfrm>
            <a:off x="548640" y="5623560"/>
            <a:ext cx="11064240" cy="411480"/>
          </a:xfrm>
          <a:prstGeom prst="rect">
            <a:avLst/>
          </a:prstGeom>
          <a:noFill/>
          <a:ln/>
        </p:spPr>
        <p:txBody>
          <a:bodyPr wrap="square" lIns="0" tIns="0" rIns="0" bIns="0" rtlCol="0" anchor="t"/>
          <a:lstStyle/>
          <a:p>
            <a:pPr marL="0" indent="0">
              <a:buNone/>
            </a:pPr>
            <a:r>
              <a:rPr lang="en-US" sz="1400" dirty="0">
                <a:solidFill>
                  <a:srgbClr val="6B6785"/>
                </a:solidFill>
              </a:rPr>
              <a:t>Completion time = base time by field type + reading time (3.5 words/s) + 0.6 s per option</a:t>
            </a:r>
            <a:endParaRPr lang="en-US" sz="1400" dirty="0"/>
          </a:p>
        </p:txBody>
      </p:sp>
      <p:sp>
        <p:nvSpPr>
          <p:cNvPr id="27"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Adaptive Engine: Choosing the Next Question</a:t>
            </a:r>
            <a:endParaRPr lang="en-US" sz="3000" dirty="0"/>
          </a:p>
        </p:txBody>
      </p:sp>
      <p:sp>
        <p:nvSpPr>
          <p:cNvPr id="3" name="card-275"/>
          <p:cNvSpPr/>
          <p:nvPr/>
        </p:nvSpPr>
        <p:spPr>
          <a:xfrm>
            <a:off x="548640" y="1234440"/>
            <a:ext cx="11109960" cy="1143000"/>
          </a:xfrm>
          <a:prstGeom prst="roundRect">
            <a:avLst>
              <a:gd name="adj" fmla="val 9600"/>
            </a:avLst>
          </a:prstGeom>
          <a:solidFill>
            <a:schemeClr val="tx2"/>
          </a:solidFill>
          <a:ln w="6350">
            <a:solidFill>
              <a:schemeClr val="tx2"/>
            </a:solidFill>
            <a:prstDash val="solid"/>
          </a:ln>
        </p:spPr>
        <p:txBody>
          <a:bodyPr/>
          <a:lstStyle/>
          <a:p>
            <a:endParaRPr lang="en-US"/>
          </a:p>
        </p:txBody>
      </p:sp>
      <p:sp>
        <p:nvSpPr>
          <p:cNvPr id="4" name="text-276"/>
          <p:cNvSpPr txBox="1"/>
          <p:nvPr/>
        </p:nvSpPr>
        <p:spPr>
          <a:xfrm>
            <a:off x="822960" y="1417320"/>
            <a:ext cx="10607040" cy="777240"/>
          </a:xfrm>
          <a:prstGeom prst="rect">
            <a:avLst/>
          </a:prstGeom>
          <a:noFill/>
          <a:ln/>
        </p:spPr>
        <p:txBody>
          <a:bodyPr wrap="square" lIns="0" tIns="0" rIns="0" bIns="0" rtlCol="0" anchor="ctr"/>
          <a:lstStyle/>
          <a:p>
            <a:pPr marL="0" indent="0" algn="ctr">
              <a:buNone/>
            </a:pPr>
            <a:r>
              <a:rPr lang="en-US" sz="3000" b="1" dirty="0">
                <a:solidFill>
                  <a:schemeClr val="bg1"/>
                </a:solidFill>
              </a:rPr>
              <a:t>U(q) = α·IG(q) + β·Rel(q) + γ·Cov(q) − δ·Bur(q) − ε·Red(q)</a:t>
            </a:r>
            <a:endParaRPr lang="en-US" sz="3000" dirty="0"/>
          </a:p>
        </p:txBody>
      </p:sp>
      <p:sp>
        <p:nvSpPr>
          <p:cNvPr id="5" name="card-277"/>
          <p:cNvSpPr/>
          <p:nvPr/>
        </p:nvSpPr>
        <p:spPr>
          <a:xfrm>
            <a:off x="548640" y="2606040"/>
            <a:ext cx="2103120" cy="2606040"/>
          </a:xfrm>
          <a:prstGeom prst="roundRect">
            <a:avLst>
              <a:gd name="adj" fmla="val 5217"/>
            </a:avLst>
          </a:prstGeom>
          <a:solidFill>
            <a:schemeClr val="bg2"/>
          </a:solidFill>
          <a:ln w="6350">
            <a:solidFill>
              <a:schemeClr val="bg2"/>
            </a:solidFill>
            <a:prstDash val="solid"/>
          </a:ln>
        </p:spPr>
        <p:txBody>
          <a:bodyPr/>
          <a:lstStyle/>
          <a:p>
            <a:endParaRPr lang="en-US"/>
          </a:p>
        </p:txBody>
      </p:sp>
      <p:sp>
        <p:nvSpPr>
          <p:cNvPr id="6" name="term-278"/>
          <p:cNvSpPr/>
          <p:nvPr/>
        </p:nvSpPr>
        <p:spPr>
          <a:xfrm>
            <a:off x="1234440" y="278892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7" name="text-279"/>
          <p:cNvSpPr txBox="1"/>
          <p:nvPr/>
        </p:nvSpPr>
        <p:spPr>
          <a:xfrm>
            <a:off x="1234440" y="2788920"/>
            <a:ext cx="731520" cy="731520"/>
          </a:xfrm>
          <a:prstGeom prst="rect">
            <a:avLst/>
          </a:prstGeom>
          <a:noFill/>
          <a:ln/>
        </p:spPr>
        <p:txBody>
          <a:bodyPr wrap="square" lIns="0" tIns="0" rIns="0" bIns="0" rtlCol="0" anchor="ctr"/>
          <a:lstStyle/>
          <a:p>
            <a:pPr marL="0" indent="0" algn="ctr">
              <a:buNone/>
            </a:pPr>
            <a:r>
              <a:rPr lang="en-US" sz="1600" b="1" dirty="0">
                <a:solidFill>
                  <a:srgbClr val="FFFFFF"/>
                </a:solidFill>
              </a:rPr>
              <a:t>IG</a:t>
            </a:r>
            <a:endParaRPr lang="en-US" sz="1600" dirty="0"/>
          </a:p>
        </p:txBody>
      </p:sp>
      <p:sp>
        <p:nvSpPr>
          <p:cNvPr id="8" name="text-280"/>
          <p:cNvSpPr txBox="1"/>
          <p:nvPr/>
        </p:nvSpPr>
        <p:spPr>
          <a:xfrm>
            <a:off x="685800" y="3611880"/>
            <a:ext cx="1828800" cy="365760"/>
          </a:xfrm>
          <a:prstGeom prst="rect">
            <a:avLst/>
          </a:prstGeom>
          <a:noFill/>
          <a:ln/>
        </p:spPr>
        <p:txBody>
          <a:bodyPr wrap="square" lIns="0" tIns="0" rIns="0" bIns="0" rtlCol="0" anchor="t"/>
          <a:lstStyle/>
          <a:p>
            <a:pPr marL="0" indent="0" algn="ctr">
              <a:buNone/>
            </a:pPr>
            <a:r>
              <a:rPr lang="en-US" sz="1600" b="1" dirty="0">
                <a:solidFill>
                  <a:schemeClr val="tx1"/>
                </a:solidFill>
              </a:rPr>
              <a:t>Information gain</a:t>
            </a:r>
            <a:endParaRPr lang="en-US" sz="1600" dirty="0"/>
          </a:p>
        </p:txBody>
      </p:sp>
      <p:sp>
        <p:nvSpPr>
          <p:cNvPr id="9" name="text-281"/>
          <p:cNvSpPr txBox="1"/>
          <p:nvPr/>
        </p:nvSpPr>
        <p:spPr>
          <a:xfrm>
            <a:off x="685800" y="4005072"/>
            <a:ext cx="1828800" cy="777240"/>
          </a:xfrm>
          <a:prstGeom prst="rect">
            <a:avLst/>
          </a:prstGeom>
          <a:noFill/>
          <a:ln/>
        </p:spPr>
        <p:txBody>
          <a:bodyPr wrap="square" lIns="0" tIns="0" rIns="0" bIns="0" rtlCol="0" anchor="t"/>
          <a:lstStyle/>
          <a:p>
            <a:pPr marL="0" indent="0" algn="ctr">
              <a:buNone/>
            </a:pPr>
            <a:r>
              <a:rPr lang="en-US" sz="1200" dirty="0">
                <a:solidFill>
                  <a:srgbClr val="6B6785"/>
                </a:solidFill>
              </a:rPr>
              <a:t>Expected drop in uncertainty over all unanswered questions</a:t>
            </a:r>
            <a:endParaRPr lang="en-US" sz="1200" dirty="0"/>
          </a:p>
        </p:txBody>
      </p:sp>
      <p:sp>
        <p:nvSpPr>
          <p:cNvPr id="10" name="text-282"/>
          <p:cNvSpPr txBox="1"/>
          <p:nvPr/>
        </p:nvSpPr>
        <p:spPr>
          <a:xfrm>
            <a:off x="685800" y="4800600"/>
            <a:ext cx="1828800" cy="320040"/>
          </a:xfrm>
          <a:prstGeom prst="rect">
            <a:avLst/>
          </a:prstGeom>
          <a:noFill/>
          <a:ln/>
        </p:spPr>
        <p:txBody>
          <a:bodyPr wrap="square" lIns="0" tIns="0" rIns="0" bIns="0" rtlCol="0" anchor="t"/>
          <a:lstStyle/>
          <a:p>
            <a:pPr marL="0" indent="0" algn="ctr">
              <a:buNone/>
            </a:pPr>
            <a:r>
              <a:rPr lang="en-US" sz="1400" b="1" dirty="0">
                <a:solidFill>
                  <a:schemeClr val="accent1"/>
                </a:solidFill>
              </a:rPr>
              <a:t>α = 0.40</a:t>
            </a:r>
            <a:endParaRPr lang="en-US" sz="1400" dirty="0"/>
          </a:p>
        </p:txBody>
      </p:sp>
      <p:sp>
        <p:nvSpPr>
          <p:cNvPr id="11" name="card-283"/>
          <p:cNvSpPr/>
          <p:nvPr/>
        </p:nvSpPr>
        <p:spPr>
          <a:xfrm>
            <a:off x="2788920" y="2606040"/>
            <a:ext cx="2103120" cy="2606040"/>
          </a:xfrm>
          <a:prstGeom prst="roundRect">
            <a:avLst>
              <a:gd name="adj" fmla="val 5217"/>
            </a:avLst>
          </a:prstGeom>
          <a:solidFill>
            <a:schemeClr val="bg2"/>
          </a:solidFill>
          <a:ln w="6350">
            <a:solidFill>
              <a:schemeClr val="bg2"/>
            </a:solidFill>
            <a:prstDash val="solid"/>
          </a:ln>
        </p:spPr>
        <p:txBody>
          <a:bodyPr/>
          <a:lstStyle/>
          <a:p>
            <a:endParaRPr lang="en-US"/>
          </a:p>
        </p:txBody>
      </p:sp>
      <p:sp>
        <p:nvSpPr>
          <p:cNvPr id="12" name="term-284"/>
          <p:cNvSpPr/>
          <p:nvPr/>
        </p:nvSpPr>
        <p:spPr>
          <a:xfrm>
            <a:off x="3474720" y="2788920"/>
            <a:ext cx="731520" cy="731520"/>
          </a:xfrm>
          <a:prstGeom prst="ellipse">
            <a:avLst/>
          </a:prstGeom>
          <a:solidFill>
            <a:schemeClr val="accent4"/>
          </a:solidFill>
          <a:ln w="12700">
            <a:solidFill>
              <a:schemeClr val="accent4"/>
            </a:solidFill>
            <a:prstDash val="solid"/>
          </a:ln>
        </p:spPr>
        <p:txBody>
          <a:bodyPr/>
          <a:lstStyle/>
          <a:p>
            <a:endParaRPr lang="en-US"/>
          </a:p>
        </p:txBody>
      </p:sp>
      <p:sp>
        <p:nvSpPr>
          <p:cNvPr id="13" name="text-285"/>
          <p:cNvSpPr txBox="1"/>
          <p:nvPr/>
        </p:nvSpPr>
        <p:spPr>
          <a:xfrm>
            <a:off x="3474720" y="2788920"/>
            <a:ext cx="731520" cy="731520"/>
          </a:xfrm>
          <a:prstGeom prst="rect">
            <a:avLst/>
          </a:prstGeom>
          <a:noFill/>
          <a:ln/>
        </p:spPr>
        <p:txBody>
          <a:bodyPr wrap="square" lIns="0" tIns="0" rIns="0" bIns="0" rtlCol="0" anchor="ctr"/>
          <a:lstStyle/>
          <a:p>
            <a:pPr marL="0" indent="0" algn="ctr">
              <a:buNone/>
            </a:pPr>
            <a:r>
              <a:rPr lang="en-US" sz="1600" b="1" dirty="0">
                <a:solidFill>
                  <a:srgbClr val="FFFFFF"/>
                </a:solidFill>
              </a:rPr>
              <a:t>Rel</a:t>
            </a:r>
            <a:endParaRPr lang="en-US" sz="1600" dirty="0"/>
          </a:p>
        </p:txBody>
      </p:sp>
      <p:sp>
        <p:nvSpPr>
          <p:cNvPr id="14" name="text-286"/>
          <p:cNvSpPr txBox="1"/>
          <p:nvPr/>
        </p:nvSpPr>
        <p:spPr>
          <a:xfrm>
            <a:off x="2926080" y="3611880"/>
            <a:ext cx="1828800" cy="365760"/>
          </a:xfrm>
          <a:prstGeom prst="rect">
            <a:avLst/>
          </a:prstGeom>
          <a:noFill/>
          <a:ln/>
        </p:spPr>
        <p:txBody>
          <a:bodyPr wrap="square" lIns="0" tIns="0" rIns="0" bIns="0" rtlCol="0" anchor="t"/>
          <a:lstStyle/>
          <a:p>
            <a:pPr marL="0" indent="0" algn="ctr">
              <a:buNone/>
            </a:pPr>
            <a:r>
              <a:rPr lang="en-US" sz="1600" b="1" dirty="0">
                <a:solidFill>
                  <a:schemeClr val="tx1"/>
                </a:solidFill>
              </a:rPr>
              <a:t>Relevance</a:t>
            </a:r>
            <a:endParaRPr lang="en-US" sz="1600" dirty="0"/>
          </a:p>
        </p:txBody>
      </p:sp>
      <p:sp>
        <p:nvSpPr>
          <p:cNvPr id="15" name="text-287"/>
          <p:cNvSpPr txBox="1"/>
          <p:nvPr/>
        </p:nvSpPr>
        <p:spPr>
          <a:xfrm>
            <a:off x="2926080" y="4005072"/>
            <a:ext cx="1828800" cy="777240"/>
          </a:xfrm>
          <a:prstGeom prst="rect">
            <a:avLst/>
          </a:prstGeom>
          <a:noFill/>
          <a:ln/>
        </p:spPr>
        <p:txBody>
          <a:bodyPr wrap="square" lIns="0" tIns="0" rIns="0" bIns="0" rtlCol="0" anchor="t"/>
          <a:lstStyle/>
          <a:p>
            <a:pPr marL="0" indent="0" algn="ctr">
              <a:buNone/>
            </a:pPr>
            <a:r>
              <a:rPr lang="en-US" sz="1200" dirty="0">
                <a:solidFill>
                  <a:srgbClr val="6B6785"/>
                </a:solidFill>
              </a:rPr>
              <a:t>How central the question is to the form objective</a:t>
            </a:r>
            <a:endParaRPr lang="en-US" sz="1200" dirty="0"/>
          </a:p>
        </p:txBody>
      </p:sp>
      <p:sp>
        <p:nvSpPr>
          <p:cNvPr id="16" name="text-288"/>
          <p:cNvSpPr txBox="1"/>
          <p:nvPr/>
        </p:nvSpPr>
        <p:spPr>
          <a:xfrm>
            <a:off x="2926080" y="4800600"/>
            <a:ext cx="1828800" cy="320040"/>
          </a:xfrm>
          <a:prstGeom prst="rect">
            <a:avLst/>
          </a:prstGeom>
          <a:noFill/>
          <a:ln/>
        </p:spPr>
        <p:txBody>
          <a:bodyPr wrap="square" lIns="0" tIns="0" rIns="0" bIns="0" rtlCol="0" anchor="t"/>
          <a:lstStyle/>
          <a:p>
            <a:pPr marL="0" indent="0" algn="ctr">
              <a:buNone/>
            </a:pPr>
            <a:r>
              <a:rPr lang="en-US" sz="1400" b="1" dirty="0">
                <a:solidFill>
                  <a:schemeClr val="accent1"/>
                </a:solidFill>
              </a:rPr>
              <a:t>β = 0.15</a:t>
            </a:r>
            <a:endParaRPr lang="en-US" sz="1400" dirty="0"/>
          </a:p>
        </p:txBody>
      </p:sp>
      <p:sp>
        <p:nvSpPr>
          <p:cNvPr id="17" name="card-289"/>
          <p:cNvSpPr/>
          <p:nvPr/>
        </p:nvSpPr>
        <p:spPr>
          <a:xfrm>
            <a:off x="5029200" y="2606040"/>
            <a:ext cx="2103120" cy="2606040"/>
          </a:xfrm>
          <a:prstGeom prst="roundRect">
            <a:avLst>
              <a:gd name="adj" fmla="val 5217"/>
            </a:avLst>
          </a:prstGeom>
          <a:solidFill>
            <a:schemeClr val="bg2"/>
          </a:solidFill>
          <a:ln w="6350">
            <a:solidFill>
              <a:schemeClr val="bg2"/>
            </a:solidFill>
            <a:prstDash val="solid"/>
          </a:ln>
        </p:spPr>
        <p:txBody>
          <a:bodyPr/>
          <a:lstStyle/>
          <a:p>
            <a:endParaRPr lang="en-US"/>
          </a:p>
        </p:txBody>
      </p:sp>
      <p:sp>
        <p:nvSpPr>
          <p:cNvPr id="18" name="term-290"/>
          <p:cNvSpPr/>
          <p:nvPr/>
        </p:nvSpPr>
        <p:spPr>
          <a:xfrm>
            <a:off x="5715000" y="2788920"/>
            <a:ext cx="731520" cy="731520"/>
          </a:xfrm>
          <a:prstGeom prst="ellipse">
            <a:avLst/>
          </a:prstGeom>
          <a:solidFill>
            <a:schemeClr val="accent2"/>
          </a:solidFill>
          <a:ln w="12700">
            <a:solidFill>
              <a:schemeClr val="accent2"/>
            </a:solidFill>
            <a:prstDash val="solid"/>
          </a:ln>
        </p:spPr>
        <p:txBody>
          <a:bodyPr/>
          <a:lstStyle/>
          <a:p>
            <a:endParaRPr lang="en-US"/>
          </a:p>
        </p:txBody>
      </p:sp>
      <p:sp>
        <p:nvSpPr>
          <p:cNvPr id="19" name="text-291"/>
          <p:cNvSpPr txBox="1"/>
          <p:nvPr/>
        </p:nvSpPr>
        <p:spPr>
          <a:xfrm>
            <a:off x="5715000" y="2788920"/>
            <a:ext cx="731520" cy="731520"/>
          </a:xfrm>
          <a:prstGeom prst="rect">
            <a:avLst/>
          </a:prstGeom>
          <a:noFill/>
          <a:ln/>
        </p:spPr>
        <p:txBody>
          <a:bodyPr wrap="square" lIns="0" tIns="0" rIns="0" bIns="0" rtlCol="0" anchor="ctr"/>
          <a:lstStyle/>
          <a:p>
            <a:pPr marL="0" indent="0" algn="ctr">
              <a:buNone/>
            </a:pPr>
            <a:r>
              <a:rPr lang="en-US" sz="1600" b="1" dirty="0">
                <a:solidFill>
                  <a:srgbClr val="FFFFFF"/>
                </a:solidFill>
              </a:rPr>
              <a:t>Cov</a:t>
            </a:r>
            <a:endParaRPr lang="en-US" sz="1600" dirty="0"/>
          </a:p>
        </p:txBody>
      </p:sp>
      <p:sp>
        <p:nvSpPr>
          <p:cNvPr id="20" name="text-292"/>
          <p:cNvSpPr txBox="1"/>
          <p:nvPr/>
        </p:nvSpPr>
        <p:spPr>
          <a:xfrm>
            <a:off x="5166360" y="3611880"/>
            <a:ext cx="1828800" cy="365760"/>
          </a:xfrm>
          <a:prstGeom prst="rect">
            <a:avLst/>
          </a:prstGeom>
          <a:noFill/>
          <a:ln/>
        </p:spPr>
        <p:txBody>
          <a:bodyPr wrap="square" lIns="0" tIns="0" rIns="0" bIns="0" rtlCol="0" anchor="t"/>
          <a:lstStyle/>
          <a:p>
            <a:pPr marL="0" indent="0" algn="ctr">
              <a:buNone/>
            </a:pPr>
            <a:r>
              <a:rPr lang="en-US" sz="1600" b="1" dirty="0">
                <a:solidFill>
                  <a:schemeClr val="tx1"/>
                </a:solidFill>
              </a:rPr>
              <a:t>Coverage</a:t>
            </a:r>
            <a:endParaRPr lang="en-US" sz="1600" dirty="0"/>
          </a:p>
        </p:txBody>
      </p:sp>
      <p:sp>
        <p:nvSpPr>
          <p:cNvPr id="21" name="text-293"/>
          <p:cNvSpPr txBox="1"/>
          <p:nvPr/>
        </p:nvSpPr>
        <p:spPr>
          <a:xfrm>
            <a:off x="5166360" y="4005072"/>
            <a:ext cx="1828800" cy="777240"/>
          </a:xfrm>
          <a:prstGeom prst="rect">
            <a:avLst/>
          </a:prstGeom>
          <a:noFill/>
          <a:ln/>
        </p:spPr>
        <p:txBody>
          <a:bodyPr wrap="square" lIns="0" tIns="0" rIns="0" bIns="0" rtlCol="0" anchor="t"/>
          <a:lstStyle/>
          <a:p>
            <a:pPr marL="0" indent="0" algn="ctr">
              <a:buNone/>
            </a:pPr>
            <a:r>
              <a:rPr lang="en-US" sz="1200" dirty="0">
                <a:solidFill>
                  <a:srgbClr val="6B6785"/>
                </a:solidFill>
              </a:rPr>
              <a:t>1 if its information target is still unknown</a:t>
            </a:r>
            <a:endParaRPr lang="en-US" sz="1200" dirty="0"/>
          </a:p>
        </p:txBody>
      </p:sp>
      <p:sp>
        <p:nvSpPr>
          <p:cNvPr id="22" name="text-294"/>
          <p:cNvSpPr txBox="1"/>
          <p:nvPr/>
        </p:nvSpPr>
        <p:spPr>
          <a:xfrm>
            <a:off x="5166360" y="4800600"/>
            <a:ext cx="1828800" cy="320040"/>
          </a:xfrm>
          <a:prstGeom prst="rect">
            <a:avLst/>
          </a:prstGeom>
          <a:noFill/>
          <a:ln/>
        </p:spPr>
        <p:txBody>
          <a:bodyPr wrap="square" lIns="0" tIns="0" rIns="0" bIns="0" rtlCol="0" anchor="t"/>
          <a:lstStyle/>
          <a:p>
            <a:pPr marL="0" indent="0" algn="ctr">
              <a:buNone/>
            </a:pPr>
            <a:r>
              <a:rPr lang="en-US" sz="1400" b="1" dirty="0">
                <a:solidFill>
                  <a:schemeClr val="accent1"/>
                </a:solidFill>
              </a:rPr>
              <a:t>γ = 0.20</a:t>
            </a:r>
            <a:endParaRPr lang="en-US" sz="1400" dirty="0"/>
          </a:p>
        </p:txBody>
      </p:sp>
      <p:sp>
        <p:nvSpPr>
          <p:cNvPr id="23" name="card-295"/>
          <p:cNvSpPr/>
          <p:nvPr/>
        </p:nvSpPr>
        <p:spPr>
          <a:xfrm>
            <a:off x="7269480" y="2606040"/>
            <a:ext cx="2103120" cy="2606040"/>
          </a:xfrm>
          <a:prstGeom prst="roundRect">
            <a:avLst>
              <a:gd name="adj" fmla="val 5217"/>
            </a:avLst>
          </a:prstGeom>
          <a:solidFill>
            <a:schemeClr val="bg2"/>
          </a:solidFill>
          <a:ln w="6350">
            <a:solidFill>
              <a:schemeClr val="bg2"/>
            </a:solidFill>
            <a:prstDash val="solid"/>
          </a:ln>
        </p:spPr>
        <p:txBody>
          <a:bodyPr/>
          <a:lstStyle/>
          <a:p>
            <a:endParaRPr lang="en-US"/>
          </a:p>
        </p:txBody>
      </p:sp>
      <p:sp>
        <p:nvSpPr>
          <p:cNvPr id="24" name="term-296"/>
          <p:cNvSpPr/>
          <p:nvPr/>
        </p:nvSpPr>
        <p:spPr>
          <a:xfrm>
            <a:off x="7955280" y="2788920"/>
            <a:ext cx="731520" cy="731520"/>
          </a:xfrm>
          <a:prstGeom prst="ellipse">
            <a:avLst/>
          </a:prstGeom>
          <a:solidFill>
            <a:schemeClr val="accent3"/>
          </a:solidFill>
          <a:ln w="12700">
            <a:solidFill>
              <a:schemeClr val="accent3"/>
            </a:solidFill>
            <a:prstDash val="solid"/>
          </a:ln>
        </p:spPr>
        <p:txBody>
          <a:bodyPr/>
          <a:lstStyle/>
          <a:p>
            <a:endParaRPr lang="en-US"/>
          </a:p>
        </p:txBody>
      </p:sp>
      <p:sp>
        <p:nvSpPr>
          <p:cNvPr id="25" name="text-297"/>
          <p:cNvSpPr txBox="1"/>
          <p:nvPr/>
        </p:nvSpPr>
        <p:spPr>
          <a:xfrm>
            <a:off x="7955280" y="2788920"/>
            <a:ext cx="731520" cy="731520"/>
          </a:xfrm>
          <a:prstGeom prst="rect">
            <a:avLst/>
          </a:prstGeom>
          <a:noFill/>
          <a:ln/>
        </p:spPr>
        <p:txBody>
          <a:bodyPr wrap="square" lIns="0" tIns="0" rIns="0" bIns="0" rtlCol="0" anchor="ctr"/>
          <a:lstStyle/>
          <a:p>
            <a:pPr marL="0" indent="0" algn="ctr">
              <a:buNone/>
            </a:pPr>
            <a:r>
              <a:rPr lang="en-US" sz="1600" b="1" dirty="0">
                <a:solidFill>
                  <a:srgbClr val="FFFFFF"/>
                </a:solidFill>
              </a:rPr>
              <a:t>Bur</a:t>
            </a:r>
            <a:endParaRPr lang="en-US" sz="1600" dirty="0"/>
          </a:p>
        </p:txBody>
      </p:sp>
      <p:sp>
        <p:nvSpPr>
          <p:cNvPr id="26" name="text-298"/>
          <p:cNvSpPr txBox="1"/>
          <p:nvPr/>
        </p:nvSpPr>
        <p:spPr>
          <a:xfrm>
            <a:off x="7406640" y="3611880"/>
            <a:ext cx="1828800" cy="365760"/>
          </a:xfrm>
          <a:prstGeom prst="rect">
            <a:avLst/>
          </a:prstGeom>
          <a:noFill/>
          <a:ln/>
        </p:spPr>
        <p:txBody>
          <a:bodyPr wrap="square" lIns="0" tIns="0" rIns="0" bIns="0" rtlCol="0" anchor="t"/>
          <a:lstStyle/>
          <a:p>
            <a:pPr marL="0" indent="0" algn="ctr">
              <a:buNone/>
            </a:pPr>
            <a:r>
              <a:rPr lang="en-US" sz="1600" b="1" dirty="0">
                <a:solidFill>
                  <a:schemeClr val="tx1"/>
                </a:solidFill>
              </a:rPr>
              <a:t>Burden</a:t>
            </a:r>
            <a:endParaRPr lang="en-US" sz="1600" dirty="0"/>
          </a:p>
        </p:txBody>
      </p:sp>
      <p:sp>
        <p:nvSpPr>
          <p:cNvPr id="27" name="text-299"/>
          <p:cNvSpPr txBox="1"/>
          <p:nvPr/>
        </p:nvSpPr>
        <p:spPr>
          <a:xfrm>
            <a:off x="7406640" y="4005072"/>
            <a:ext cx="1828800" cy="777240"/>
          </a:xfrm>
          <a:prstGeom prst="rect">
            <a:avLst/>
          </a:prstGeom>
          <a:noFill/>
          <a:ln/>
        </p:spPr>
        <p:txBody>
          <a:bodyPr wrap="square" lIns="0" tIns="0" rIns="0" bIns="0" rtlCol="0" anchor="t"/>
          <a:lstStyle/>
          <a:p>
            <a:pPr marL="0" indent="0" algn="ctr">
              <a:buNone/>
            </a:pPr>
            <a:r>
              <a:rPr lang="en-US" sz="1200" dirty="0">
                <a:solidFill>
                  <a:srgbClr val="6B6785"/>
                </a:solidFill>
              </a:rPr>
              <a:t>Estimated answering time, normalised</a:t>
            </a:r>
            <a:endParaRPr lang="en-US" sz="1200" dirty="0"/>
          </a:p>
        </p:txBody>
      </p:sp>
      <p:sp>
        <p:nvSpPr>
          <p:cNvPr id="28" name="text-300"/>
          <p:cNvSpPr txBox="1"/>
          <p:nvPr/>
        </p:nvSpPr>
        <p:spPr>
          <a:xfrm>
            <a:off x="7406640" y="4800600"/>
            <a:ext cx="1828800" cy="320040"/>
          </a:xfrm>
          <a:prstGeom prst="rect">
            <a:avLst/>
          </a:prstGeom>
          <a:noFill/>
          <a:ln/>
        </p:spPr>
        <p:txBody>
          <a:bodyPr wrap="square" lIns="0" tIns="0" rIns="0" bIns="0" rtlCol="0" anchor="t"/>
          <a:lstStyle/>
          <a:p>
            <a:pPr marL="0" indent="0" algn="ctr">
              <a:buNone/>
            </a:pPr>
            <a:r>
              <a:rPr lang="en-US" sz="1400" b="1" dirty="0">
                <a:solidFill>
                  <a:schemeClr val="accent1"/>
                </a:solidFill>
              </a:rPr>
              <a:t>δ = 0.10</a:t>
            </a:r>
            <a:endParaRPr lang="en-US" sz="1400" dirty="0"/>
          </a:p>
        </p:txBody>
      </p:sp>
      <p:sp>
        <p:nvSpPr>
          <p:cNvPr id="29" name="card-301"/>
          <p:cNvSpPr/>
          <p:nvPr/>
        </p:nvSpPr>
        <p:spPr>
          <a:xfrm>
            <a:off x="9509760" y="2606040"/>
            <a:ext cx="2103120" cy="2606040"/>
          </a:xfrm>
          <a:prstGeom prst="roundRect">
            <a:avLst>
              <a:gd name="adj" fmla="val 5217"/>
            </a:avLst>
          </a:prstGeom>
          <a:solidFill>
            <a:schemeClr val="bg2"/>
          </a:solidFill>
          <a:ln w="6350">
            <a:solidFill>
              <a:schemeClr val="bg2"/>
            </a:solidFill>
            <a:prstDash val="solid"/>
          </a:ln>
        </p:spPr>
        <p:txBody>
          <a:bodyPr/>
          <a:lstStyle/>
          <a:p>
            <a:endParaRPr lang="en-US"/>
          </a:p>
        </p:txBody>
      </p:sp>
      <p:sp>
        <p:nvSpPr>
          <p:cNvPr id="30" name="term-302"/>
          <p:cNvSpPr/>
          <p:nvPr/>
        </p:nvSpPr>
        <p:spPr>
          <a:xfrm>
            <a:off x="10195560" y="2788920"/>
            <a:ext cx="731520" cy="731520"/>
          </a:xfrm>
          <a:prstGeom prst="ellipse">
            <a:avLst/>
          </a:prstGeom>
          <a:solidFill>
            <a:schemeClr val="accent5"/>
          </a:solidFill>
          <a:ln w="12700">
            <a:solidFill>
              <a:schemeClr val="accent5"/>
            </a:solidFill>
            <a:prstDash val="solid"/>
          </a:ln>
        </p:spPr>
        <p:txBody>
          <a:bodyPr/>
          <a:lstStyle/>
          <a:p>
            <a:endParaRPr lang="en-US"/>
          </a:p>
        </p:txBody>
      </p:sp>
      <p:sp>
        <p:nvSpPr>
          <p:cNvPr id="31" name="text-303"/>
          <p:cNvSpPr txBox="1"/>
          <p:nvPr/>
        </p:nvSpPr>
        <p:spPr>
          <a:xfrm>
            <a:off x="10195560" y="2788920"/>
            <a:ext cx="731520" cy="731520"/>
          </a:xfrm>
          <a:prstGeom prst="rect">
            <a:avLst/>
          </a:prstGeom>
          <a:noFill/>
          <a:ln/>
        </p:spPr>
        <p:txBody>
          <a:bodyPr wrap="square" lIns="0" tIns="0" rIns="0" bIns="0" rtlCol="0" anchor="ctr"/>
          <a:lstStyle/>
          <a:p>
            <a:pPr marL="0" indent="0" algn="ctr">
              <a:buNone/>
            </a:pPr>
            <a:r>
              <a:rPr lang="en-US" sz="1600" b="1" dirty="0">
                <a:solidFill>
                  <a:srgbClr val="FFFFFF"/>
                </a:solidFill>
              </a:rPr>
              <a:t>Red</a:t>
            </a:r>
            <a:endParaRPr lang="en-US" sz="1600" dirty="0"/>
          </a:p>
        </p:txBody>
      </p:sp>
      <p:sp>
        <p:nvSpPr>
          <p:cNvPr id="32" name="text-304"/>
          <p:cNvSpPr txBox="1"/>
          <p:nvPr/>
        </p:nvSpPr>
        <p:spPr>
          <a:xfrm>
            <a:off x="9646920" y="3611880"/>
            <a:ext cx="1828800" cy="365760"/>
          </a:xfrm>
          <a:prstGeom prst="rect">
            <a:avLst/>
          </a:prstGeom>
          <a:noFill/>
          <a:ln/>
        </p:spPr>
        <p:txBody>
          <a:bodyPr wrap="square" lIns="0" tIns="0" rIns="0" bIns="0" rtlCol="0" anchor="t"/>
          <a:lstStyle/>
          <a:p>
            <a:pPr marL="0" indent="0" algn="ctr">
              <a:buNone/>
            </a:pPr>
            <a:r>
              <a:rPr lang="en-US" sz="1600" b="1" dirty="0">
                <a:solidFill>
                  <a:schemeClr val="tx1"/>
                </a:solidFill>
              </a:rPr>
              <a:t>Redundancy</a:t>
            </a:r>
            <a:endParaRPr lang="en-US" sz="1600" dirty="0"/>
          </a:p>
        </p:txBody>
      </p:sp>
      <p:sp>
        <p:nvSpPr>
          <p:cNvPr id="33" name="text-305"/>
          <p:cNvSpPr txBox="1"/>
          <p:nvPr/>
        </p:nvSpPr>
        <p:spPr>
          <a:xfrm>
            <a:off x="9646920" y="4005072"/>
            <a:ext cx="1828800" cy="777240"/>
          </a:xfrm>
          <a:prstGeom prst="rect">
            <a:avLst/>
          </a:prstGeom>
          <a:noFill/>
          <a:ln/>
        </p:spPr>
        <p:txBody>
          <a:bodyPr wrap="square" lIns="0" tIns="0" rIns="0" bIns="0" rtlCol="0" anchor="t"/>
          <a:lstStyle/>
          <a:p>
            <a:pPr marL="0" indent="0" algn="ctr">
              <a:buNone/>
            </a:pPr>
            <a:r>
              <a:rPr lang="en-US" sz="1200" dirty="0">
                <a:solidFill>
                  <a:srgbClr val="6B6785"/>
                </a:solidFill>
              </a:rPr>
              <a:t>Max normalised mutual information with answered questions</a:t>
            </a:r>
            <a:endParaRPr lang="en-US" sz="1200" dirty="0"/>
          </a:p>
        </p:txBody>
      </p:sp>
      <p:sp>
        <p:nvSpPr>
          <p:cNvPr id="34" name="text-306"/>
          <p:cNvSpPr txBox="1"/>
          <p:nvPr/>
        </p:nvSpPr>
        <p:spPr>
          <a:xfrm>
            <a:off x="9646920" y="4800600"/>
            <a:ext cx="1828800" cy="320040"/>
          </a:xfrm>
          <a:prstGeom prst="rect">
            <a:avLst/>
          </a:prstGeom>
          <a:noFill/>
          <a:ln/>
        </p:spPr>
        <p:txBody>
          <a:bodyPr wrap="square" lIns="0" tIns="0" rIns="0" bIns="0" rtlCol="0" anchor="t"/>
          <a:lstStyle/>
          <a:p>
            <a:pPr marL="0" indent="0" algn="ctr">
              <a:buNone/>
            </a:pPr>
            <a:r>
              <a:rPr lang="en-US" sz="1400" b="1" dirty="0">
                <a:solidFill>
                  <a:schemeClr val="accent1"/>
                </a:solidFill>
              </a:rPr>
              <a:t>ε = 0.30</a:t>
            </a:r>
            <a:endParaRPr lang="en-US" sz="1400" dirty="0"/>
          </a:p>
        </p:txBody>
      </p:sp>
      <p:sp>
        <p:nvSpPr>
          <p:cNvPr id="35" name="text-307"/>
          <p:cNvSpPr txBox="1"/>
          <p:nvPr/>
        </p:nvSpPr>
        <p:spPr>
          <a:xfrm>
            <a:off x="548640" y="5440680"/>
            <a:ext cx="11064240" cy="640080"/>
          </a:xfrm>
          <a:prstGeom prst="rect">
            <a:avLst/>
          </a:prstGeom>
          <a:noFill/>
          <a:ln/>
        </p:spPr>
        <p:txBody>
          <a:bodyPr wrap="square" lIns="0" tIns="0" rIns="0" bIns="0" rtlCol="0" anchor="t"/>
          <a:lstStyle/>
          <a:p>
            <a:pPr marL="0" indent="0">
              <a:buNone/>
            </a:pPr>
            <a:r>
              <a:rPr lang="en-US" sz="1500" dirty="0">
                <a:solidFill>
                  <a:srgbClr val="4A4565"/>
                </a:solidFill>
              </a:rPr>
              <a:t>Respondent model: latent class model (K = 6) fitted with EM. Posterior over classes after each answer gives predictions for every unasked question.</a:t>
            </a:r>
            <a:endParaRPr lang="en-US" sz="1500" dirty="0"/>
          </a:p>
        </p:txBody>
      </p:sp>
      <p:sp>
        <p:nvSpPr>
          <p:cNvPr id="36"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Adaptive Engine: Flow and Safety Rules</a:t>
            </a:r>
            <a:endParaRPr lang="en-US" sz="3000" dirty="0"/>
          </a:p>
        </p:txBody>
      </p:sp>
      <p:pic>
        <p:nvPicPr>
          <p:cNvPr id="3" name="img-308" descr="Adaptive engine control flow"/>
          <p:cNvPicPr>
            <a:picLocks noChangeAspect="1"/>
          </p:cNvPicPr>
          <p:nvPr/>
        </p:nvPicPr>
        <p:blipFill>
          <a:blip r:embed="rId3"/>
          <a:stretch>
            <a:fillRect/>
          </a:stretch>
        </p:blipFill>
        <p:spPr>
          <a:xfrm>
            <a:off x="741063" y="1188720"/>
            <a:ext cx="4735794" cy="5074920"/>
          </a:xfrm>
          <a:prstGeom prst="rect">
            <a:avLst/>
          </a:prstGeom>
        </p:spPr>
      </p:pic>
      <p:sp>
        <p:nvSpPr>
          <p:cNvPr id="4" name="badge-309"/>
          <p:cNvSpPr/>
          <p:nvPr/>
        </p:nvSpPr>
        <p:spPr>
          <a:xfrm>
            <a:off x="6035040" y="1353312"/>
            <a:ext cx="548640" cy="548640"/>
          </a:xfrm>
          <a:prstGeom prst="ellipse">
            <a:avLst/>
          </a:prstGeom>
          <a:solidFill>
            <a:schemeClr val="accent1"/>
          </a:solidFill>
          <a:ln w="6350">
            <a:solidFill>
              <a:schemeClr val="accent1"/>
            </a:solidFill>
            <a:prstDash val="solid"/>
          </a:ln>
        </p:spPr>
        <p:txBody>
          <a:bodyPr/>
          <a:lstStyle/>
          <a:p>
            <a:endParaRPr lang="en-US"/>
          </a:p>
        </p:txBody>
      </p:sp>
      <p:pic>
        <p:nvPicPr>
          <p:cNvPr id="5" name="icon-310" descr="icon"/>
          <p:cNvPicPr>
            <a:picLocks noChangeAspect="1"/>
          </p:cNvPicPr>
          <p:nvPr/>
        </p:nvPicPr>
        <p:blipFill>
          <a:blip r:embed="rId4"/>
          <a:stretch>
            <a:fillRect/>
          </a:stretch>
        </p:blipFill>
        <p:spPr>
          <a:xfrm>
            <a:off x="6166714" y="1484986"/>
            <a:ext cx="285293" cy="285293"/>
          </a:xfrm>
          <a:prstGeom prst="rect">
            <a:avLst/>
          </a:prstGeom>
        </p:spPr>
      </p:pic>
      <p:sp>
        <p:nvSpPr>
          <p:cNvPr id="6" name="text-311"/>
          <p:cNvSpPr txBox="1"/>
          <p:nvPr/>
        </p:nvSpPr>
        <p:spPr>
          <a:xfrm>
            <a:off x="6766560" y="1298448"/>
            <a:ext cx="4846320" cy="365760"/>
          </a:xfrm>
          <a:prstGeom prst="rect">
            <a:avLst/>
          </a:prstGeom>
          <a:noFill/>
          <a:ln/>
        </p:spPr>
        <p:txBody>
          <a:bodyPr wrap="square" lIns="0" tIns="0" rIns="0" bIns="0" rtlCol="0" anchor="t"/>
          <a:lstStyle/>
          <a:p>
            <a:pPr marL="0" indent="0">
              <a:buNone/>
            </a:pPr>
            <a:r>
              <a:rPr lang="en-US" sz="1700" b="1" dirty="0">
                <a:solidFill>
                  <a:schemeClr val="tx1"/>
                </a:solidFill>
              </a:rPr>
              <a:t>Anchors first</a:t>
            </a:r>
            <a:endParaRPr lang="en-US" sz="1700" dirty="0"/>
          </a:p>
        </p:txBody>
      </p:sp>
      <p:sp>
        <p:nvSpPr>
          <p:cNvPr id="7" name="text-312"/>
          <p:cNvSpPr txBox="1"/>
          <p:nvPr/>
        </p:nvSpPr>
        <p:spPr>
          <a:xfrm>
            <a:off x="6766560" y="1682496"/>
            <a:ext cx="4846320" cy="457200"/>
          </a:xfrm>
          <a:prstGeom prst="rect">
            <a:avLst/>
          </a:prstGeom>
          <a:noFill/>
          <a:ln/>
        </p:spPr>
        <p:txBody>
          <a:bodyPr wrap="square" lIns="0" tIns="0" rIns="0" bIns="0" rtlCol="0" anchor="t"/>
          <a:lstStyle/>
          <a:p>
            <a:pPr marL="0" indent="0">
              <a:buNone/>
            </a:pPr>
            <a:r>
              <a:rPr lang="en-US" sz="1400" dirty="0">
                <a:solidFill>
                  <a:srgbClr val="6B6785"/>
                </a:solidFill>
              </a:rPr>
              <a:t>Required questions are asked first, in the creator's order</a:t>
            </a:r>
            <a:endParaRPr lang="en-US" sz="1400" dirty="0"/>
          </a:p>
        </p:txBody>
      </p:sp>
      <p:sp>
        <p:nvSpPr>
          <p:cNvPr id="8" name="badge-313"/>
          <p:cNvSpPr/>
          <p:nvPr/>
        </p:nvSpPr>
        <p:spPr>
          <a:xfrm>
            <a:off x="6035040" y="2331720"/>
            <a:ext cx="548640" cy="548640"/>
          </a:xfrm>
          <a:prstGeom prst="ellipse">
            <a:avLst/>
          </a:prstGeom>
          <a:solidFill>
            <a:schemeClr val="accent1"/>
          </a:solidFill>
          <a:ln w="6350">
            <a:solidFill>
              <a:schemeClr val="accent1"/>
            </a:solidFill>
            <a:prstDash val="solid"/>
          </a:ln>
        </p:spPr>
        <p:txBody>
          <a:bodyPr/>
          <a:lstStyle/>
          <a:p>
            <a:endParaRPr lang="en-US"/>
          </a:p>
        </p:txBody>
      </p:sp>
      <p:pic>
        <p:nvPicPr>
          <p:cNvPr id="9" name="icon-314" descr="icon"/>
          <p:cNvPicPr>
            <a:picLocks noChangeAspect="1"/>
          </p:cNvPicPr>
          <p:nvPr/>
        </p:nvPicPr>
        <p:blipFill>
          <a:blip r:embed="rId5"/>
          <a:stretch>
            <a:fillRect/>
          </a:stretch>
        </p:blipFill>
        <p:spPr>
          <a:xfrm>
            <a:off x="6166714" y="2463394"/>
            <a:ext cx="285293" cy="285293"/>
          </a:xfrm>
          <a:prstGeom prst="rect">
            <a:avLst/>
          </a:prstGeom>
        </p:spPr>
      </p:pic>
      <p:sp>
        <p:nvSpPr>
          <p:cNvPr id="10" name="text-315"/>
          <p:cNvSpPr txBox="1"/>
          <p:nvPr/>
        </p:nvSpPr>
        <p:spPr>
          <a:xfrm>
            <a:off x="6766560" y="2276856"/>
            <a:ext cx="4846320" cy="365760"/>
          </a:xfrm>
          <a:prstGeom prst="rect">
            <a:avLst/>
          </a:prstGeom>
          <a:noFill/>
          <a:ln/>
        </p:spPr>
        <p:txBody>
          <a:bodyPr wrap="square" lIns="0" tIns="0" rIns="0" bIns="0" rtlCol="0" anchor="t"/>
          <a:lstStyle/>
          <a:p>
            <a:pPr marL="0" indent="0">
              <a:buNone/>
            </a:pPr>
            <a:r>
              <a:rPr lang="en-US" sz="1700" b="1" dirty="0">
                <a:solidFill>
                  <a:schemeClr val="tx1"/>
                </a:solidFill>
              </a:rPr>
              <a:t>Never repeat</a:t>
            </a:r>
            <a:endParaRPr lang="en-US" sz="1700" dirty="0"/>
          </a:p>
        </p:txBody>
      </p:sp>
      <p:sp>
        <p:nvSpPr>
          <p:cNvPr id="11" name="text-316"/>
          <p:cNvSpPr txBox="1"/>
          <p:nvPr/>
        </p:nvSpPr>
        <p:spPr>
          <a:xfrm>
            <a:off x="6766560" y="2660904"/>
            <a:ext cx="4846320" cy="457200"/>
          </a:xfrm>
          <a:prstGeom prst="rect">
            <a:avLst/>
          </a:prstGeom>
          <a:noFill/>
          <a:ln/>
        </p:spPr>
        <p:txBody>
          <a:bodyPr wrap="square" lIns="0" tIns="0" rIns="0" bIns="0" rtlCol="0" anchor="t"/>
          <a:lstStyle/>
          <a:p>
            <a:pPr marL="0" indent="0">
              <a:buNone/>
            </a:pPr>
            <a:r>
              <a:rPr lang="en-US" sz="1400" dirty="0">
                <a:solidFill>
                  <a:srgbClr val="6B6785"/>
                </a:solidFill>
              </a:rPr>
              <a:t>No question asked twice; never more than 10 or 240 s</a:t>
            </a:r>
            <a:endParaRPr lang="en-US" sz="1400" dirty="0"/>
          </a:p>
        </p:txBody>
      </p:sp>
      <p:sp>
        <p:nvSpPr>
          <p:cNvPr id="12" name="badge-317"/>
          <p:cNvSpPr/>
          <p:nvPr/>
        </p:nvSpPr>
        <p:spPr>
          <a:xfrm>
            <a:off x="6035040" y="3310128"/>
            <a:ext cx="548640" cy="548640"/>
          </a:xfrm>
          <a:prstGeom prst="ellipse">
            <a:avLst/>
          </a:prstGeom>
          <a:solidFill>
            <a:schemeClr val="accent1"/>
          </a:solidFill>
          <a:ln w="6350">
            <a:solidFill>
              <a:schemeClr val="accent1"/>
            </a:solidFill>
            <a:prstDash val="solid"/>
          </a:ln>
        </p:spPr>
        <p:txBody>
          <a:bodyPr/>
          <a:lstStyle/>
          <a:p>
            <a:endParaRPr lang="en-US"/>
          </a:p>
        </p:txBody>
      </p:sp>
      <p:pic>
        <p:nvPicPr>
          <p:cNvPr id="13" name="icon-318" descr="icon"/>
          <p:cNvPicPr>
            <a:picLocks noChangeAspect="1"/>
          </p:cNvPicPr>
          <p:nvPr/>
        </p:nvPicPr>
        <p:blipFill>
          <a:blip r:embed="rId6"/>
          <a:stretch>
            <a:fillRect/>
          </a:stretch>
        </p:blipFill>
        <p:spPr>
          <a:xfrm>
            <a:off x="6166714" y="3441802"/>
            <a:ext cx="285293" cy="285293"/>
          </a:xfrm>
          <a:prstGeom prst="rect">
            <a:avLst/>
          </a:prstGeom>
        </p:spPr>
      </p:pic>
      <p:sp>
        <p:nvSpPr>
          <p:cNvPr id="14" name="text-319"/>
          <p:cNvSpPr txBox="1"/>
          <p:nvPr/>
        </p:nvSpPr>
        <p:spPr>
          <a:xfrm>
            <a:off x="6766560" y="3255264"/>
            <a:ext cx="4846320" cy="365760"/>
          </a:xfrm>
          <a:prstGeom prst="rect">
            <a:avLst/>
          </a:prstGeom>
          <a:noFill/>
          <a:ln/>
        </p:spPr>
        <p:txBody>
          <a:bodyPr wrap="square" lIns="0" tIns="0" rIns="0" bIns="0" rtlCol="0" anchor="t"/>
          <a:lstStyle/>
          <a:p>
            <a:pPr marL="0" indent="0">
              <a:buNone/>
            </a:pPr>
            <a:r>
              <a:rPr lang="en-US" sz="1700" b="1" dirty="0">
                <a:solidFill>
                  <a:schemeClr val="tx1"/>
                </a:solidFill>
              </a:rPr>
              <a:t>Stop rule</a:t>
            </a:r>
            <a:endParaRPr lang="en-US" sz="1700" dirty="0"/>
          </a:p>
        </p:txBody>
      </p:sp>
      <p:sp>
        <p:nvSpPr>
          <p:cNvPr id="15" name="text-320"/>
          <p:cNvSpPr txBox="1"/>
          <p:nvPr/>
        </p:nvSpPr>
        <p:spPr>
          <a:xfrm>
            <a:off x="6766560" y="3639312"/>
            <a:ext cx="4846320" cy="457200"/>
          </a:xfrm>
          <a:prstGeom prst="rect">
            <a:avLst/>
          </a:prstGeom>
          <a:noFill/>
          <a:ln/>
        </p:spPr>
        <p:txBody>
          <a:bodyPr wrap="square" lIns="0" tIns="0" rIns="0" bIns="0" rtlCol="0" anchor="t"/>
          <a:lstStyle/>
          <a:p>
            <a:pPr marL="0" indent="0">
              <a:buNone/>
            </a:pPr>
            <a:r>
              <a:rPr lang="en-US" sz="1400" dirty="0">
                <a:solidFill>
                  <a:srgbClr val="6B6785"/>
                </a:solidFill>
              </a:rPr>
              <a:t>Coverage ≥ 80% and remaining gain &lt; 10% of maximum</a:t>
            </a:r>
            <a:endParaRPr lang="en-US" sz="1400" dirty="0"/>
          </a:p>
        </p:txBody>
      </p:sp>
      <p:sp>
        <p:nvSpPr>
          <p:cNvPr id="16" name="badge-321"/>
          <p:cNvSpPr/>
          <p:nvPr/>
        </p:nvSpPr>
        <p:spPr>
          <a:xfrm>
            <a:off x="6035040" y="4288536"/>
            <a:ext cx="548640" cy="548640"/>
          </a:xfrm>
          <a:prstGeom prst="ellipse">
            <a:avLst/>
          </a:prstGeom>
          <a:solidFill>
            <a:schemeClr val="accent1"/>
          </a:solidFill>
          <a:ln w="6350">
            <a:solidFill>
              <a:schemeClr val="accent1"/>
            </a:solidFill>
            <a:prstDash val="solid"/>
          </a:ln>
        </p:spPr>
        <p:txBody>
          <a:bodyPr/>
          <a:lstStyle/>
          <a:p>
            <a:endParaRPr lang="en-US"/>
          </a:p>
        </p:txBody>
      </p:sp>
      <p:pic>
        <p:nvPicPr>
          <p:cNvPr id="17" name="icon-322" descr="icon"/>
          <p:cNvPicPr>
            <a:picLocks noChangeAspect="1"/>
          </p:cNvPicPr>
          <p:nvPr/>
        </p:nvPicPr>
        <p:blipFill>
          <a:blip r:embed="rId7"/>
          <a:stretch>
            <a:fillRect/>
          </a:stretch>
        </p:blipFill>
        <p:spPr>
          <a:xfrm>
            <a:off x="6166714" y="4420210"/>
            <a:ext cx="285293" cy="285293"/>
          </a:xfrm>
          <a:prstGeom prst="rect">
            <a:avLst/>
          </a:prstGeom>
        </p:spPr>
      </p:pic>
      <p:sp>
        <p:nvSpPr>
          <p:cNvPr id="18" name="text-323"/>
          <p:cNvSpPr txBox="1"/>
          <p:nvPr/>
        </p:nvSpPr>
        <p:spPr>
          <a:xfrm>
            <a:off x="6766560" y="4233672"/>
            <a:ext cx="4846320" cy="365760"/>
          </a:xfrm>
          <a:prstGeom prst="rect">
            <a:avLst/>
          </a:prstGeom>
          <a:noFill/>
          <a:ln/>
        </p:spPr>
        <p:txBody>
          <a:bodyPr wrap="square" lIns="0" tIns="0" rIns="0" bIns="0" rtlCol="0" anchor="t"/>
          <a:lstStyle/>
          <a:p>
            <a:pPr marL="0" indent="0">
              <a:buNone/>
            </a:pPr>
            <a:r>
              <a:rPr lang="en-US" sz="1700" b="1" dirty="0">
                <a:solidFill>
                  <a:schemeClr val="tx1"/>
                </a:solidFill>
              </a:rPr>
              <a:t>Honest output</a:t>
            </a:r>
            <a:endParaRPr lang="en-US" sz="1700" dirty="0"/>
          </a:p>
        </p:txBody>
      </p:sp>
      <p:sp>
        <p:nvSpPr>
          <p:cNvPr id="19" name="text-324"/>
          <p:cNvSpPr txBox="1"/>
          <p:nvPr/>
        </p:nvSpPr>
        <p:spPr>
          <a:xfrm>
            <a:off x="6766560" y="4617720"/>
            <a:ext cx="4846320" cy="457200"/>
          </a:xfrm>
          <a:prstGeom prst="rect">
            <a:avLst/>
          </a:prstGeom>
          <a:noFill/>
          <a:ln/>
        </p:spPr>
        <p:txBody>
          <a:bodyPr wrap="square" lIns="0" tIns="0" rIns="0" bIns="0" rtlCol="0" anchor="t"/>
          <a:lstStyle/>
          <a:p>
            <a:pPr marL="0" indent="0">
              <a:buNone/>
            </a:pPr>
            <a:r>
              <a:rPr lang="en-US" sz="1400" dirty="0">
                <a:solidFill>
                  <a:srgbClr val="6B6785"/>
                </a:solidFill>
              </a:rPr>
              <a:t>Skipped answers predicted, stored and labelled separately</a:t>
            </a:r>
            <a:endParaRPr lang="en-US" sz="1400" dirty="0"/>
          </a:p>
        </p:txBody>
      </p:sp>
      <p:sp>
        <p:nvSpPr>
          <p:cNvPr id="20" name="badge-325"/>
          <p:cNvSpPr/>
          <p:nvPr/>
        </p:nvSpPr>
        <p:spPr>
          <a:xfrm>
            <a:off x="6035040" y="5266944"/>
            <a:ext cx="548640" cy="548640"/>
          </a:xfrm>
          <a:prstGeom prst="ellipse">
            <a:avLst/>
          </a:prstGeom>
          <a:solidFill>
            <a:schemeClr val="accent1"/>
          </a:solidFill>
          <a:ln w="6350">
            <a:solidFill>
              <a:schemeClr val="accent1"/>
            </a:solidFill>
            <a:prstDash val="solid"/>
          </a:ln>
        </p:spPr>
        <p:txBody>
          <a:bodyPr/>
          <a:lstStyle/>
          <a:p>
            <a:endParaRPr lang="en-US"/>
          </a:p>
        </p:txBody>
      </p:sp>
      <p:pic>
        <p:nvPicPr>
          <p:cNvPr id="21" name="icon-326" descr="icon"/>
          <p:cNvPicPr>
            <a:picLocks noChangeAspect="1"/>
          </p:cNvPicPr>
          <p:nvPr/>
        </p:nvPicPr>
        <p:blipFill>
          <a:blip r:embed="rId8"/>
          <a:stretch>
            <a:fillRect/>
          </a:stretch>
        </p:blipFill>
        <p:spPr>
          <a:xfrm>
            <a:off x="6166714" y="5398618"/>
            <a:ext cx="285293" cy="285293"/>
          </a:xfrm>
          <a:prstGeom prst="rect">
            <a:avLst/>
          </a:prstGeom>
        </p:spPr>
      </p:pic>
      <p:sp>
        <p:nvSpPr>
          <p:cNvPr id="22" name="text-327"/>
          <p:cNvSpPr txBox="1"/>
          <p:nvPr/>
        </p:nvSpPr>
        <p:spPr>
          <a:xfrm>
            <a:off x="6766560" y="5212080"/>
            <a:ext cx="4846320" cy="365760"/>
          </a:xfrm>
          <a:prstGeom prst="rect">
            <a:avLst/>
          </a:prstGeom>
          <a:noFill/>
          <a:ln/>
        </p:spPr>
        <p:txBody>
          <a:bodyPr wrap="square" lIns="0" tIns="0" rIns="0" bIns="0" rtlCol="0" anchor="t"/>
          <a:lstStyle/>
          <a:p>
            <a:pPr marL="0" indent="0">
              <a:buNone/>
            </a:pPr>
            <a:r>
              <a:rPr lang="en-US" sz="1700" b="1" dirty="0">
                <a:solidFill>
                  <a:schemeClr val="tx1"/>
                </a:solidFill>
              </a:rPr>
              <a:t>Hidden scores</a:t>
            </a:r>
            <a:endParaRPr lang="en-US" sz="1700" dirty="0"/>
          </a:p>
        </p:txBody>
      </p:sp>
      <p:sp>
        <p:nvSpPr>
          <p:cNvPr id="23" name="text-328"/>
          <p:cNvSpPr txBox="1"/>
          <p:nvPr/>
        </p:nvSpPr>
        <p:spPr>
          <a:xfrm>
            <a:off x="6766560" y="5596128"/>
            <a:ext cx="4846320" cy="457200"/>
          </a:xfrm>
          <a:prstGeom prst="rect">
            <a:avLst/>
          </a:prstGeom>
          <a:noFill/>
          <a:ln/>
        </p:spPr>
        <p:txBody>
          <a:bodyPr wrap="square" lIns="0" tIns="0" rIns="0" bIns="0" rtlCol="0" anchor="t"/>
          <a:lstStyle/>
          <a:p>
            <a:pPr marL="0" indent="0">
              <a:buNone/>
            </a:pPr>
            <a:r>
              <a:rPr lang="en-US" sz="1400" dirty="0">
                <a:solidFill>
                  <a:srgbClr val="6B6785"/>
                </a:solidFill>
              </a:rPr>
              <a:t>Respondents never see utilities or predictions</a:t>
            </a:r>
            <a:endParaRPr lang="en-US" sz="14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Cold Start with Synthetic Respondents</a:t>
            </a:r>
            <a:endParaRPr lang="en-US" sz="3000" dirty="0"/>
          </a:p>
        </p:txBody>
      </p:sp>
      <p:sp>
        <p:nvSpPr>
          <p:cNvPr id="3" name="badge-329"/>
          <p:cNvSpPr/>
          <p:nvPr/>
        </p:nvSpPr>
        <p:spPr>
          <a:xfrm>
            <a:off x="1234440" y="1371600"/>
            <a:ext cx="685800" cy="685800"/>
          </a:xfrm>
          <a:prstGeom prst="ellipse">
            <a:avLst/>
          </a:prstGeom>
          <a:solidFill>
            <a:schemeClr val="accent1"/>
          </a:solidFill>
          <a:ln w="6350">
            <a:solidFill>
              <a:schemeClr val="accent1"/>
            </a:solidFill>
            <a:prstDash val="solid"/>
          </a:ln>
        </p:spPr>
        <p:txBody>
          <a:bodyPr/>
          <a:lstStyle/>
          <a:p>
            <a:endParaRPr lang="en-US"/>
          </a:p>
        </p:txBody>
      </p:sp>
      <p:pic>
        <p:nvPicPr>
          <p:cNvPr id="4" name="icon-330" descr="icon"/>
          <p:cNvPicPr>
            <a:picLocks noChangeAspect="1"/>
          </p:cNvPicPr>
          <p:nvPr/>
        </p:nvPicPr>
        <p:blipFill>
          <a:blip r:embed="rId3"/>
          <a:stretch>
            <a:fillRect/>
          </a:stretch>
        </p:blipFill>
        <p:spPr>
          <a:xfrm>
            <a:off x="1399032" y="1536192"/>
            <a:ext cx="356616" cy="356616"/>
          </a:xfrm>
          <a:prstGeom prst="rect">
            <a:avLst/>
          </a:prstGeom>
        </p:spPr>
      </p:pic>
      <p:sp>
        <p:nvSpPr>
          <p:cNvPr id="5" name="text-331"/>
          <p:cNvSpPr txBox="1"/>
          <p:nvPr/>
        </p:nvSpPr>
        <p:spPr>
          <a:xfrm>
            <a:off x="548640" y="2194560"/>
            <a:ext cx="2057400" cy="411480"/>
          </a:xfrm>
          <a:prstGeom prst="rect">
            <a:avLst/>
          </a:prstGeom>
          <a:noFill/>
          <a:ln/>
        </p:spPr>
        <p:txBody>
          <a:bodyPr wrap="square" lIns="0" tIns="0" rIns="0" bIns="0" rtlCol="0" anchor="t"/>
          <a:lstStyle/>
          <a:p>
            <a:pPr marL="0" indent="0" algn="ctr">
              <a:buNone/>
            </a:pPr>
            <a:r>
              <a:rPr lang="en-US" sz="1600" b="1" dirty="0">
                <a:solidFill>
                  <a:schemeClr val="tx1"/>
                </a:solidFill>
              </a:rPr>
              <a:t>New form</a:t>
            </a:r>
            <a:endParaRPr lang="en-US" sz="1600" dirty="0"/>
          </a:p>
        </p:txBody>
      </p:sp>
      <p:sp>
        <p:nvSpPr>
          <p:cNvPr id="6" name="text-332"/>
          <p:cNvSpPr txBox="1"/>
          <p:nvPr/>
        </p:nvSpPr>
        <p:spPr>
          <a:xfrm>
            <a:off x="548640" y="2606040"/>
            <a:ext cx="2057400" cy="640080"/>
          </a:xfrm>
          <a:prstGeom prst="rect">
            <a:avLst/>
          </a:prstGeom>
          <a:noFill/>
          <a:ln/>
        </p:spPr>
        <p:txBody>
          <a:bodyPr wrap="square" lIns="0" tIns="0" rIns="0" bIns="0" rtlCol="0" anchor="t"/>
          <a:lstStyle/>
          <a:p>
            <a:pPr marL="0" indent="0" algn="ctr">
              <a:buNone/>
            </a:pPr>
            <a:r>
              <a:rPr lang="en-US" sz="1300" dirty="0">
                <a:solidFill>
                  <a:srgbClr val="6B6785"/>
                </a:solidFill>
              </a:rPr>
              <a:t>0 real responses</a:t>
            </a:r>
            <a:endParaRPr lang="en-US" sz="1300" dirty="0"/>
          </a:p>
        </p:txBody>
      </p:sp>
      <p:sp>
        <p:nvSpPr>
          <p:cNvPr id="7" name="arr-333"/>
          <p:cNvSpPr/>
          <p:nvPr/>
        </p:nvSpPr>
        <p:spPr>
          <a:xfrm>
            <a:off x="2514600" y="1572768"/>
            <a:ext cx="365760" cy="274320"/>
          </a:xfrm>
          <a:prstGeom prst="rightArrow">
            <a:avLst/>
          </a:prstGeom>
          <a:solidFill>
            <a:srgbClr val="C5B8FF"/>
          </a:solidFill>
          <a:ln w="12700">
            <a:solidFill>
              <a:srgbClr val="C5B8FF"/>
            </a:solidFill>
            <a:prstDash val="solid"/>
          </a:ln>
        </p:spPr>
        <p:txBody>
          <a:bodyPr/>
          <a:lstStyle/>
          <a:p>
            <a:endParaRPr lang="en-US"/>
          </a:p>
        </p:txBody>
      </p:sp>
      <p:sp>
        <p:nvSpPr>
          <p:cNvPr id="8" name="badge-334"/>
          <p:cNvSpPr/>
          <p:nvPr/>
        </p:nvSpPr>
        <p:spPr>
          <a:xfrm>
            <a:off x="3502152" y="1371600"/>
            <a:ext cx="685800" cy="685800"/>
          </a:xfrm>
          <a:prstGeom prst="ellipse">
            <a:avLst/>
          </a:prstGeom>
          <a:solidFill>
            <a:schemeClr val="accent1"/>
          </a:solidFill>
          <a:ln w="6350">
            <a:solidFill>
              <a:schemeClr val="accent1"/>
            </a:solidFill>
            <a:prstDash val="solid"/>
          </a:ln>
        </p:spPr>
        <p:txBody>
          <a:bodyPr/>
          <a:lstStyle/>
          <a:p>
            <a:endParaRPr lang="en-US"/>
          </a:p>
        </p:txBody>
      </p:sp>
      <p:pic>
        <p:nvPicPr>
          <p:cNvPr id="9" name="icon-335" descr="icon"/>
          <p:cNvPicPr>
            <a:picLocks noChangeAspect="1"/>
          </p:cNvPicPr>
          <p:nvPr/>
        </p:nvPicPr>
        <p:blipFill>
          <a:blip r:embed="rId4"/>
          <a:stretch>
            <a:fillRect/>
          </a:stretch>
        </p:blipFill>
        <p:spPr>
          <a:xfrm>
            <a:off x="3666744" y="1536192"/>
            <a:ext cx="356616" cy="356616"/>
          </a:xfrm>
          <a:prstGeom prst="rect">
            <a:avLst/>
          </a:prstGeom>
        </p:spPr>
      </p:pic>
      <p:sp>
        <p:nvSpPr>
          <p:cNvPr id="10" name="text-336"/>
          <p:cNvSpPr txBox="1"/>
          <p:nvPr/>
        </p:nvSpPr>
        <p:spPr>
          <a:xfrm>
            <a:off x="2816352" y="2194560"/>
            <a:ext cx="2057400" cy="411480"/>
          </a:xfrm>
          <a:prstGeom prst="rect">
            <a:avLst/>
          </a:prstGeom>
          <a:noFill/>
          <a:ln/>
        </p:spPr>
        <p:txBody>
          <a:bodyPr wrap="square" lIns="0" tIns="0" rIns="0" bIns="0" rtlCol="0" anchor="t"/>
          <a:lstStyle/>
          <a:p>
            <a:pPr marL="0" indent="0" algn="ctr">
              <a:buNone/>
            </a:pPr>
            <a:r>
              <a:rPr lang="en-US" sz="1600" b="1" dirty="0">
                <a:solidFill>
                  <a:schemeClr val="tx1"/>
                </a:solidFill>
              </a:rPr>
              <a:t>Personas</a:t>
            </a:r>
            <a:endParaRPr lang="en-US" sz="1600" dirty="0"/>
          </a:p>
        </p:txBody>
      </p:sp>
      <p:sp>
        <p:nvSpPr>
          <p:cNvPr id="11" name="text-337"/>
          <p:cNvSpPr txBox="1"/>
          <p:nvPr/>
        </p:nvSpPr>
        <p:spPr>
          <a:xfrm>
            <a:off x="2816352" y="2606040"/>
            <a:ext cx="2057400" cy="640080"/>
          </a:xfrm>
          <a:prstGeom prst="rect">
            <a:avLst/>
          </a:prstGeom>
          <a:noFill/>
          <a:ln/>
        </p:spPr>
        <p:txBody>
          <a:bodyPr wrap="square" lIns="0" tIns="0" rIns="0" bIns="0" rtlCol="0" anchor="t"/>
          <a:lstStyle/>
          <a:p>
            <a:pPr marL="0" indent="0" algn="ctr">
              <a:buNone/>
            </a:pPr>
            <a:r>
              <a:rPr lang="en-US" sz="1300" dirty="0">
                <a:solidFill>
                  <a:srgbClr val="6B6785"/>
                </a:solidFill>
              </a:rPr>
              <a:t>The LLM writes varied respondent profiles</a:t>
            </a:r>
            <a:endParaRPr lang="en-US" sz="1300" dirty="0"/>
          </a:p>
        </p:txBody>
      </p:sp>
      <p:sp>
        <p:nvSpPr>
          <p:cNvPr id="12" name="arr-338"/>
          <p:cNvSpPr/>
          <p:nvPr/>
        </p:nvSpPr>
        <p:spPr>
          <a:xfrm>
            <a:off x="4782312" y="1572768"/>
            <a:ext cx="365760" cy="274320"/>
          </a:xfrm>
          <a:prstGeom prst="rightArrow">
            <a:avLst/>
          </a:prstGeom>
          <a:solidFill>
            <a:srgbClr val="C5B8FF"/>
          </a:solidFill>
          <a:ln w="12700">
            <a:solidFill>
              <a:srgbClr val="C5B8FF"/>
            </a:solidFill>
            <a:prstDash val="solid"/>
          </a:ln>
        </p:spPr>
        <p:txBody>
          <a:bodyPr/>
          <a:lstStyle/>
          <a:p>
            <a:endParaRPr lang="en-US"/>
          </a:p>
        </p:txBody>
      </p:sp>
      <p:sp>
        <p:nvSpPr>
          <p:cNvPr id="13" name="badge-339"/>
          <p:cNvSpPr/>
          <p:nvPr/>
        </p:nvSpPr>
        <p:spPr>
          <a:xfrm>
            <a:off x="5769864" y="1371600"/>
            <a:ext cx="685800" cy="685800"/>
          </a:xfrm>
          <a:prstGeom prst="ellipse">
            <a:avLst/>
          </a:prstGeom>
          <a:solidFill>
            <a:schemeClr val="accent1"/>
          </a:solidFill>
          <a:ln w="6350">
            <a:solidFill>
              <a:schemeClr val="accent1"/>
            </a:solidFill>
            <a:prstDash val="solid"/>
          </a:ln>
        </p:spPr>
        <p:txBody>
          <a:bodyPr/>
          <a:lstStyle/>
          <a:p>
            <a:endParaRPr lang="en-US"/>
          </a:p>
        </p:txBody>
      </p:sp>
      <p:pic>
        <p:nvPicPr>
          <p:cNvPr id="14" name="icon-340" descr="icon"/>
          <p:cNvPicPr>
            <a:picLocks noChangeAspect="1"/>
          </p:cNvPicPr>
          <p:nvPr/>
        </p:nvPicPr>
        <p:blipFill>
          <a:blip r:embed="rId5"/>
          <a:stretch>
            <a:fillRect/>
          </a:stretch>
        </p:blipFill>
        <p:spPr>
          <a:xfrm>
            <a:off x="5934456" y="1536192"/>
            <a:ext cx="356616" cy="356616"/>
          </a:xfrm>
          <a:prstGeom prst="rect">
            <a:avLst/>
          </a:prstGeom>
        </p:spPr>
      </p:pic>
      <p:sp>
        <p:nvSpPr>
          <p:cNvPr id="15" name="text-341"/>
          <p:cNvSpPr txBox="1"/>
          <p:nvPr/>
        </p:nvSpPr>
        <p:spPr>
          <a:xfrm>
            <a:off x="5084064" y="2194560"/>
            <a:ext cx="2057400" cy="411480"/>
          </a:xfrm>
          <a:prstGeom prst="rect">
            <a:avLst/>
          </a:prstGeom>
          <a:noFill/>
          <a:ln/>
        </p:spPr>
        <p:txBody>
          <a:bodyPr wrap="square" lIns="0" tIns="0" rIns="0" bIns="0" rtlCol="0" anchor="t"/>
          <a:lstStyle/>
          <a:p>
            <a:pPr marL="0" indent="0" algn="ctr">
              <a:buNone/>
            </a:pPr>
            <a:r>
              <a:rPr lang="en-US" sz="1600" b="1" dirty="0">
                <a:solidFill>
                  <a:schemeClr val="tx1"/>
                </a:solidFill>
              </a:rPr>
              <a:t>Synthetic answers</a:t>
            </a:r>
            <a:endParaRPr lang="en-US" sz="1600" dirty="0"/>
          </a:p>
        </p:txBody>
      </p:sp>
      <p:sp>
        <p:nvSpPr>
          <p:cNvPr id="16" name="text-342"/>
          <p:cNvSpPr txBox="1"/>
          <p:nvPr/>
        </p:nvSpPr>
        <p:spPr>
          <a:xfrm>
            <a:off x="5084064" y="2606040"/>
            <a:ext cx="2057400" cy="640080"/>
          </a:xfrm>
          <a:prstGeom prst="rect">
            <a:avLst/>
          </a:prstGeom>
          <a:noFill/>
          <a:ln/>
        </p:spPr>
        <p:txBody>
          <a:bodyPr wrap="square" lIns="0" tIns="0" rIns="0" bIns="0" rtlCol="0" anchor="t"/>
          <a:lstStyle/>
          <a:p>
            <a:pPr marL="0" indent="0" algn="ctr">
              <a:buNone/>
            </a:pPr>
            <a:r>
              <a:rPr lang="en-US" sz="1300" dirty="0">
                <a:solidFill>
                  <a:srgbClr val="6B6785"/>
                </a:solidFill>
              </a:rPr>
              <a:t>Options shuffled per persona, letter-labelled</a:t>
            </a:r>
            <a:endParaRPr lang="en-US" sz="1300" dirty="0"/>
          </a:p>
        </p:txBody>
      </p:sp>
      <p:sp>
        <p:nvSpPr>
          <p:cNvPr id="17" name="arr-343"/>
          <p:cNvSpPr/>
          <p:nvPr/>
        </p:nvSpPr>
        <p:spPr>
          <a:xfrm>
            <a:off x="7050024" y="1572768"/>
            <a:ext cx="365760" cy="274320"/>
          </a:xfrm>
          <a:prstGeom prst="rightArrow">
            <a:avLst/>
          </a:prstGeom>
          <a:solidFill>
            <a:srgbClr val="C5B8FF"/>
          </a:solidFill>
          <a:ln w="12700">
            <a:solidFill>
              <a:srgbClr val="C5B8FF"/>
            </a:solidFill>
            <a:prstDash val="solid"/>
          </a:ln>
        </p:spPr>
        <p:txBody>
          <a:bodyPr/>
          <a:lstStyle/>
          <a:p>
            <a:endParaRPr lang="en-US"/>
          </a:p>
        </p:txBody>
      </p:sp>
      <p:sp>
        <p:nvSpPr>
          <p:cNvPr id="18" name="badge-344"/>
          <p:cNvSpPr/>
          <p:nvPr/>
        </p:nvSpPr>
        <p:spPr>
          <a:xfrm>
            <a:off x="8037576" y="1371600"/>
            <a:ext cx="685800" cy="685800"/>
          </a:xfrm>
          <a:prstGeom prst="ellipse">
            <a:avLst/>
          </a:prstGeom>
          <a:solidFill>
            <a:schemeClr val="accent1"/>
          </a:solidFill>
          <a:ln w="6350">
            <a:solidFill>
              <a:schemeClr val="accent1"/>
            </a:solidFill>
            <a:prstDash val="solid"/>
          </a:ln>
        </p:spPr>
        <p:txBody>
          <a:bodyPr/>
          <a:lstStyle/>
          <a:p>
            <a:endParaRPr lang="en-US"/>
          </a:p>
        </p:txBody>
      </p:sp>
      <p:pic>
        <p:nvPicPr>
          <p:cNvPr id="19" name="icon-345" descr="icon"/>
          <p:cNvPicPr>
            <a:picLocks noChangeAspect="1"/>
          </p:cNvPicPr>
          <p:nvPr/>
        </p:nvPicPr>
        <p:blipFill>
          <a:blip r:embed="rId6"/>
          <a:stretch>
            <a:fillRect/>
          </a:stretch>
        </p:blipFill>
        <p:spPr>
          <a:xfrm>
            <a:off x="8202168" y="1536192"/>
            <a:ext cx="356616" cy="356616"/>
          </a:xfrm>
          <a:prstGeom prst="rect">
            <a:avLst/>
          </a:prstGeom>
        </p:spPr>
      </p:pic>
      <p:sp>
        <p:nvSpPr>
          <p:cNvPr id="20" name="text-346"/>
          <p:cNvSpPr txBox="1"/>
          <p:nvPr/>
        </p:nvSpPr>
        <p:spPr>
          <a:xfrm>
            <a:off x="7351776" y="2194560"/>
            <a:ext cx="2057400" cy="411480"/>
          </a:xfrm>
          <a:prstGeom prst="rect">
            <a:avLst/>
          </a:prstGeom>
          <a:noFill/>
          <a:ln/>
        </p:spPr>
        <p:txBody>
          <a:bodyPr wrap="square" lIns="0" tIns="0" rIns="0" bIns="0" rtlCol="0" anchor="t"/>
          <a:lstStyle/>
          <a:p>
            <a:pPr marL="0" indent="0" algn="ctr">
              <a:buNone/>
            </a:pPr>
            <a:r>
              <a:rPr lang="en-US" sz="1600" b="1" dirty="0">
                <a:solidFill>
                  <a:schemeClr val="tx1"/>
                </a:solidFill>
              </a:rPr>
              <a:t>Weighted fit</a:t>
            </a:r>
            <a:endParaRPr lang="en-US" sz="1600" dirty="0"/>
          </a:p>
        </p:txBody>
      </p:sp>
      <p:sp>
        <p:nvSpPr>
          <p:cNvPr id="21" name="text-347"/>
          <p:cNvSpPr txBox="1"/>
          <p:nvPr/>
        </p:nvSpPr>
        <p:spPr>
          <a:xfrm>
            <a:off x="7351776" y="2606040"/>
            <a:ext cx="2057400" cy="640080"/>
          </a:xfrm>
          <a:prstGeom prst="rect">
            <a:avLst/>
          </a:prstGeom>
          <a:noFill/>
          <a:ln/>
        </p:spPr>
        <p:txBody>
          <a:bodyPr wrap="square" lIns="0" tIns="0" rIns="0" bIns="0" rtlCol="0" anchor="t"/>
          <a:lstStyle/>
          <a:p>
            <a:pPr marL="0" indent="0" algn="ctr">
              <a:buNone/>
            </a:pPr>
            <a:r>
              <a:rPr lang="en-US" sz="1300" dirty="0">
                <a:solidFill>
                  <a:srgbClr val="6B6785"/>
                </a:solidFill>
              </a:rPr>
              <a:t>EM on synthetic + real data</a:t>
            </a:r>
            <a:endParaRPr lang="en-US" sz="1300" dirty="0"/>
          </a:p>
        </p:txBody>
      </p:sp>
      <p:sp>
        <p:nvSpPr>
          <p:cNvPr id="22" name="arr-348"/>
          <p:cNvSpPr/>
          <p:nvPr/>
        </p:nvSpPr>
        <p:spPr>
          <a:xfrm>
            <a:off x="9317736" y="1572768"/>
            <a:ext cx="365760" cy="274320"/>
          </a:xfrm>
          <a:prstGeom prst="rightArrow">
            <a:avLst/>
          </a:prstGeom>
          <a:solidFill>
            <a:srgbClr val="C5B8FF"/>
          </a:solidFill>
          <a:ln w="12700">
            <a:solidFill>
              <a:srgbClr val="C5B8FF"/>
            </a:solidFill>
            <a:prstDash val="solid"/>
          </a:ln>
        </p:spPr>
        <p:txBody>
          <a:bodyPr/>
          <a:lstStyle/>
          <a:p>
            <a:endParaRPr lang="en-US"/>
          </a:p>
        </p:txBody>
      </p:sp>
      <p:sp>
        <p:nvSpPr>
          <p:cNvPr id="23" name="badge-349"/>
          <p:cNvSpPr/>
          <p:nvPr/>
        </p:nvSpPr>
        <p:spPr>
          <a:xfrm>
            <a:off x="10305288" y="1371600"/>
            <a:ext cx="685800" cy="685800"/>
          </a:xfrm>
          <a:prstGeom prst="ellipse">
            <a:avLst/>
          </a:prstGeom>
          <a:solidFill>
            <a:schemeClr val="accent1"/>
          </a:solidFill>
          <a:ln w="6350">
            <a:solidFill>
              <a:schemeClr val="accent1"/>
            </a:solidFill>
            <a:prstDash val="solid"/>
          </a:ln>
        </p:spPr>
        <p:txBody>
          <a:bodyPr/>
          <a:lstStyle/>
          <a:p>
            <a:endParaRPr lang="en-US"/>
          </a:p>
        </p:txBody>
      </p:sp>
      <p:pic>
        <p:nvPicPr>
          <p:cNvPr id="24" name="icon-350" descr="icon"/>
          <p:cNvPicPr>
            <a:picLocks noChangeAspect="1"/>
          </p:cNvPicPr>
          <p:nvPr/>
        </p:nvPicPr>
        <p:blipFill>
          <a:blip r:embed="rId7"/>
          <a:stretch>
            <a:fillRect/>
          </a:stretch>
        </p:blipFill>
        <p:spPr>
          <a:xfrm>
            <a:off x="10469880" y="1536192"/>
            <a:ext cx="356616" cy="356616"/>
          </a:xfrm>
          <a:prstGeom prst="rect">
            <a:avLst/>
          </a:prstGeom>
        </p:spPr>
      </p:pic>
      <p:sp>
        <p:nvSpPr>
          <p:cNvPr id="25" name="text-351"/>
          <p:cNvSpPr txBox="1"/>
          <p:nvPr/>
        </p:nvSpPr>
        <p:spPr>
          <a:xfrm>
            <a:off x="9619488" y="2194560"/>
            <a:ext cx="2057400" cy="411480"/>
          </a:xfrm>
          <a:prstGeom prst="rect">
            <a:avLst/>
          </a:prstGeom>
          <a:noFill/>
          <a:ln/>
        </p:spPr>
        <p:txBody>
          <a:bodyPr wrap="square" lIns="0" tIns="0" rIns="0" bIns="0" rtlCol="0" anchor="t"/>
          <a:lstStyle/>
          <a:p>
            <a:pPr marL="0" indent="0" algn="ctr">
              <a:buNone/>
            </a:pPr>
            <a:r>
              <a:rPr lang="en-US" sz="1600" b="1" dirty="0">
                <a:solidFill>
                  <a:schemeClr val="tx1"/>
                </a:solidFill>
              </a:rPr>
              <a:t>Real data takes over</a:t>
            </a:r>
            <a:endParaRPr lang="en-US" sz="1600" dirty="0"/>
          </a:p>
        </p:txBody>
      </p:sp>
      <p:sp>
        <p:nvSpPr>
          <p:cNvPr id="26" name="text-352"/>
          <p:cNvSpPr txBox="1"/>
          <p:nvPr/>
        </p:nvSpPr>
        <p:spPr>
          <a:xfrm>
            <a:off x="9619488" y="2606040"/>
            <a:ext cx="2057400" cy="640080"/>
          </a:xfrm>
          <a:prstGeom prst="rect">
            <a:avLst/>
          </a:prstGeom>
          <a:noFill/>
          <a:ln/>
        </p:spPr>
        <p:txBody>
          <a:bodyPr wrap="square" lIns="0" tIns="0" rIns="0" bIns="0" rtlCol="0" anchor="t"/>
          <a:lstStyle/>
          <a:p>
            <a:pPr marL="0" indent="0" algn="ctr">
              <a:buNone/>
            </a:pPr>
            <a:r>
              <a:rPr lang="en-US" sz="1300" dirty="0">
                <a:solidFill>
                  <a:srgbClr val="6B6785"/>
                </a:solidFill>
              </a:rPr>
              <a:t>Synthetic weight decays</a:t>
            </a:r>
            <a:endParaRPr lang="en-US" sz="1300" dirty="0"/>
          </a:p>
        </p:txBody>
      </p:sp>
      <p:sp>
        <p:nvSpPr>
          <p:cNvPr id="27" name="card-353"/>
          <p:cNvSpPr/>
          <p:nvPr/>
        </p:nvSpPr>
        <p:spPr>
          <a:xfrm>
            <a:off x="548640" y="3520440"/>
            <a:ext cx="5486400" cy="2560320"/>
          </a:xfrm>
          <a:prstGeom prst="roundRect">
            <a:avLst>
              <a:gd name="adj" fmla="val 4286"/>
            </a:avLst>
          </a:prstGeom>
          <a:solidFill>
            <a:schemeClr val="bg2"/>
          </a:solidFill>
          <a:ln w="6350">
            <a:solidFill>
              <a:schemeClr val="bg2"/>
            </a:solidFill>
            <a:prstDash val="solid"/>
          </a:ln>
        </p:spPr>
        <p:txBody>
          <a:bodyPr/>
          <a:lstStyle/>
          <a:p>
            <a:endParaRPr lang="en-US"/>
          </a:p>
        </p:txBody>
      </p:sp>
      <p:sp>
        <p:nvSpPr>
          <p:cNvPr id="28" name="text-354"/>
          <p:cNvSpPr txBox="1"/>
          <p:nvPr/>
        </p:nvSpPr>
        <p:spPr>
          <a:xfrm>
            <a:off x="822960" y="3703320"/>
            <a:ext cx="4937760" cy="365760"/>
          </a:xfrm>
          <a:prstGeom prst="rect">
            <a:avLst/>
          </a:prstGeom>
          <a:noFill/>
          <a:ln/>
        </p:spPr>
        <p:txBody>
          <a:bodyPr wrap="square" lIns="0" tIns="0" rIns="0" bIns="0" rtlCol="0" anchor="t"/>
          <a:lstStyle/>
          <a:p>
            <a:pPr marL="0" indent="0">
              <a:buNone/>
            </a:pPr>
            <a:r>
              <a:rPr lang="en-US" sz="1600" b="1" dirty="0">
                <a:solidFill>
                  <a:schemeClr val="tx1"/>
                </a:solidFill>
              </a:rPr>
              <a:t>Synthetic weight</a:t>
            </a:r>
            <a:endParaRPr lang="en-US" sz="1600" dirty="0"/>
          </a:p>
        </p:txBody>
      </p:sp>
      <p:sp>
        <p:nvSpPr>
          <p:cNvPr id="29" name="text-355"/>
          <p:cNvSpPr txBox="1"/>
          <p:nvPr/>
        </p:nvSpPr>
        <p:spPr>
          <a:xfrm>
            <a:off x="822960" y="4160520"/>
            <a:ext cx="4937760" cy="640080"/>
          </a:xfrm>
          <a:prstGeom prst="rect">
            <a:avLst/>
          </a:prstGeom>
          <a:noFill/>
          <a:ln/>
        </p:spPr>
        <p:txBody>
          <a:bodyPr wrap="square" lIns="0" tIns="0" rIns="0" bIns="0" rtlCol="0" anchor="t"/>
          <a:lstStyle/>
          <a:p>
            <a:pPr marL="0" indent="0">
              <a:buNone/>
            </a:pPr>
            <a:r>
              <a:rPr lang="en-US" sz="3000" b="1" dirty="0">
                <a:solidFill>
                  <a:schemeClr val="accent1"/>
                </a:solidFill>
              </a:rPr>
              <a:t>w(n) = 25 / (25 + n)</a:t>
            </a:r>
            <a:endParaRPr lang="en-US" sz="3000" dirty="0"/>
          </a:p>
        </p:txBody>
      </p:sp>
      <p:sp>
        <p:nvSpPr>
          <p:cNvPr id="30" name="text-356"/>
          <p:cNvSpPr txBox="1"/>
          <p:nvPr/>
        </p:nvSpPr>
        <p:spPr>
          <a:xfrm>
            <a:off x="822960" y="4937760"/>
            <a:ext cx="4937760" cy="822960"/>
          </a:xfrm>
          <a:prstGeom prst="rect">
            <a:avLst/>
          </a:prstGeom>
          <a:noFill/>
          <a:ln/>
        </p:spPr>
        <p:txBody>
          <a:bodyPr wrap="square" lIns="0" tIns="0" rIns="0" bIns="0" rtlCol="0" anchor="t"/>
          <a:lstStyle/>
          <a:p>
            <a:pPr marL="0" indent="0">
              <a:buNone/>
            </a:pPr>
            <a:r>
              <a:rPr lang="en-US" sz="1400" dirty="0">
                <a:solidFill>
                  <a:srgbClr val="6B6785"/>
                </a:solidFill>
              </a:rPr>
              <a:t>n = real responses. Full weight at 0, half at 25, one fifth at 100.</a:t>
            </a:r>
            <a:endParaRPr lang="en-US" sz="1400" dirty="0"/>
          </a:p>
        </p:txBody>
      </p:sp>
      <p:sp>
        <p:nvSpPr>
          <p:cNvPr id="31" name="card-357"/>
          <p:cNvSpPr/>
          <p:nvPr/>
        </p:nvSpPr>
        <p:spPr>
          <a:xfrm>
            <a:off x="6172200" y="3520440"/>
            <a:ext cx="5486400" cy="2560320"/>
          </a:xfrm>
          <a:prstGeom prst="roundRect">
            <a:avLst>
              <a:gd name="adj" fmla="val 4286"/>
            </a:avLst>
          </a:prstGeom>
          <a:solidFill>
            <a:srgbClr val="FFF4E6"/>
          </a:solidFill>
          <a:ln w="6350">
            <a:solidFill>
              <a:srgbClr val="FFF4E6"/>
            </a:solidFill>
            <a:prstDash val="solid"/>
          </a:ln>
        </p:spPr>
        <p:txBody>
          <a:bodyPr/>
          <a:lstStyle/>
          <a:p>
            <a:endParaRPr lang="en-US"/>
          </a:p>
        </p:txBody>
      </p:sp>
      <p:sp>
        <p:nvSpPr>
          <p:cNvPr id="32" name="badge-358"/>
          <p:cNvSpPr/>
          <p:nvPr/>
        </p:nvSpPr>
        <p:spPr>
          <a:xfrm>
            <a:off x="6400800" y="3703320"/>
            <a:ext cx="502920" cy="502920"/>
          </a:xfrm>
          <a:prstGeom prst="ellipse">
            <a:avLst/>
          </a:prstGeom>
          <a:solidFill>
            <a:schemeClr val="accent3"/>
          </a:solidFill>
          <a:ln w="6350">
            <a:solidFill>
              <a:schemeClr val="accent3"/>
            </a:solidFill>
            <a:prstDash val="solid"/>
          </a:ln>
        </p:spPr>
        <p:txBody>
          <a:bodyPr/>
          <a:lstStyle/>
          <a:p>
            <a:endParaRPr lang="en-US"/>
          </a:p>
        </p:txBody>
      </p:sp>
      <p:pic>
        <p:nvPicPr>
          <p:cNvPr id="33" name="icon-359" descr="icon"/>
          <p:cNvPicPr>
            <a:picLocks noChangeAspect="1"/>
          </p:cNvPicPr>
          <p:nvPr/>
        </p:nvPicPr>
        <p:blipFill>
          <a:blip r:embed="rId8"/>
          <a:stretch>
            <a:fillRect/>
          </a:stretch>
        </p:blipFill>
        <p:spPr>
          <a:xfrm>
            <a:off x="6521501" y="3824021"/>
            <a:ext cx="261518" cy="261518"/>
          </a:xfrm>
          <a:prstGeom prst="rect">
            <a:avLst/>
          </a:prstGeom>
        </p:spPr>
      </p:pic>
      <p:sp>
        <p:nvSpPr>
          <p:cNvPr id="34" name="text-360"/>
          <p:cNvSpPr txBox="1"/>
          <p:nvPr/>
        </p:nvSpPr>
        <p:spPr>
          <a:xfrm>
            <a:off x="7040880" y="3749040"/>
            <a:ext cx="4480560" cy="411480"/>
          </a:xfrm>
          <a:prstGeom prst="rect">
            <a:avLst/>
          </a:prstGeom>
          <a:noFill/>
          <a:ln/>
        </p:spPr>
        <p:txBody>
          <a:bodyPr wrap="square" lIns="0" tIns="0" rIns="0" bIns="0" rtlCol="0" anchor="t"/>
          <a:lstStyle/>
          <a:p>
            <a:pPr marL="0" indent="0">
              <a:buNone/>
            </a:pPr>
            <a:r>
              <a:rPr lang="en-US" sz="1600" b="1" dirty="0">
                <a:solidFill>
                  <a:schemeClr val="tx1"/>
                </a:solidFill>
              </a:rPr>
              <a:t>Used only to initialise, never as data</a:t>
            </a:r>
            <a:endParaRPr lang="en-US" sz="1600" dirty="0"/>
          </a:p>
        </p:txBody>
      </p:sp>
      <p:sp>
        <p:nvSpPr>
          <p:cNvPr id="35" name="text-361"/>
          <p:cNvSpPr txBox="1"/>
          <p:nvPr/>
        </p:nvSpPr>
        <p:spPr>
          <a:xfrm>
            <a:off x="6400800" y="4343400"/>
            <a:ext cx="5029200" cy="1554480"/>
          </a:xfrm>
          <a:prstGeom prst="rect">
            <a:avLst/>
          </a:prstGeom>
          <a:noFill/>
          <a:ln/>
        </p:spPr>
        <p:txBody>
          <a:bodyPr wrap="square" lIns="0" tIns="0" rIns="0" bIns="0" rtlCol="0" anchor="t"/>
          <a:lstStyle/>
          <a:p>
            <a:pPr marL="0" indent="0">
              <a:buNone/>
            </a:pPr>
            <a:r>
              <a:rPr lang="en-US" sz="1400" dirty="0">
                <a:solidFill>
                  <a:srgbClr val="4A4565"/>
                </a:solidFill>
              </a:rPr>
              <a:t>LLM respondents show low variance and an acquiescence shift of +0.84 SD (Lukauskas &amp; Šarkauskaitė, 2026; Bisbee et al., 2024). Synthetic rows are kept apart and never appear in responses, exports or insights.</a:t>
            </a:r>
            <a:endParaRPr lang="en-US" sz="1400" dirty="0"/>
          </a:p>
        </p:txBody>
      </p:sp>
      <p:sp>
        <p:nvSpPr>
          <p:cNvPr id="36"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Privacy Layer and Response Intelligence</a:t>
            </a:r>
            <a:endParaRPr lang="en-US" sz="3000" dirty="0"/>
          </a:p>
        </p:txBody>
      </p:sp>
      <p:pic>
        <p:nvPicPr>
          <p:cNvPr id="3" name="img-362" descr="Privacy-preserving insights pipeline"/>
          <p:cNvPicPr>
            <a:picLocks noChangeAspect="1"/>
          </p:cNvPicPr>
          <p:nvPr/>
        </p:nvPicPr>
        <p:blipFill>
          <a:blip r:embed="rId3"/>
          <a:stretch>
            <a:fillRect/>
          </a:stretch>
        </p:blipFill>
        <p:spPr>
          <a:xfrm>
            <a:off x="548640" y="1146163"/>
            <a:ext cx="6400800" cy="3011194"/>
          </a:xfrm>
          <a:prstGeom prst="rect">
            <a:avLst/>
          </a:prstGeom>
        </p:spPr>
      </p:pic>
      <p:sp>
        <p:nvSpPr>
          <p:cNvPr id="4" name="card-363"/>
          <p:cNvSpPr/>
          <p:nvPr/>
        </p:nvSpPr>
        <p:spPr>
          <a:xfrm>
            <a:off x="548640" y="4343400"/>
            <a:ext cx="6400800" cy="1783080"/>
          </a:xfrm>
          <a:prstGeom prst="roundRect">
            <a:avLst>
              <a:gd name="adj" fmla="val 6154"/>
            </a:avLst>
          </a:prstGeom>
          <a:solidFill>
            <a:srgbClr val="F8F9FA"/>
          </a:solidFill>
          <a:ln w="6350">
            <a:solidFill>
              <a:srgbClr val="F8F9FA"/>
            </a:solidFill>
            <a:prstDash val="solid"/>
          </a:ln>
        </p:spPr>
        <p:txBody>
          <a:bodyPr/>
          <a:lstStyle/>
          <a:p>
            <a:endParaRPr lang="en-US"/>
          </a:p>
        </p:txBody>
      </p:sp>
      <p:sp>
        <p:nvSpPr>
          <p:cNvPr id="5" name="text-364"/>
          <p:cNvSpPr txBox="1"/>
          <p:nvPr/>
        </p:nvSpPr>
        <p:spPr>
          <a:xfrm>
            <a:off x="777240" y="4480560"/>
            <a:ext cx="5943600" cy="365760"/>
          </a:xfrm>
          <a:prstGeom prst="rect">
            <a:avLst/>
          </a:prstGeom>
          <a:noFill/>
          <a:ln/>
        </p:spPr>
        <p:txBody>
          <a:bodyPr wrap="square" lIns="0" tIns="0" rIns="0" bIns="0" rtlCol="0" anchor="t"/>
          <a:lstStyle/>
          <a:p>
            <a:pPr marL="0" indent="0">
              <a:buNone/>
            </a:pPr>
            <a:r>
              <a:rPr lang="en-US" sz="1500" b="1" dirty="0">
                <a:solidFill>
                  <a:schemeClr val="tx1"/>
                </a:solidFill>
              </a:rPr>
              <a:t>Masking example</a:t>
            </a:r>
            <a:endParaRPr lang="en-US" sz="1500" dirty="0"/>
          </a:p>
        </p:txBody>
      </p:sp>
      <p:sp>
        <p:nvSpPr>
          <p:cNvPr id="6" name="text-365"/>
          <p:cNvSpPr txBox="1"/>
          <p:nvPr/>
        </p:nvSpPr>
        <p:spPr>
          <a:xfrm>
            <a:off x="777240" y="4937760"/>
            <a:ext cx="6035040" cy="1005840"/>
          </a:xfrm>
          <a:prstGeom prst="rect">
            <a:avLst/>
          </a:prstGeom>
          <a:noFill/>
          <a:ln/>
        </p:spPr>
        <p:txBody>
          <a:bodyPr wrap="square" lIns="0" tIns="0" rIns="0" bIns="0" rtlCol="0" anchor="t"/>
          <a:lstStyle/>
          <a:p>
            <a:pPr marL="0" indent="0">
              <a:spcAft>
                <a:spcPts val="600"/>
              </a:spcAft>
              <a:buNone/>
            </a:pPr>
            <a:r>
              <a:rPr lang="en-US" sz="1500" b="1" dirty="0">
                <a:solidFill>
                  <a:srgbClr val="6B6785"/>
                </a:solidFill>
                <a:latin typeface="Courier New" pitchFamily="34" charset="0"/>
                <a:ea typeface="Courier New" pitchFamily="34" charset="-122"/>
                <a:cs typeface="Courier New" pitchFamily="34" charset="-120"/>
              </a:rPr>
              <a:t>IN   </a:t>
            </a:r>
            <a:r>
              <a:rPr lang="en-US" sz="1500" dirty="0">
                <a:solidFill>
                  <a:schemeClr val="tx1"/>
                </a:solidFill>
                <a:latin typeface="Courier New" pitchFamily="34" charset="0"/>
                <a:ea typeface="Courier New" pitchFamily="34" charset="-122"/>
                <a:cs typeface="Courier New" pitchFamily="34" charset="-120"/>
              </a:rPr>
              <a:t>Reach me on 7012345678 or at a.k@vit.ac.in</a:t>
            </a:r>
            <a:endParaRPr lang="en-US" sz="1500" dirty="0"/>
          </a:p>
          <a:p>
            <a:pPr marL="0" indent="0">
              <a:spcAft>
                <a:spcPts val="600"/>
              </a:spcAft>
              <a:buNone/>
            </a:pPr>
            <a:r>
              <a:rPr lang="en-US" sz="1500" b="1" dirty="0">
                <a:solidFill>
                  <a:schemeClr val="accent1"/>
                </a:solidFill>
                <a:latin typeface="Courier New" pitchFamily="34" charset="0"/>
                <a:ea typeface="Courier New" pitchFamily="34" charset="-122"/>
                <a:cs typeface="Courier New" pitchFamily="34" charset="-120"/>
              </a:rPr>
              <a:t>OUT </a:t>
            </a:r>
            <a:r>
              <a:rPr lang="en-US" sz="1500" dirty="0">
                <a:solidFill>
                  <a:schemeClr val="tx1"/>
                </a:solidFill>
                <a:latin typeface="Courier New" pitchFamily="34" charset="0"/>
                <a:ea typeface="Courier New" pitchFamily="34" charset="-122"/>
                <a:cs typeface="Courier New" pitchFamily="34" charset="-120"/>
              </a:rPr>
              <a:t>Reach me on [PHONE] or at [EMAIL]</a:t>
            </a:r>
            <a:endParaRPr lang="en-US" sz="1500" dirty="0"/>
          </a:p>
        </p:txBody>
      </p:sp>
      <p:sp>
        <p:nvSpPr>
          <p:cNvPr id="7" name="card-366"/>
          <p:cNvSpPr/>
          <p:nvPr/>
        </p:nvSpPr>
        <p:spPr>
          <a:xfrm>
            <a:off x="7178040" y="1143000"/>
            <a:ext cx="4480560" cy="4983480"/>
          </a:xfrm>
          <a:prstGeom prst="roundRect">
            <a:avLst>
              <a:gd name="adj" fmla="val 2449"/>
            </a:avLst>
          </a:prstGeom>
          <a:solidFill>
            <a:schemeClr val="bg2"/>
          </a:solidFill>
          <a:ln w="6350">
            <a:solidFill>
              <a:schemeClr val="bg2"/>
            </a:solidFill>
            <a:prstDash val="solid"/>
          </a:ln>
        </p:spPr>
        <p:txBody>
          <a:bodyPr/>
          <a:lstStyle/>
          <a:p>
            <a:endParaRPr lang="en-US"/>
          </a:p>
        </p:txBody>
      </p:sp>
      <p:sp>
        <p:nvSpPr>
          <p:cNvPr id="8" name="text-367"/>
          <p:cNvSpPr txBox="1"/>
          <p:nvPr/>
        </p:nvSpPr>
        <p:spPr>
          <a:xfrm>
            <a:off x="7406640" y="1325880"/>
            <a:ext cx="4023360" cy="365760"/>
          </a:xfrm>
          <a:prstGeom prst="rect">
            <a:avLst/>
          </a:prstGeom>
          <a:noFill/>
          <a:ln/>
        </p:spPr>
        <p:txBody>
          <a:bodyPr wrap="square" lIns="0" tIns="0" rIns="0" bIns="0" rtlCol="0" anchor="t"/>
          <a:lstStyle/>
          <a:p>
            <a:pPr marL="0" indent="0">
              <a:buNone/>
            </a:pPr>
            <a:r>
              <a:rPr lang="en-US" sz="1600" b="1" dirty="0">
                <a:solidFill>
                  <a:schemeClr val="tx1"/>
                </a:solidFill>
              </a:rPr>
              <a:t>Insights from open answers</a:t>
            </a:r>
            <a:endParaRPr lang="en-US" sz="1600" dirty="0"/>
          </a:p>
        </p:txBody>
      </p:sp>
      <p:sp>
        <p:nvSpPr>
          <p:cNvPr id="9" name="text-368"/>
          <p:cNvSpPr txBox="1"/>
          <p:nvPr/>
        </p:nvSpPr>
        <p:spPr>
          <a:xfrm>
            <a:off x="7406640" y="1783080"/>
            <a:ext cx="4069080" cy="20116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Summary, topics with counts, sentiment, clusters per question</a:t>
            </a:r>
            <a:endParaRPr lang="en-US" sz="1500" dirty="0"/>
          </a:p>
          <a:p>
            <a:pPr marL="203200" indent="-203200">
              <a:spcAft>
                <a:spcPts val="600"/>
              </a:spcAft>
              <a:buSzPct val="100000"/>
              <a:buChar char="•"/>
            </a:pPr>
            <a:r>
              <a:rPr lang="en-US" sz="1500" dirty="0">
                <a:solidFill>
                  <a:schemeClr val="tx1"/>
                </a:solidFill>
              </a:rPr>
              <a:t>Computed in the background every 20 responses</a:t>
            </a:r>
            <a:endParaRPr lang="en-US" sz="1500" dirty="0"/>
          </a:p>
          <a:p>
            <a:pPr marL="203200" indent="-203200">
              <a:spcAft>
                <a:spcPts val="600"/>
              </a:spcAft>
              <a:buSzPct val="100000"/>
              <a:buChar char="•"/>
            </a:pPr>
            <a:r>
              <a:rPr lang="en-US" sz="1500" dirty="0">
                <a:solidFill>
                  <a:schemeClr val="tx1"/>
                </a:solidFill>
              </a:rPr>
              <a:t>Detects email, phone, URL, IP, Aadhaar, PAN, register no., names</a:t>
            </a:r>
            <a:endParaRPr lang="en-US" sz="1500" dirty="0"/>
          </a:p>
        </p:txBody>
      </p:sp>
      <p:sp>
        <p:nvSpPr>
          <p:cNvPr id="10" name="text-369"/>
          <p:cNvSpPr txBox="1"/>
          <p:nvPr/>
        </p:nvSpPr>
        <p:spPr>
          <a:xfrm>
            <a:off x="7406640" y="3840480"/>
            <a:ext cx="4023360" cy="365760"/>
          </a:xfrm>
          <a:prstGeom prst="rect">
            <a:avLst/>
          </a:prstGeom>
          <a:noFill/>
          <a:ln/>
        </p:spPr>
        <p:txBody>
          <a:bodyPr wrap="square" lIns="0" tIns="0" rIns="0" bIns="0" rtlCol="0" anchor="t"/>
          <a:lstStyle/>
          <a:p>
            <a:pPr marL="0" indent="0">
              <a:buNone/>
            </a:pPr>
            <a:r>
              <a:rPr lang="en-US" sz="1600" b="1" dirty="0">
                <a:solidFill>
                  <a:schemeClr val="tx1"/>
                </a:solidFill>
              </a:rPr>
              <a:t>Prompt-injection safeguards</a:t>
            </a:r>
            <a:endParaRPr lang="en-US" sz="1600" dirty="0"/>
          </a:p>
        </p:txBody>
      </p:sp>
      <p:sp>
        <p:nvSpPr>
          <p:cNvPr id="11" name="text-370"/>
          <p:cNvSpPr txBox="1"/>
          <p:nvPr/>
        </p:nvSpPr>
        <p:spPr>
          <a:xfrm>
            <a:off x="7406640" y="4251960"/>
            <a:ext cx="4069080" cy="17373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Answers sent as delimited data, never as instructions</a:t>
            </a:r>
            <a:endParaRPr lang="en-US" sz="1500" dirty="0"/>
          </a:p>
          <a:p>
            <a:pPr marL="203200" indent="-203200">
              <a:spcAft>
                <a:spcPts val="600"/>
              </a:spcAft>
              <a:buSzPct val="100000"/>
              <a:buChar char="•"/>
            </a:pPr>
            <a:r>
              <a:rPr lang="en-US" sz="1500" dirty="0">
                <a:solidFill>
                  <a:schemeClr val="tx1"/>
                </a:solidFill>
              </a:rPr>
              <a:t>Model returns answer numbers, not quotes</a:t>
            </a:r>
            <a:endParaRPr lang="en-US" sz="1500" dirty="0"/>
          </a:p>
          <a:p>
            <a:pPr marL="203200" indent="-203200">
              <a:spcAft>
                <a:spcPts val="600"/>
              </a:spcAft>
              <a:buSzPct val="100000"/>
              <a:buChar char="•"/>
            </a:pPr>
            <a:r>
              <a:rPr lang="en-US" sz="1500" dirty="0">
                <a:solidFill>
                  <a:schemeClr val="tx1"/>
                </a:solidFill>
              </a:rPr>
              <a:t>Insights are display-only; never trigger actions</a:t>
            </a:r>
            <a:endParaRPr lang="en-US" sz="15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Implementation and Testing</a:t>
            </a:r>
            <a:endParaRPr lang="en-US" sz="3000" dirty="0"/>
          </a:p>
        </p:txBody>
      </p:sp>
      <p:sp>
        <p:nvSpPr>
          <p:cNvPr id="3" name="card-371"/>
          <p:cNvSpPr/>
          <p:nvPr/>
        </p:nvSpPr>
        <p:spPr>
          <a:xfrm>
            <a:off x="548640" y="1234440"/>
            <a:ext cx="2606040" cy="1508760"/>
          </a:xfrm>
          <a:prstGeom prst="roundRect">
            <a:avLst>
              <a:gd name="adj" fmla="val 7273"/>
            </a:avLst>
          </a:prstGeom>
          <a:solidFill>
            <a:schemeClr val="bg2"/>
          </a:solidFill>
          <a:ln w="6350">
            <a:solidFill>
              <a:schemeClr val="bg2"/>
            </a:solidFill>
            <a:prstDash val="solid"/>
          </a:ln>
        </p:spPr>
        <p:txBody>
          <a:bodyPr/>
          <a:lstStyle/>
          <a:p>
            <a:endParaRPr lang="en-US"/>
          </a:p>
        </p:txBody>
      </p:sp>
      <p:sp>
        <p:nvSpPr>
          <p:cNvPr id="4" name="text-372"/>
          <p:cNvSpPr txBox="1"/>
          <p:nvPr/>
        </p:nvSpPr>
        <p:spPr>
          <a:xfrm>
            <a:off x="731520" y="1325880"/>
            <a:ext cx="2240280" cy="777240"/>
          </a:xfrm>
          <a:prstGeom prst="rect">
            <a:avLst/>
          </a:prstGeom>
          <a:noFill/>
          <a:ln/>
        </p:spPr>
        <p:txBody>
          <a:bodyPr wrap="square" lIns="0" tIns="0" rIns="0" bIns="0" rtlCol="0" anchor="t"/>
          <a:lstStyle/>
          <a:p>
            <a:pPr marL="0" indent="0" algn="ctr">
              <a:buNone/>
            </a:pPr>
            <a:r>
              <a:rPr lang="en-US" sz="3800" b="1" dirty="0">
                <a:solidFill>
                  <a:schemeClr val="accent1"/>
                </a:solidFill>
              </a:rPr>
              <a:t>95</a:t>
            </a:r>
            <a:endParaRPr lang="en-US" sz="3800" dirty="0"/>
          </a:p>
        </p:txBody>
      </p:sp>
      <p:sp>
        <p:nvSpPr>
          <p:cNvPr id="5" name="text-373"/>
          <p:cNvSpPr txBox="1"/>
          <p:nvPr/>
        </p:nvSpPr>
        <p:spPr>
          <a:xfrm>
            <a:off x="731520" y="2103120"/>
            <a:ext cx="2240280" cy="548640"/>
          </a:xfrm>
          <a:prstGeom prst="rect">
            <a:avLst/>
          </a:prstGeom>
          <a:noFill/>
          <a:ln/>
        </p:spPr>
        <p:txBody>
          <a:bodyPr wrap="square" lIns="0" tIns="0" rIns="0" bIns="0" rtlCol="0" anchor="t"/>
          <a:lstStyle/>
          <a:p>
            <a:pPr marL="0" indent="0" algn="ctr">
              <a:buNone/>
            </a:pPr>
            <a:r>
              <a:rPr lang="en-US" sz="1300" dirty="0">
                <a:solidFill>
                  <a:srgbClr val="6B6785"/>
                </a:solidFill>
              </a:rPr>
              <a:t>unit tests, incl. 3 parity tests vs Python</a:t>
            </a:r>
            <a:endParaRPr lang="en-US" sz="1300" dirty="0"/>
          </a:p>
        </p:txBody>
      </p:sp>
      <p:sp>
        <p:nvSpPr>
          <p:cNvPr id="6" name="card-374"/>
          <p:cNvSpPr/>
          <p:nvPr/>
        </p:nvSpPr>
        <p:spPr>
          <a:xfrm>
            <a:off x="3346704" y="1234440"/>
            <a:ext cx="2606040" cy="1508760"/>
          </a:xfrm>
          <a:prstGeom prst="roundRect">
            <a:avLst>
              <a:gd name="adj" fmla="val 7273"/>
            </a:avLst>
          </a:prstGeom>
          <a:solidFill>
            <a:schemeClr val="bg2"/>
          </a:solidFill>
          <a:ln w="6350">
            <a:solidFill>
              <a:schemeClr val="bg2"/>
            </a:solidFill>
            <a:prstDash val="solid"/>
          </a:ln>
        </p:spPr>
        <p:txBody>
          <a:bodyPr/>
          <a:lstStyle/>
          <a:p>
            <a:endParaRPr lang="en-US"/>
          </a:p>
        </p:txBody>
      </p:sp>
      <p:sp>
        <p:nvSpPr>
          <p:cNvPr id="7" name="text-375"/>
          <p:cNvSpPr txBox="1"/>
          <p:nvPr/>
        </p:nvSpPr>
        <p:spPr>
          <a:xfrm>
            <a:off x="3529584" y="1325880"/>
            <a:ext cx="2240280" cy="777240"/>
          </a:xfrm>
          <a:prstGeom prst="rect">
            <a:avLst/>
          </a:prstGeom>
          <a:noFill/>
          <a:ln/>
        </p:spPr>
        <p:txBody>
          <a:bodyPr wrap="square" lIns="0" tIns="0" rIns="0" bIns="0" rtlCol="0" anchor="t"/>
          <a:lstStyle/>
          <a:p>
            <a:pPr marL="0" indent="0" algn="ctr">
              <a:buNone/>
            </a:pPr>
            <a:r>
              <a:rPr lang="en-US" sz="3800" b="1" dirty="0">
                <a:solidFill>
                  <a:schemeClr val="accent1"/>
                </a:solidFill>
              </a:rPr>
              <a:t>29 / 29</a:t>
            </a:r>
            <a:endParaRPr lang="en-US" sz="3800" dirty="0"/>
          </a:p>
        </p:txBody>
      </p:sp>
      <p:sp>
        <p:nvSpPr>
          <p:cNvPr id="8" name="text-376"/>
          <p:cNvSpPr txBox="1"/>
          <p:nvPr/>
        </p:nvSpPr>
        <p:spPr>
          <a:xfrm>
            <a:off x="3529584" y="2103120"/>
            <a:ext cx="2240280" cy="548640"/>
          </a:xfrm>
          <a:prstGeom prst="rect">
            <a:avLst/>
          </a:prstGeom>
          <a:noFill/>
          <a:ln/>
        </p:spPr>
        <p:txBody>
          <a:bodyPr wrap="square" lIns="0" tIns="0" rIns="0" bIns="0" rtlCol="0" anchor="t"/>
          <a:lstStyle/>
          <a:p>
            <a:pPr marL="0" indent="0" algn="ctr">
              <a:buNone/>
            </a:pPr>
            <a:r>
              <a:rPr lang="en-US" sz="1300" dirty="0">
                <a:solidFill>
                  <a:srgbClr val="6B6785"/>
                </a:solidFill>
              </a:rPr>
              <a:t>API tests on a real database</a:t>
            </a:r>
            <a:endParaRPr lang="en-US" sz="1300" dirty="0"/>
          </a:p>
        </p:txBody>
      </p:sp>
      <p:sp>
        <p:nvSpPr>
          <p:cNvPr id="9" name="card-377"/>
          <p:cNvSpPr/>
          <p:nvPr/>
        </p:nvSpPr>
        <p:spPr>
          <a:xfrm>
            <a:off x="6144768" y="1234440"/>
            <a:ext cx="2606040" cy="1508760"/>
          </a:xfrm>
          <a:prstGeom prst="roundRect">
            <a:avLst>
              <a:gd name="adj" fmla="val 7273"/>
            </a:avLst>
          </a:prstGeom>
          <a:solidFill>
            <a:schemeClr val="bg2"/>
          </a:solidFill>
          <a:ln w="6350">
            <a:solidFill>
              <a:schemeClr val="bg2"/>
            </a:solidFill>
            <a:prstDash val="solid"/>
          </a:ln>
        </p:spPr>
        <p:txBody>
          <a:bodyPr/>
          <a:lstStyle/>
          <a:p>
            <a:endParaRPr lang="en-US"/>
          </a:p>
        </p:txBody>
      </p:sp>
      <p:sp>
        <p:nvSpPr>
          <p:cNvPr id="10" name="text-378"/>
          <p:cNvSpPr txBox="1"/>
          <p:nvPr/>
        </p:nvSpPr>
        <p:spPr>
          <a:xfrm>
            <a:off x="6327648" y="1325880"/>
            <a:ext cx="2240280" cy="777240"/>
          </a:xfrm>
          <a:prstGeom prst="rect">
            <a:avLst/>
          </a:prstGeom>
          <a:noFill/>
          <a:ln/>
        </p:spPr>
        <p:txBody>
          <a:bodyPr wrap="square" lIns="0" tIns="0" rIns="0" bIns="0" rtlCol="0" anchor="t"/>
          <a:lstStyle/>
          <a:p>
            <a:pPr marL="0" indent="0" algn="ctr">
              <a:buNone/>
            </a:pPr>
            <a:r>
              <a:rPr lang="en-US" sz="3800" b="1" dirty="0">
                <a:solidFill>
                  <a:schemeClr val="accent1"/>
                </a:solidFill>
              </a:rPr>
              <a:t>15</a:t>
            </a:r>
            <a:endParaRPr lang="en-US" sz="3800" dirty="0"/>
          </a:p>
        </p:txBody>
      </p:sp>
      <p:sp>
        <p:nvSpPr>
          <p:cNvPr id="11" name="text-379"/>
          <p:cNvSpPr txBox="1"/>
          <p:nvPr/>
        </p:nvSpPr>
        <p:spPr>
          <a:xfrm>
            <a:off x="6327648" y="2103120"/>
            <a:ext cx="2240280" cy="548640"/>
          </a:xfrm>
          <a:prstGeom prst="rect">
            <a:avLst/>
          </a:prstGeom>
          <a:noFill/>
          <a:ln/>
        </p:spPr>
        <p:txBody>
          <a:bodyPr wrap="square" lIns="0" tIns="0" rIns="0" bIns="0" rtlCol="0" anchor="t"/>
          <a:lstStyle/>
          <a:p>
            <a:pPr marL="0" indent="0" algn="ctr">
              <a:buNone/>
            </a:pPr>
            <a:r>
              <a:rPr lang="en-US" sz="1300" dirty="0">
                <a:solidFill>
                  <a:srgbClr val="6B6785"/>
                </a:solidFill>
              </a:rPr>
              <a:t>new API endpoints</a:t>
            </a:r>
            <a:endParaRPr lang="en-US" sz="1300" dirty="0"/>
          </a:p>
        </p:txBody>
      </p:sp>
      <p:sp>
        <p:nvSpPr>
          <p:cNvPr id="12" name="card-380"/>
          <p:cNvSpPr/>
          <p:nvPr/>
        </p:nvSpPr>
        <p:spPr>
          <a:xfrm>
            <a:off x="8942832" y="1234440"/>
            <a:ext cx="2606040" cy="1508760"/>
          </a:xfrm>
          <a:prstGeom prst="roundRect">
            <a:avLst>
              <a:gd name="adj" fmla="val 7273"/>
            </a:avLst>
          </a:prstGeom>
          <a:solidFill>
            <a:schemeClr val="bg2"/>
          </a:solidFill>
          <a:ln w="6350">
            <a:solidFill>
              <a:schemeClr val="bg2"/>
            </a:solidFill>
            <a:prstDash val="solid"/>
          </a:ln>
        </p:spPr>
        <p:txBody>
          <a:bodyPr/>
          <a:lstStyle/>
          <a:p>
            <a:endParaRPr lang="en-US"/>
          </a:p>
        </p:txBody>
      </p:sp>
      <p:sp>
        <p:nvSpPr>
          <p:cNvPr id="13" name="text-381"/>
          <p:cNvSpPr txBox="1"/>
          <p:nvPr/>
        </p:nvSpPr>
        <p:spPr>
          <a:xfrm>
            <a:off x="9125712" y="1325880"/>
            <a:ext cx="2240280" cy="777240"/>
          </a:xfrm>
          <a:prstGeom prst="rect">
            <a:avLst/>
          </a:prstGeom>
          <a:noFill/>
          <a:ln/>
        </p:spPr>
        <p:txBody>
          <a:bodyPr wrap="square" lIns="0" tIns="0" rIns="0" bIns="0" rtlCol="0" anchor="t"/>
          <a:lstStyle/>
          <a:p>
            <a:pPr marL="0" indent="0" algn="ctr">
              <a:buNone/>
            </a:pPr>
            <a:r>
              <a:rPr lang="en-US" sz="3800" b="1" dirty="0">
                <a:solidFill>
                  <a:schemeClr val="accent1"/>
                </a:solidFill>
              </a:rPr>
              <a:t>7,500</a:t>
            </a:r>
            <a:endParaRPr lang="en-US" sz="3800" dirty="0"/>
          </a:p>
        </p:txBody>
      </p:sp>
      <p:sp>
        <p:nvSpPr>
          <p:cNvPr id="14" name="text-382"/>
          <p:cNvSpPr txBox="1"/>
          <p:nvPr/>
        </p:nvSpPr>
        <p:spPr>
          <a:xfrm>
            <a:off x="9125712" y="2103120"/>
            <a:ext cx="2240280" cy="548640"/>
          </a:xfrm>
          <a:prstGeom prst="rect">
            <a:avLst/>
          </a:prstGeom>
          <a:noFill/>
          <a:ln/>
        </p:spPr>
        <p:txBody>
          <a:bodyPr wrap="square" lIns="0" tIns="0" rIns="0" bIns="0" rtlCol="0" anchor="t"/>
          <a:lstStyle/>
          <a:p>
            <a:pPr marL="0" indent="0" algn="ctr">
              <a:buNone/>
            </a:pPr>
            <a:r>
              <a:rPr lang="en-US" sz="1300" dirty="0">
                <a:solidFill>
                  <a:srgbClr val="6B6785"/>
                </a:solidFill>
              </a:rPr>
              <a:t>simulated sessions, 0 rule violations</a:t>
            </a:r>
            <a:endParaRPr lang="en-US" sz="1300" dirty="0"/>
          </a:p>
        </p:txBody>
      </p:sp>
      <p:graphicFrame>
        <p:nvGraphicFramePr>
          <p:cNvPr id="20" name="test-table"/>
          <p:cNvGraphicFramePr>
            <a:graphicFrameLocks noGrp="1"/>
          </p:cNvGraphicFramePr>
          <p:nvPr>
            <p:extLst>
              <p:ext uri="{D42A27DB-BD31-4B8C-83A1-F6EECF244321}">
                <p14:modId xmlns:p14="http://schemas.microsoft.com/office/powerpoint/2010/main" val="916805189"/>
              </p:ext>
            </p:extLst>
          </p:nvPr>
        </p:nvGraphicFramePr>
        <p:xfrm>
          <a:off x="548640" y="2971800"/>
          <a:ext cx="6766560" cy="3840480"/>
        </p:xfrm>
        <a:graphic>
          <a:graphicData uri="http://schemas.openxmlformats.org/drawingml/2006/table">
            <a:tbl>
              <a:tblPr/>
              <a:tblGrid>
                <a:gridCol w="38404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Test case</a:t>
                      </a:r>
                      <a:endParaRPr lang="en-US" sz="14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6D3EF5"/>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6D3EF5"/>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Duplicate e-mail registration</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409 Conflict</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Access another workspace</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403 Forbidden</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Missing required field</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400, field named</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extLst>
                  <a:ext uri="{0D108BD9-81ED-4DB2-BD59-A6C34878D82A}">
                    <a16:rowId xmlns:a16="http://schemas.microsoft.com/office/drawing/2014/main" val="10003"/>
                  </a:ext>
                </a:extLst>
              </a:tr>
              <a:tr h="38404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6th public submit in a minute</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429 Rate limited</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Unpublished form by slug</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404</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extLst>
                  <a:ext uri="{0D108BD9-81ED-4DB2-BD59-A6C34878D82A}">
                    <a16:rowId xmlns:a16="http://schemas.microsoft.com/office/drawing/2014/main" val="10005"/>
                  </a:ext>
                </a:extLst>
              </a:tr>
              <a:tr h="38404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Webhook workflow on submit</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Delivery queued, HMAC signed</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Adaptive session limits</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No repeats, limit kept, anchors first</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3F0FF"/>
                    </a:solidFill>
                  </a:tcPr>
                </a:tc>
                <a:extLst>
                  <a:ext uri="{0D108BD9-81ED-4DB2-BD59-A6C34878D82A}">
                    <a16:rowId xmlns:a16="http://schemas.microsoft.com/office/drawing/2014/main" val="10007"/>
                  </a:ext>
                </a:extLst>
              </a:tr>
              <a:tr h="38404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PII in insights</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Masked; nothing personal sent</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extLst>
                  <a:ext uri="{0D108BD9-81ED-4DB2-BD59-A6C34878D82A}">
                    <a16:rowId xmlns:a16="http://schemas.microsoft.com/office/drawing/2014/main" val="2890082878"/>
                  </a:ext>
                </a:extLst>
              </a:tr>
              <a:tr h="384048">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PII in insights</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tc>
                  <a:txBody>
                    <a:bodyPr/>
                    <a:lstStyle/>
                    <a:p>
                      <a:pPr marL="0" indent="0">
                        <a:buNone/>
                      </a:pPr>
                      <a:r>
                        <a:rPr lang="en-US" sz="1300" dirty="0">
                          <a:solidFill>
                            <a:srgbClr val="1E1838"/>
                          </a:solidFill>
                          <a:latin typeface="Calibri" pitchFamily="34" charset="0"/>
                          <a:ea typeface="Calibri" pitchFamily="34" charset="-122"/>
                          <a:cs typeface="Calibri" pitchFamily="34" charset="-120"/>
                        </a:rPr>
                        <a:t>Masked; nothing personal sent</a:t>
                      </a:r>
                      <a:endParaRPr lang="en-US" sz="1300" dirty="0">
                        <a:latin typeface="Calibri" charset="0"/>
                        <a:ea typeface="Calibri" charset="0"/>
                        <a:cs typeface="Calibri" charset="0"/>
                      </a:endParaRPr>
                    </a:p>
                  </a:txBody>
                  <a:tcPr marL="109728" marR="109728" marT="27432" marB="27432" anchor="ctr">
                    <a:lnL w="6350" cap="flat" cmpd="sng" algn="ctr">
                      <a:solidFill>
                        <a:srgbClr val="E2DDF7"/>
                      </a:solidFill>
                      <a:prstDash val="solid"/>
                      <a:round/>
                      <a:headEnd type="none" w="med" len="med"/>
                      <a:tailEnd type="none" w="med" len="med"/>
                    </a:lnL>
                    <a:lnR w="6350" cap="flat" cmpd="sng" algn="ctr">
                      <a:solidFill>
                        <a:srgbClr val="E2DDF7"/>
                      </a:solidFill>
                      <a:prstDash val="solid"/>
                      <a:round/>
                      <a:headEnd type="none" w="med" len="med"/>
                      <a:tailEnd type="none" w="med" len="med"/>
                    </a:lnR>
                    <a:lnT w="6350" cap="flat" cmpd="sng" algn="ctr">
                      <a:solidFill>
                        <a:srgbClr val="E2DDF7"/>
                      </a:solidFill>
                      <a:prstDash val="solid"/>
                      <a:round/>
                      <a:headEnd type="none" w="med" len="med"/>
                      <a:tailEnd type="none" w="med" len="med"/>
                    </a:lnT>
                    <a:lnB w="6350" cap="flat" cmpd="sng" algn="ctr">
                      <a:solidFill>
                        <a:srgbClr val="E2DDF7"/>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16" name="card-383"/>
          <p:cNvSpPr/>
          <p:nvPr/>
        </p:nvSpPr>
        <p:spPr>
          <a:xfrm>
            <a:off x="7589520" y="2971800"/>
            <a:ext cx="4069080" cy="3108960"/>
          </a:xfrm>
          <a:prstGeom prst="roundRect">
            <a:avLst>
              <a:gd name="adj" fmla="val 3529"/>
            </a:avLst>
          </a:prstGeom>
          <a:solidFill>
            <a:schemeClr val="tx2"/>
          </a:solidFill>
          <a:ln w="6350">
            <a:solidFill>
              <a:schemeClr val="tx2"/>
            </a:solidFill>
            <a:prstDash val="solid"/>
          </a:ln>
        </p:spPr>
        <p:txBody>
          <a:bodyPr/>
          <a:lstStyle/>
          <a:p>
            <a:endParaRPr lang="en-US"/>
          </a:p>
        </p:txBody>
      </p:sp>
      <p:sp>
        <p:nvSpPr>
          <p:cNvPr id="17" name="text-384"/>
          <p:cNvSpPr txBox="1"/>
          <p:nvPr/>
        </p:nvSpPr>
        <p:spPr>
          <a:xfrm>
            <a:off x="7818120" y="3154680"/>
            <a:ext cx="3657600" cy="365760"/>
          </a:xfrm>
          <a:prstGeom prst="rect">
            <a:avLst/>
          </a:prstGeom>
          <a:noFill/>
          <a:ln/>
        </p:spPr>
        <p:txBody>
          <a:bodyPr wrap="square" lIns="0" tIns="0" rIns="0" bIns="0" rtlCol="0" anchor="t"/>
          <a:lstStyle/>
          <a:p>
            <a:pPr marL="0" indent="0">
              <a:buNone/>
            </a:pPr>
            <a:r>
              <a:rPr lang="en-US" sz="1600" b="1" dirty="0">
                <a:solidFill>
                  <a:srgbClr val="B9A8FF"/>
                </a:solidFill>
              </a:rPr>
              <a:t>Issues found and fixed</a:t>
            </a:r>
            <a:endParaRPr lang="en-US" sz="1600" dirty="0"/>
          </a:p>
        </p:txBody>
      </p:sp>
      <p:sp>
        <p:nvSpPr>
          <p:cNvPr id="18" name="text-385"/>
          <p:cNvSpPr txBox="1"/>
          <p:nvPr/>
        </p:nvSpPr>
        <p:spPr>
          <a:xfrm>
            <a:off x="7818120" y="3611880"/>
            <a:ext cx="3657600" cy="23774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E6E1FF"/>
                </a:solidFill>
              </a:rPr>
              <a:t>Optional schema fields rejected: made required + nullable</a:t>
            </a:r>
            <a:endParaRPr lang="en-US" sz="1300" dirty="0"/>
          </a:p>
          <a:p>
            <a:pPr marL="203200" indent="-203200">
              <a:spcAft>
                <a:spcPts val="600"/>
              </a:spcAft>
              <a:buSzPct val="100000"/>
              <a:buChar char="•"/>
            </a:pPr>
            <a:r>
              <a:rPr lang="en-US" sz="1300" dirty="0">
                <a:solidFill>
                  <a:srgbClr val="E6E1FF"/>
                </a:solidFill>
              </a:rPr>
              <a:t>Gemini schema limits: structure-only schema</a:t>
            </a:r>
            <a:endParaRPr lang="en-US" sz="1300" dirty="0"/>
          </a:p>
          <a:p>
            <a:pPr marL="203200" indent="-203200">
              <a:spcAft>
                <a:spcPts val="600"/>
              </a:spcAft>
              <a:buSzPct val="100000"/>
              <a:buChar char="•"/>
            </a:pPr>
            <a:r>
              <a:rPr lang="en-US" sz="1300" dirty="0">
                <a:solidFill>
                  <a:srgbClr val="E6E1FF"/>
                </a:solidFill>
              </a:rPr>
              <a:t>Redundant early pick (98%): anchors first, now 0%</a:t>
            </a:r>
            <a:endParaRPr lang="en-US" sz="1300" dirty="0"/>
          </a:p>
          <a:p>
            <a:pPr marL="203200" indent="-203200">
              <a:spcAft>
                <a:spcPts val="600"/>
              </a:spcAft>
              <a:buSzPct val="100000"/>
              <a:buChar char="•"/>
            </a:pPr>
            <a:r>
              <a:rPr lang="en-US" sz="1300" dirty="0">
                <a:solidFill>
                  <a:srgbClr val="E6E1FF"/>
                </a:solidFill>
              </a:rPr>
              <a:t>CSV labels with commas: RFC 4180 writer</a:t>
            </a:r>
            <a:endParaRPr lang="en-US" sz="1300" dirty="0"/>
          </a:p>
          <a:p>
            <a:pPr marL="203200" indent="-203200">
              <a:spcAft>
                <a:spcPts val="600"/>
              </a:spcAft>
              <a:buSzPct val="100000"/>
              <a:buChar char="•"/>
            </a:pPr>
            <a:r>
              <a:rPr lang="en-US" sz="1300" dirty="0">
                <a:solidFill>
                  <a:srgbClr val="E6E1FF"/>
                </a:solidFill>
              </a:rPr>
              <a:t>Model change mid-session: snapshot pinned</a:t>
            </a:r>
            <a:endParaRPr lang="en-US" sz="13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Working System</a:t>
            </a:r>
            <a:endParaRPr lang="en-US" sz="3000" dirty="0"/>
          </a:p>
        </p:txBody>
      </p:sp>
      <p:sp>
        <p:nvSpPr>
          <p:cNvPr id="3" name="frame-386"/>
          <p:cNvSpPr/>
          <p:nvPr/>
        </p:nvSpPr>
        <p:spPr>
          <a:xfrm>
            <a:off x="548640" y="1148906"/>
            <a:ext cx="5760720" cy="1954149"/>
          </a:xfrm>
          <a:prstGeom prst="roundRect">
            <a:avLst>
              <a:gd name="adj" fmla="val 3743"/>
            </a:avLst>
          </a:prstGeom>
          <a:solidFill>
            <a:schemeClr val="bg1"/>
          </a:solidFill>
          <a:ln w="12700">
            <a:solidFill>
              <a:srgbClr val="D9D3F7"/>
            </a:solidFill>
            <a:prstDash val="solid"/>
          </a:ln>
          <a:effectLst>
            <a:outerShdw blurRad="101600" dist="38100" dir="5400000" algn="bl" rotWithShape="0">
              <a:srgbClr val="000000">
                <a:alpha val="15000"/>
              </a:srgbClr>
            </a:outerShdw>
          </a:effectLst>
        </p:spPr>
        <p:txBody>
          <a:bodyPr/>
          <a:lstStyle/>
          <a:p>
            <a:endParaRPr lang="en-US"/>
          </a:p>
        </p:txBody>
      </p:sp>
      <p:pic>
        <p:nvPicPr>
          <p:cNvPr id="4" name="shot-387" descr="AI generation dialog and generated draft"/>
          <p:cNvPicPr>
            <a:picLocks noChangeAspect="1"/>
          </p:cNvPicPr>
          <p:nvPr/>
        </p:nvPicPr>
        <p:blipFill>
          <a:blip r:embed="rId3"/>
          <a:stretch>
            <a:fillRect/>
          </a:stretch>
        </p:blipFill>
        <p:spPr>
          <a:xfrm>
            <a:off x="603504" y="1203770"/>
            <a:ext cx="5650992" cy="1844421"/>
          </a:xfrm>
          <a:prstGeom prst="rect">
            <a:avLst/>
          </a:prstGeom>
        </p:spPr>
      </p:pic>
      <p:sp>
        <p:nvSpPr>
          <p:cNvPr id="5" name="text-388"/>
          <p:cNvSpPr txBox="1"/>
          <p:nvPr/>
        </p:nvSpPr>
        <p:spPr>
          <a:xfrm>
            <a:off x="548640" y="3090672"/>
            <a:ext cx="5760720" cy="274320"/>
          </a:xfrm>
          <a:prstGeom prst="rect">
            <a:avLst/>
          </a:prstGeom>
          <a:noFill/>
          <a:ln/>
        </p:spPr>
        <p:txBody>
          <a:bodyPr wrap="square" lIns="0" tIns="0" rIns="0" bIns="0" rtlCol="0" anchor="t"/>
          <a:lstStyle/>
          <a:p>
            <a:pPr marL="0" indent="0" algn="ctr">
              <a:buNone/>
            </a:pPr>
            <a:r>
              <a:rPr lang="en-US" sz="1200" dirty="0">
                <a:solidFill>
                  <a:srgbClr val="6B6785"/>
                </a:solidFill>
              </a:rPr>
              <a:t>AI draft in 7 s, opened in the builder</a:t>
            </a:r>
            <a:endParaRPr lang="en-US" sz="1200" dirty="0"/>
          </a:p>
        </p:txBody>
      </p:sp>
      <p:sp>
        <p:nvSpPr>
          <p:cNvPr id="6" name="frame-389"/>
          <p:cNvSpPr/>
          <p:nvPr/>
        </p:nvSpPr>
        <p:spPr>
          <a:xfrm>
            <a:off x="548640" y="3479727"/>
            <a:ext cx="2834640" cy="1407305"/>
          </a:xfrm>
          <a:prstGeom prst="roundRect">
            <a:avLst>
              <a:gd name="adj" fmla="val 5198"/>
            </a:avLst>
          </a:prstGeom>
          <a:solidFill>
            <a:schemeClr val="bg1"/>
          </a:solidFill>
          <a:ln w="12700">
            <a:solidFill>
              <a:srgbClr val="D9D3F7"/>
            </a:solidFill>
            <a:prstDash val="solid"/>
          </a:ln>
          <a:effectLst>
            <a:outerShdw blurRad="101600" dist="38100" dir="5400000" algn="bl" rotWithShape="0">
              <a:srgbClr val="000000">
                <a:alpha val="15000"/>
              </a:srgbClr>
            </a:outerShdw>
          </a:effectLst>
        </p:spPr>
        <p:txBody>
          <a:bodyPr/>
          <a:lstStyle/>
          <a:p>
            <a:endParaRPr lang="en-US"/>
          </a:p>
        </p:txBody>
      </p:sp>
      <p:pic>
        <p:nvPicPr>
          <p:cNvPr id="7" name="shot-390" descr="Adaptive form, one question at a time"/>
          <p:cNvPicPr>
            <a:picLocks noChangeAspect="1"/>
          </p:cNvPicPr>
          <p:nvPr/>
        </p:nvPicPr>
        <p:blipFill>
          <a:blip r:embed="rId4"/>
          <a:stretch>
            <a:fillRect/>
          </a:stretch>
        </p:blipFill>
        <p:spPr>
          <a:xfrm>
            <a:off x="603504" y="3534591"/>
            <a:ext cx="2724912" cy="1297577"/>
          </a:xfrm>
          <a:prstGeom prst="rect">
            <a:avLst/>
          </a:prstGeom>
        </p:spPr>
      </p:pic>
      <p:sp>
        <p:nvSpPr>
          <p:cNvPr id="29" name="frame-389"/>
          <p:cNvSpPr/>
          <p:nvPr/>
        </p:nvSpPr>
        <p:spPr>
          <a:xfrm>
            <a:off x="548640" y="3479727"/>
            <a:ext cx="2834640" cy="1407305"/>
          </a:xfrm>
          <a:prstGeom prst="roundRect">
            <a:avLst>
              <a:gd name="adj" fmla="val 5198"/>
            </a:avLst>
          </a:prstGeom>
          <a:solidFill>
            <a:schemeClr val="bg1"/>
          </a:solidFill>
          <a:ln w="12700">
            <a:solidFill>
              <a:srgbClr val="D9D3F7"/>
            </a:solidFill>
            <a:prstDash val="solid"/>
          </a:ln>
          <a:effectLst>
            <a:outerShdw blurRad="101600" dist="38100" dir="5400000" algn="bl" rotWithShape="0">
              <a:srgbClr val="000000">
                <a:alpha val="15000"/>
              </a:srgbClr>
            </a:outerShdw>
          </a:effectLst>
        </p:spPr>
        <p:txBody>
          <a:bodyPr/>
          <a:lstStyle/>
          <a:p>
            <a:endParaRPr lang="en-US"/>
          </a:p>
        </p:txBody>
      </p:sp>
      <p:pic>
        <p:nvPicPr>
          <p:cNvPr id="30" name="shot-390" descr="Adaptive form, one question at a time"/>
          <p:cNvPicPr>
            <a:picLocks noChangeAspect="1"/>
          </p:cNvPicPr>
          <p:nvPr/>
        </p:nvPicPr>
        <p:blipFill>
          <a:blip r:embed="rId4"/>
          <a:stretch>
            <a:fillRect/>
          </a:stretch>
        </p:blipFill>
        <p:spPr>
          <a:xfrm>
            <a:off x="603504" y="3534591"/>
            <a:ext cx="2724912" cy="1297577"/>
          </a:xfrm>
          <a:prstGeom prst="rect">
            <a:avLst/>
          </a:prstGeom>
        </p:spPr>
      </p:pic>
      <p:sp>
        <p:nvSpPr>
          <p:cNvPr id="8" name="frame-391"/>
          <p:cNvSpPr/>
          <p:nvPr/>
        </p:nvSpPr>
        <p:spPr>
          <a:xfrm>
            <a:off x="3474720" y="3792592"/>
            <a:ext cx="2834640" cy="735857"/>
          </a:xfrm>
          <a:prstGeom prst="roundRect">
            <a:avLst>
              <a:gd name="adj" fmla="val 9941"/>
            </a:avLst>
          </a:prstGeom>
          <a:solidFill>
            <a:schemeClr val="bg1"/>
          </a:solidFill>
          <a:ln w="12700">
            <a:solidFill>
              <a:srgbClr val="D9D3F7"/>
            </a:solidFill>
            <a:prstDash val="solid"/>
          </a:ln>
          <a:effectLst>
            <a:outerShdw blurRad="101600" dist="38100" dir="5400000" algn="bl" rotWithShape="0">
              <a:srgbClr val="000000">
                <a:alpha val="15000"/>
              </a:srgbClr>
            </a:outerShdw>
          </a:effectLst>
        </p:spPr>
        <p:txBody>
          <a:bodyPr/>
          <a:lstStyle/>
          <a:p>
            <a:endParaRPr lang="en-US"/>
          </a:p>
        </p:txBody>
      </p:sp>
      <p:pic>
        <p:nvPicPr>
          <p:cNvPr id="9" name="shot-392" descr="Quality report panel"/>
          <p:cNvPicPr>
            <a:picLocks noChangeAspect="1"/>
          </p:cNvPicPr>
          <p:nvPr/>
        </p:nvPicPr>
        <p:blipFill>
          <a:blip r:embed="rId5"/>
          <a:stretch>
            <a:fillRect/>
          </a:stretch>
        </p:blipFill>
        <p:spPr>
          <a:xfrm>
            <a:off x="3529584" y="3847456"/>
            <a:ext cx="2724912" cy="626129"/>
          </a:xfrm>
          <a:prstGeom prst="rect">
            <a:avLst/>
          </a:prstGeom>
        </p:spPr>
      </p:pic>
      <p:pic>
        <p:nvPicPr>
          <p:cNvPr id="31" name="shot-392" descr="Quality report panel"/>
          <p:cNvPicPr>
            <a:picLocks noChangeAspect="1"/>
          </p:cNvPicPr>
          <p:nvPr/>
        </p:nvPicPr>
        <p:blipFill>
          <a:blip r:embed="rId5"/>
          <a:stretch>
            <a:fillRect/>
          </a:stretch>
        </p:blipFill>
        <p:spPr>
          <a:xfrm>
            <a:off x="3529584" y="3847456"/>
            <a:ext cx="2724912" cy="626129"/>
          </a:xfrm>
          <a:prstGeom prst="rect">
            <a:avLst/>
          </a:prstGeom>
        </p:spPr>
      </p:pic>
      <p:sp>
        <p:nvSpPr>
          <p:cNvPr id="10" name="text-393"/>
          <p:cNvSpPr txBox="1"/>
          <p:nvPr/>
        </p:nvSpPr>
        <p:spPr>
          <a:xfrm>
            <a:off x="548640" y="4983480"/>
            <a:ext cx="5760720" cy="274320"/>
          </a:xfrm>
          <a:prstGeom prst="rect">
            <a:avLst/>
          </a:prstGeom>
          <a:noFill/>
          <a:ln/>
        </p:spPr>
        <p:txBody>
          <a:bodyPr wrap="square" lIns="0" tIns="0" rIns="0" bIns="0" rtlCol="0" anchor="t"/>
          <a:lstStyle/>
          <a:p>
            <a:pPr marL="0" indent="0" algn="ctr">
              <a:buNone/>
            </a:pPr>
            <a:r>
              <a:rPr lang="en-US" sz="1200" dirty="0">
                <a:solidFill>
                  <a:srgbClr val="6B6785"/>
                </a:solidFill>
              </a:rPr>
              <a:t>Respondent view  |  quality report</a:t>
            </a:r>
            <a:endParaRPr lang="en-US" sz="1200" dirty="0"/>
          </a:p>
        </p:txBody>
      </p:sp>
      <p:sp>
        <p:nvSpPr>
          <p:cNvPr id="11" name="frame-394"/>
          <p:cNvSpPr/>
          <p:nvPr/>
        </p:nvSpPr>
        <p:spPr>
          <a:xfrm>
            <a:off x="6476287" y="1143000"/>
            <a:ext cx="5152547" cy="3840480"/>
          </a:xfrm>
          <a:prstGeom prst="roundRect">
            <a:avLst>
              <a:gd name="adj" fmla="val 1905"/>
            </a:avLst>
          </a:prstGeom>
          <a:solidFill>
            <a:schemeClr val="bg1"/>
          </a:solidFill>
          <a:ln w="12700">
            <a:solidFill>
              <a:srgbClr val="D9D3F7"/>
            </a:solidFill>
            <a:prstDash val="solid"/>
          </a:ln>
          <a:effectLst>
            <a:outerShdw blurRad="101600" dist="38100" dir="5400000" algn="bl" rotWithShape="0">
              <a:srgbClr val="000000">
                <a:alpha val="15000"/>
              </a:srgbClr>
            </a:outerShdw>
          </a:effectLst>
        </p:spPr>
        <p:txBody>
          <a:bodyPr/>
          <a:lstStyle/>
          <a:p>
            <a:endParaRPr lang="en-US"/>
          </a:p>
        </p:txBody>
      </p:sp>
      <p:pic>
        <p:nvPicPr>
          <p:cNvPr id="12" name="shot-395" descr="Insights page"/>
          <p:cNvPicPr>
            <a:picLocks noChangeAspect="1"/>
          </p:cNvPicPr>
          <p:nvPr/>
        </p:nvPicPr>
        <p:blipFill>
          <a:blip r:embed="rId6"/>
          <a:stretch>
            <a:fillRect/>
          </a:stretch>
        </p:blipFill>
        <p:spPr>
          <a:xfrm>
            <a:off x="6531151" y="1197864"/>
            <a:ext cx="5042819" cy="3730752"/>
          </a:xfrm>
          <a:prstGeom prst="rect">
            <a:avLst/>
          </a:prstGeom>
        </p:spPr>
      </p:pic>
      <p:pic>
        <p:nvPicPr>
          <p:cNvPr id="32" name="shot-395" descr="Insights page"/>
          <p:cNvPicPr>
            <a:picLocks noChangeAspect="1"/>
          </p:cNvPicPr>
          <p:nvPr/>
        </p:nvPicPr>
        <p:blipFill>
          <a:blip r:embed="rId6"/>
          <a:stretch>
            <a:fillRect/>
          </a:stretch>
        </p:blipFill>
        <p:spPr>
          <a:xfrm>
            <a:off x="6531151" y="1197864"/>
            <a:ext cx="5042819" cy="3730752"/>
          </a:xfrm>
          <a:prstGeom prst="rect">
            <a:avLst/>
          </a:prstGeom>
        </p:spPr>
      </p:pic>
      <p:sp>
        <p:nvSpPr>
          <p:cNvPr id="13" name="text-396"/>
          <p:cNvSpPr txBox="1"/>
          <p:nvPr/>
        </p:nvSpPr>
        <p:spPr>
          <a:xfrm>
            <a:off x="6446520" y="4983480"/>
            <a:ext cx="5212080" cy="274320"/>
          </a:xfrm>
          <a:prstGeom prst="rect">
            <a:avLst/>
          </a:prstGeom>
          <a:noFill/>
          <a:ln/>
        </p:spPr>
        <p:txBody>
          <a:bodyPr wrap="square" lIns="0" tIns="0" rIns="0" bIns="0" rtlCol="0" anchor="t"/>
          <a:lstStyle/>
          <a:p>
            <a:pPr marL="0" indent="0" algn="ctr">
              <a:buNone/>
            </a:pPr>
            <a:r>
              <a:rPr lang="en-US" sz="1200" dirty="0">
                <a:solidFill>
                  <a:srgbClr val="6B6785"/>
                </a:solidFill>
              </a:rPr>
              <a:t>Insights on masked answers: summary, sentiment, topics</a:t>
            </a:r>
            <a:endParaRPr lang="en-US" sz="1200" dirty="0"/>
          </a:p>
        </p:txBody>
      </p:sp>
      <p:sp>
        <p:nvSpPr>
          <p:cNvPr id="14" name="card-397"/>
          <p:cNvSpPr/>
          <p:nvPr/>
        </p:nvSpPr>
        <p:spPr>
          <a:xfrm>
            <a:off x="548640" y="5303520"/>
            <a:ext cx="2011680" cy="685800"/>
          </a:xfrm>
          <a:prstGeom prst="roundRect">
            <a:avLst>
              <a:gd name="adj" fmla="val 16000"/>
            </a:avLst>
          </a:prstGeom>
          <a:solidFill>
            <a:schemeClr val="bg2"/>
          </a:solidFill>
          <a:ln w="6350">
            <a:solidFill>
              <a:schemeClr val="bg2"/>
            </a:solidFill>
            <a:prstDash val="solid"/>
          </a:ln>
        </p:spPr>
        <p:txBody>
          <a:bodyPr/>
          <a:lstStyle/>
          <a:p>
            <a:endParaRPr lang="en-US"/>
          </a:p>
        </p:txBody>
      </p:sp>
      <p:sp>
        <p:nvSpPr>
          <p:cNvPr id="15" name="text-398"/>
          <p:cNvSpPr txBox="1"/>
          <p:nvPr/>
        </p:nvSpPr>
        <p:spPr>
          <a:xfrm>
            <a:off x="640080" y="5349240"/>
            <a:ext cx="1828800" cy="594360"/>
          </a:xfrm>
          <a:prstGeom prst="rect">
            <a:avLst/>
          </a:prstGeom>
          <a:noFill/>
          <a:ln/>
        </p:spPr>
        <p:txBody>
          <a:bodyPr wrap="square" lIns="0" tIns="0" rIns="0" bIns="0" rtlCol="0" anchor="ctr"/>
          <a:lstStyle/>
          <a:p>
            <a:pPr marL="0" indent="0" algn="ctr">
              <a:buNone/>
            </a:pPr>
            <a:r>
              <a:rPr lang="en-US" sz="1400" b="1" dirty="0">
                <a:solidFill>
                  <a:schemeClr val="tx1"/>
                </a:solidFill>
              </a:rPr>
              <a:t>Describe form</a:t>
            </a:r>
            <a:endParaRPr lang="en-US" sz="1400" dirty="0"/>
          </a:p>
        </p:txBody>
      </p:sp>
      <p:sp>
        <p:nvSpPr>
          <p:cNvPr id="16" name="arr-399"/>
          <p:cNvSpPr/>
          <p:nvPr/>
        </p:nvSpPr>
        <p:spPr>
          <a:xfrm>
            <a:off x="2578608" y="5522976"/>
            <a:ext cx="219456" cy="237744"/>
          </a:xfrm>
          <a:prstGeom prst="rightArrow">
            <a:avLst/>
          </a:prstGeom>
          <a:solidFill>
            <a:srgbClr val="C5B8FF"/>
          </a:solidFill>
          <a:ln w="12700">
            <a:solidFill>
              <a:srgbClr val="C5B8FF"/>
            </a:solidFill>
            <a:prstDash val="solid"/>
          </a:ln>
        </p:spPr>
        <p:txBody>
          <a:bodyPr/>
          <a:lstStyle/>
          <a:p>
            <a:endParaRPr lang="en-US"/>
          </a:p>
        </p:txBody>
      </p:sp>
      <p:sp>
        <p:nvSpPr>
          <p:cNvPr id="17" name="card-400"/>
          <p:cNvSpPr/>
          <p:nvPr/>
        </p:nvSpPr>
        <p:spPr>
          <a:xfrm>
            <a:off x="2816352" y="5303520"/>
            <a:ext cx="2011680" cy="685800"/>
          </a:xfrm>
          <a:prstGeom prst="roundRect">
            <a:avLst>
              <a:gd name="adj" fmla="val 16000"/>
            </a:avLst>
          </a:prstGeom>
          <a:solidFill>
            <a:schemeClr val="bg2"/>
          </a:solidFill>
          <a:ln w="6350">
            <a:solidFill>
              <a:schemeClr val="bg2"/>
            </a:solidFill>
            <a:prstDash val="solid"/>
          </a:ln>
        </p:spPr>
        <p:txBody>
          <a:bodyPr/>
          <a:lstStyle/>
          <a:p>
            <a:endParaRPr lang="en-US"/>
          </a:p>
        </p:txBody>
      </p:sp>
      <p:sp>
        <p:nvSpPr>
          <p:cNvPr id="18" name="text-401"/>
          <p:cNvSpPr txBox="1"/>
          <p:nvPr/>
        </p:nvSpPr>
        <p:spPr>
          <a:xfrm>
            <a:off x="2907792" y="5349240"/>
            <a:ext cx="1828800" cy="594360"/>
          </a:xfrm>
          <a:prstGeom prst="rect">
            <a:avLst/>
          </a:prstGeom>
          <a:noFill/>
          <a:ln/>
        </p:spPr>
        <p:txBody>
          <a:bodyPr wrap="square" lIns="0" tIns="0" rIns="0" bIns="0" rtlCol="0" anchor="ctr"/>
          <a:lstStyle/>
          <a:p>
            <a:pPr marL="0" indent="0" algn="ctr">
              <a:buNone/>
            </a:pPr>
            <a:r>
              <a:rPr lang="en-US" sz="1400" b="1" dirty="0">
                <a:solidFill>
                  <a:schemeClr val="tx1"/>
                </a:solidFill>
              </a:rPr>
              <a:t>AI draft + quality report</a:t>
            </a:r>
            <a:endParaRPr lang="en-US" sz="1400" dirty="0"/>
          </a:p>
        </p:txBody>
      </p:sp>
      <p:sp>
        <p:nvSpPr>
          <p:cNvPr id="19" name="arr-402"/>
          <p:cNvSpPr/>
          <p:nvPr/>
        </p:nvSpPr>
        <p:spPr>
          <a:xfrm>
            <a:off x="4846320" y="5522976"/>
            <a:ext cx="219456" cy="237744"/>
          </a:xfrm>
          <a:prstGeom prst="rightArrow">
            <a:avLst/>
          </a:prstGeom>
          <a:solidFill>
            <a:srgbClr val="C5B8FF"/>
          </a:solidFill>
          <a:ln w="12700">
            <a:solidFill>
              <a:srgbClr val="C5B8FF"/>
            </a:solidFill>
            <a:prstDash val="solid"/>
          </a:ln>
        </p:spPr>
        <p:txBody>
          <a:bodyPr/>
          <a:lstStyle/>
          <a:p>
            <a:endParaRPr lang="en-US"/>
          </a:p>
        </p:txBody>
      </p:sp>
      <p:sp>
        <p:nvSpPr>
          <p:cNvPr id="20" name="card-403"/>
          <p:cNvSpPr/>
          <p:nvPr/>
        </p:nvSpPr>
        <p:spPr>
          <a:xfrm>
            <a:off x="5084064" y="5303520"/>
            <a:ext cx="2011680" cy="685800"/>
          </a:xfrm>
          <a:prstGeom prst="roundRect">
            <a:avLst>
              <a:gd name="adj" fmla="val 16000"/>
            </a:avLst>
          </a:prstGeom>
          <a:solidFill>
            <a:schemeClr val="bg2"/>
          </a:solidFill>
          <a:ln w="6350">
            <a:solidFill>
              <a:schemeClr val="bg2"/>
            </a:solidFill>
            <a:prstDash val="solid"/>
          </a:ln>
        </p:spPr>
        <p:txBody>
          <a:bodyPr/>
          <a:lstStyle/>
          <a:p>
            <a:endParaRPr lang="en-US"/>
          </a:p>
        </p:txBody>
      </p:sp>
      <p:sp>
        <p:nvSpPr>
          <p:cNvPr id="21" name="text-404"/>
          <p:cNvSpPr txBox="1"/>
          <p:nvPr/>
        </p:nvSpPr>
        <p:spPr>
          <a:xfrm>
            <a:off x="5175504" y="5349240"/>
            <a:ext cx="1828800" cy="594360"/>
          </a:xfrm>
          <a:prstGeom prst="rect">
            <a:avLst/>
          </a:prstGeom>
          <a:noFill/>
          <a:ln/>
        </p:spPr>
        <p:txBody>
          <a:bodyPr wrap="square" lIns="0" tIns="0" rIns="0" bIns="0" rtlCol="0" anchor="ctr"/>
          <a:lstStyle/>
          <a:p>
            <a:pPr marL="0" indent="0" algn="ctr">
              <a:buNone/>
            </a:pPr>
            <a:r>
              <a:rPr lang="en-US" sz="1400" b="1" dirty="0">
                <a:solidFill>
                  <a:schemeClr val="tx1"/>
                </a:solidFill>
              </a:rPr>
              <a:t>Edit and approve</a:t>
            </a:r>
            <a:endParaRPr lang="en-US" sz="1400" dirty="0"/>
          </a:p>
        </p:txBody>
      </p:sp>
      <p:sp>
        <p:nvSpPr>
          <p:cNvPr id="22" name="arr-405"/>
          <p:cNvSpPr/>
          <p:nvPr/>
        </p:nvSpPr>
        <p:spPr>
          <a:xfrm>
            <a:off x="7114032" y="5522976"/>
            <a:ext cx="219456" cy="237744"/>
          </a:xfrm>
          <a:prstGeom prst="rightArrow">
            <a:avLst/>
          </a:prstGeom>
          <a:solidFill>
            <a:srgbClr val="C5B8FF"/>
          </a:solidFill>
          <a:ln w="12700">
            <a:solidFill>
              <a:srgbClr val="C5B8FF"/>
            </a:solidFill>
            <a:prstDash val="solid"/>
          </a:ln>
        </p:spPr>
        <p:txBody>
          <a:bodyPr/>
          <a:lstStyle/>
          <a:p>
            <a:endParaRPr lang="en-US"/>
          </a:p>
        </p:txBody>
      </p:sp>
      <p:sp>
        <p:nvSpPr>
          <p:cNvPr id="23" name="card-406"/>
          <p:cNvSpPr/>
          <p:nvPr/>
        </p:nvSpPr>
        <p:spPr>
          <a:xfrm>
            <a:off x="7351776" y="5303520"/>
            <a:ext cx="2011680" cy="685800"/>
          </a:xfrm>
          <a:prstGeom prst="roundRect">
            <a:avLst>
              <a:gd name="adj" fmla="val 16000"/>
            </a:avLst>
          </a:prstGeom>
          <a:solidFill>
            <a:schemeClr val="accent1"/>
          </a:solidFill>
          <a:ln w="6350">
            <a:solidFill>
              <a:schemeClr val="accent1"/>
            </a:solidFill>
            <a:prstDash val="solid"/>
          </a:ln>
        </p:spPr>
        <p:txBody>
          <a:bodyPr/>
          <a:lstStyle/>
          <a:p>
            <a:endParaRPr lang="en-US"/>
          </a:p>
        </p:txBody>
      </p:sp>
      <p:sp>
        <p:nvSpPr>
          <p:cNvPr id="24" name="text-407"/>
          <p:cNvSpPr txBox="1"/>
          <p:nvPr/>
        </p:nvSpPr>
        <p:spPr>
          <a:xfrm>
            <a:off x="7443216" y="5349240"/>
            <a:ext cx="1828800" cy="594360"/>
          </a:xfrm>
          <a:prstGeom prst="rect">
            <a:avLst/>
          </a:prstGeom>
          <a:noFill/>
          <a:ln/>
        </p:spPr>
        <p:txBody>
          <a:bodyPr wrap="square" lIns="0" tIns="0" rIns="0" bIns="0" rtlCol="0" anchor="ctr"/>
          <a:lstStyle/>
          <a:p>
            <a:pPr marL="0" indent="0" algn="ctr">
              <a:buNone/>
            </a:pPr>
            <a:r>
              <a:rPr lang="en-US" sz="1400" b="1" dirty="0">
                <a:solidFill>
                  <a:srgbClr val="FFFFFF"/>
                </a:solidFill>
              </a:rPr>
              <a:t>Publish adaptive</a:t>
            </a:r>
            <a:endParaRPr lang="en-US" sz="1400" dirty="0"/>
          </a:p>
        </p:txBody>
      </p:sp>
      <p:sp>
        <p:nvSpPr>
          <p:cNvPr id="25" name="arr-408"/>
          <p:cNvSpPr/>
          <p:nvPr/>
        </p:nvSpPr>
        <p:spPr>
          <a:xfrm>
            <a:off x="9381744" y="5522976"/>
            <a:ext cx="219456" cy="237744"/>
          </a:xfrm>
          <a:prstGeom prst="rightArrow">
            <a:avLst/>
          </a:prstGeom>
          <a:solidFill>
            <a:srgbClr val="C5B8FF"/>
          </a:solidFill>
          <a:ln w="12700">
            <a:solidFill>
              <a:srgbClr val="C5B8FF"/>
            </a:solidFill>
            <a:prstDash val="solid"/>
          </a:ln>
        </p:spPr>
        <p:txBody>
          <a:bodyPr/>
          <a:lstStyle/>
          <a:p>
            <a:endParaRPr lang="en-US"/>
          </a:p>
        </p:txBody>
      </p:sp>
      <p:sp>
        <p:nvSpPr>
          <p:cNvPr id="26" name="card-409"/>
          <p:cNvSpPr/>
          <p:nvPr/>
        </p:nvSpPr>
        <p:spPr>
          <a:xfrm>
            <a:off x="9619488" y="5303520"/>
            <a:ext cx="2011680" cy="685800"/>
          </a:xfrm>
          <a:prstGeom prst="roundRect">
            <a:avLst>
              <a:gd name="adj" fmla="val 16000"/>
            </a:avLst>
          </a:prstGeom>
          <a:solidFill>
            <a:schemeClr val="bg2"/>
          </a:solidFill>
          <a:ln w="6350">
            <a:solidFill>
              <a:schemeClr val="bg2"/>
            </a:solidFill>
            <a:prstDash val="solid"/>
          </a:ln>
        </p:spPr>
        <p:txBody>
          <a:bodyPr/>
          <a:lstStyle/>
          <a:p>
            <a:endParaRPr lang="en-US"/>
          </a:p>
        </p:txBody>
      </p:sp>
      <p:sp>
        <p:nvSpPr>
          <p:cNvPr id="27" name="text-410"/>
          <p:cNvSpPr txBox="1"/>
          <p:nvPr/>
        </p:nvSpPr>
        <p:spPr>
          <a:xfrm>
            <a:off x="9710928" y="5349240"/>
            <a:ext cx="1828800" cy="594360"/>
          </a:xfrm>
          <a:prstGeom prst="rect">
            <a:avLst/>
          </a:prstGeom>
          <a:noFill/>
          <a:ln/>
        </p:spPr>
        <p:txBody>
          <a:bodyPr wrap="square" lIns="0" tIns="0" rIns="0" bIns="0" rtlCol="0" anchor="ctr"/>
          <a:lstStyle/>
          <a:p>
            <a:pPr marL="0" indent="0" algn="ctr">
              <a:buNone/>
            </a:pPr>
            <a:r>
              <a:rPr lang="en-US" sz="1400" b="1" dirty="0">
                <a:solidFill>
                  <a:schemeClr val="tx1"/>
                </a:solidFill>
              </a:rPr>
              <a:t>Insights</a:t>
            </a:r>
            <a:endParaRPr lang="en-US" sz="1400" dirty="0"/>
          </a:p>
        </p:txBody>
      </p:sp>
      <p:sp>
        <p:nvSpPr>
          <p:cNvPr id="34" name="card-406"/>
          <p:cNvSpPr/>
          <p:nvPr/>
        </p:nvSpPr>
        <p:spPr>
          <a:xfrm>
            <a:off x="7351776" y="5303520"/>
            <a:ext cx="2011680" cy="685800"/>
          </a:xfrm>
          <a:prstGeom prst="roundRect">
            <a:avLst>
              <a:gd name="adj" fmla="val 16000"/>
            </a:avLst>
          </a:prstGeom>
          <a:solidFill>
            <a:schemeClr val="accent1"/>
          </a:solidFill>
          <a:ln w="6350">
            <a:solidFill>
              <a:schemeClr val="accent1"/>
            </a:solidFill>
            <a:prstDash val="solid"/>
          </a:ln>
        </p:spPr>
        <p:txBody>
          <a:bodyPr/>
          <a:lstStyle/>
          <a:p>
            <a:endParaRPr lang="en-US"/>
          </a:p>
        </p:txBody>
      </p:sp>
      <p:sp>
        <p:nvSpPr>
          <p:cNvPr id="35" name="text-407"/>
          <p:cNvSpPr txBox="1"/>
          <p:nvPr/>
        </p:nvSpPr>
        <p:spPr>
          <a:xfrm>
            <a:off x="7443216" y="5349240"/>
            <a:ext cx="1828800" cy="594360"/>
          </a:xfrm>
          <a:prstGeom prst="rect">
            <a:avLst/>
          </a:prstGeom>
          <a:noFill/>
          <a:ln/>
        </p:spPr>
        <p:txBody>
          <a:bodyPr wrap="square" lIns="0" tIns="0" rIns="0" bIns="0" rtlCol="0" anchor="ctr"/>
          <a:lstStyle/>
          <a:p>
            <a:pPr marL="0" indent="0" algn="ctr">
              <a:buNone/>
            </a:pPr>
            <a:r>
              <a:rPr lang="en-US" sz="1400" b="1" dirty="0">
                <a:solidFill>
                  <a:srgbClr val="FFFFFF"/>
                </a:solidFill>
              </a:rPr>
              <a:t>Publish adaptive</a:t>
            </a:r>
            <a:endParaRPr lang="en-US" sz="1400" dirty="0"/>
          </a:p>
        </p:txBody>
      </p:sp>
      <p:sp>
        <p:nvSpPr>
          <p:cNvPr id="33" name="arr-408"/>
          <p:cNvSpPr/>
          <p:nvPr/>
        </p:nvSpPr>
        <p:spPr>
          <a:xfrm>
            <a:off x="9381744" y="5522976"/>
            <a:ext cx="219456" cy="237744"/>
          </a:xfrm>
          <a:prstGeom prst="rightArrow">
            <a:avLst/>
          </a:prstGeom>
          <a:solidFill>
            <a:srgbClr val="C5B8FF"/>
          </a:solidFill>
          <a:ln w="12700">
            <a:solidFill>
              <a:srgbClr val="C5B8FF"/>
            </a:solidFill>
            <a:prstDash val="solid"/>
          </a:ln>
        </p:spPr>
        <p:txBody>
          <a:bodyPr/>
          <a:lstStyle/>
          <a:p>
            <a:endParaRPr lang="en-US"/>
          </a:p>
        </p:txBody>
      </p:sp>
      <p:sp>
        <p:nvSpPr>
          <p:cNvPr id="36" name="card-409"/>
          <p:cNvSpPr/>
          <p:nvPr/>
        </p:nvSpPr>
        <p:spPr>
          <a:xfrm>
            <a:off x="9619488" y="5303520"/>
            <a:ext cx="2011680" cy="685800"/>
          </a:xfrm>
          <a:prstGeom prst="roundRect">
            <a:avLst>
              <a:gd name="adj" fmla="val 16000"/>
            </a:avLst>
          </a:prstGeom>
          <a:solidFill>
            <a:schemeClr val="bg2"/>
          </a:solidFill>
          <a:ln w="6350">
            <a:solidFill>
              <a:schemeClr val="bg2"/>
            </a:solidFill>
            <a:prstDash val="solid"/>
          </a:ln>
        </p:spPr>
        <p:txBody>
          <a:bodyPr/>
          <a:lstStyle/>
          <a:p>
            <a:endParaRPr lang="en-US"/>
          </a:p>
        </p:txBody>
      </p:sp>
      <p:sp>
        <p:nvSpPr>
          <p:cNvPr id="37" name="text-410"/>
          <p:cNvSpPr txBox="1"/>
          <p:nvPr/>
        </p:nvSpPr>
        <p:spPr>
          <a:xfrm>
            <a:off x="9710928" y="5349240"/>
            <a:ext cx="1828800" cy="594360"/>
          </a:xfrm>
          <a:prstGeom prst="rect">
            <a:avLst/>
          </a:prstGeom>
          <a:noFill/>
          <a:ln/>
        </p:spPr>
        <p:txBody>
          <a:bodyPr wrap="square" lIns="0" tIns="0" rIns="0" bIns="0" rtlCol="0" anchor="ctr"/>
          <a:lstStyle/>
          <a:p>
            <a:pPr marL="0" indent="0" algn="ctr">
              <a:buNone/>
            </a:pPr>
            <a:r>
              <a:rPr lang="en-US" sz="1400" b="1" dirty="0">
                <a:solidFill>
                  <a:schemeClr val="tx1"/>
                </a:solidFill>
              </a:rPr>
              <a:t>Insights</a:t>
            </a:r>
            <a:endParaRPr lang="en-US" sz="1400" dirty="0"/>
          </a:p>
        </p:txBody>
      </p:sp>
      <p:sp>
        <p:nvSpPr>
          <p:cNvPr id="28"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Experimental Setup</a:t>
            </a:r>
            <a:endParaRPr lang="en-US" sz="3000" dirty="0"/>
          </a:p>
        </p:txBody>
      </p:sp>
      <p:sp>
        <p:nvSpPr>
          <p:cNvPr id="3" name="badge-411"/>
          <p:cNvSpPr/>
          <p:nvPr/>
        </p:nvSpPr>
        <p:spPr>
          <a:xfrm>
            <a:off x="548640" y="137160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4" name="icon-412" descr="icon"/>
          <p:cNvPicPr>
            <a:picLocks noChangeAspect="1"/>
          </p:cNvPicPr>
          <p:nvPr/>
        </p:nvPicPr>
        <p:blipFill>
          <a:blip r:embed="rId3"/>
          <a:stretch>
            <a:fillRect/>
          </a:stretch>
        </p:blipFill>
        <p:spPr>
          <a:xfrm>
            <a:off x="691286" y="1514246"/>
            <a:ext cx="309067" cy="309067"/>
          </a:xfrm>
          <a:prstGeom prst="rect">
            <a:avLst/>
          </a:prstGeom>
        </p:spPr>
      </p:pic>
      <p:sp>
        <p:nvSpPr>
          <p:cNvPr id="5" name="text-413"/>
          <p:cNvSpPr txBox="1"/>
          <p:nvPr/>
        </p:nvSpPr>
        <p:spPr>
          <a:xfrm>
            <a:off x="1325880" y="1325880"/>
            <a:ext cx="4846320" cy="365760"/>
          </a:xfrm>
          <a:prstGeom prst="rect">
            <a:avLst/>
          </a:prstGeom>
          <a:noFill/>
          <a:ln/>
        </p:spPr>
        <p:txBody>
          <a:bodyPr wrap="square" lIns="0" tIns="0" rIns="0" bIns="0" rtlCol="0" anchor="t"/>
          <a:lstStyle/>
          <a:p>
            <a:pPr marL="0" indent="0">
              <a:buNone/>
            </a:pPr>
            <a:r>
              <a:rPr lang="en-US" sz="1700" b="1" dirty="0">
                <a:solidFill>
                  <a:schemeClr val="tx1"/>
                </a:solidFill>
              </a:rPr>
              <a:t>16-question form</a:t>
            </a:r>
            <a:endParaRPr lang="en-US" sz="1700" dirty="0"/>
          </a:p>
        </p:txBody>
      </p:sp>
      <p:sp>
        <p:nvSpPr>
          <p:cNvPr id="6" name="text-414"/>
          <p:cNvSpPr txBox="1"/>
          <p:nvPr/>
        </p:nvSpPr>
        <p:spPr>
          <a:xfrm>
            <a:off x="1325880" y="1709928"/>
            <a:ext cx="4846320" cy="640080"/>
          </a:xfrm>
          <a:prstGeom prst="rect">
            <a:avLst/>
          </a:prstGeom>
          <a:noFill/>
          <a:ln/>
        </p:spPr>
        <p:txBody>
          <a:bodyPr wrap="square" lIns="0" tIns="0" rIns="0" bIns="0" rtlCol="0" anchor="t"/>
          <a:lstStyle/>
          <a:p>
            <a:pPr marL="0" indent="0">
              <a:buNone/>
            </a:pPr>
            <a:r>
              <a:rPr lang="en-US" sz="1400" dirty="0">
                <a:solidFill>
                  <a:srgbClr val="6B6785"/>
                </a:solidFill>
              </a:rPr>
              <a:t>Internship feedback: 3 required anchors, 1 deliberately redundant question</a:t>
            </a:r>
            <a:endParaRPr lang="en-US" sz="1400" dirty="0"/>
          </a:p>
        </p:txBody>
      </p:sp>
      <p:sp>
        <p:nvSpPr>
          <p:cNvPr id="7" name="badge-415"/>
          <p:cNvSpPr/>
          <p:nvPr/>
        </p:nvSpPr>
        <p:spPr>
          <a:xfrm>
            <a:off x="548640" y="256032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8" name="icon-416" descr="icon"/>
          <p:cNvPicPr>
            <a:picLocks noChangeAspect="1"/>
          </p:cNvPicPr>
          <p:nvPr/>
        </p:nvPicPr>
        <p:blipFill>
          <a:blip r:embed="rId4"/>
          <a:stretch>
            <a:fillRect/>
          </a:stretch>
        </p:blipFill>
        <p:spPr>
          <a:xfrm>
            <a:off x="691286" y="2702966"/>
            <a:ext cx="309067" cy="309067"/>
          </a:xfrm>
          <a:prstGeom prst="rect">
            <a:avLst/>
          </a:prstGeom>
        </p:spPr>
      </p:pic>
      <p:sp>
        <p:nvSpPr>
          <p:cNvPr id="9" name="text-417"/>
          <p:cNvSpPr txBox="1"/>
          <p:nvPr/>
        </p:nvSpPr>
        <p:spPr>
          <a:xfrm>
            <a:off x="1325880" y="2514600"/>
            <a:ext cx="4846320" cy="365760"/>
          </a:xfrm>
          <a:prstGeom prst="rect">
            <a:avLst/>
          </a:prstGeom>
          <a:noFill/>
          <a:ln/>
        </p:spPr>
        <p:txBody>
          <a:bodyPr wrap="square" lIns="0" tIns="0" rIns="0" bIns="0" rtlCol="0" anchor="t"/>
          <a:lstStyle/>
          <a:p>
            <a:pPr marL="0" indent="0">
              <a:buNone/>
            </a:pPr>
            <a:r>
              <a:rPr lang="en-US" sz="1700" b="1" dirty="0">
                <a:solidFill>
                  <a:schemeClr val="tx1"/>
                </a:solidFill>
              </a:rPr>
              <a:t>Simulated respondents</a:t>
            </a:r>
            <a:endParaRPr lang="en-US" sz="1700" dirty="0"/>
          </a:p>
        </p:txBody>
      </p:sp>
      <p:sp>
        <p:nvSpPr>
          <p:cNvPr id="10" name="text-418"/>
          <p:cNvSpPr txBox="1"/>
          <p:nvPr/>
        </p:nvSpPr>
        <p:spPr>
          <a:xfrm>
            <a:off x="1325880" y="2898648"/>
            <a:ext cx="4846320" cy="640080"/>
          </a:xfrm>
          <a:prstGeom prst="rect">
            <a:avLst/>
          </a:prstGeom>
          <a:noFill/>
          <a:ln/>
        </p:spPr>
        <p:txBody>
          <a:bodyPr wrap="square" lIns="0" tIns="0" rIns="0" bIns="0" rtlCol="0" anchor="t"/>
          <a:lstStyle/>
          <a:p>
            <a:pPr marL="0" indent="0">
              <a:buNone/>
            </a:pPr>
            <a:r>
              <a:rPr lang="en-US" sz="1400" dirty="0">
                <a:solidFill>
                  <a:srgbClr val="6B6785"/>
                </a:solidFill>
              </a:rPr>
              <a:t>4 latent groups, correlated traits, noise; true answer known for every question</a:t>
            </a:r>
            <a:endParaRPr lang="en-US" sz="1400" dirty="0"/>
          </a:p>
        </p:txBody>
      </p:sp>
      <p:sp>
        <p:nvSpPr>
          <p:cNvPr id="11" name="badge-419"/>
          <p:cNvSpPr/>
          <p:nvPr/>
        </p:nvSpPr>
        <p:spPr>
          <a:xfrm>
            <a:off x="548640" y="374904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12" name="icon-420" descr="icon"/>
          <p:cNvPicPr>
            <a:picLocks noChangeAspect="1"/>
          </p:cNvPicPr>
          <p:nvPr/>
        </p:nvPicPr>
        <p:blipFill>
          <a:blip r:embed="rId5"/>
          <a:stretch>
            <a:fillRect/>
          </a:stretch>
        </p:blipFill>
        <p:spPr>
          <a:xfrm>
            <a:off x="691286" y="3891686"/>
            <a:ext cx="309067" cy="309067"/>
          </a:xfrm>
          <a:prstGeom prst="rect">
            <a:avLst/>
          </a:prstGeom>
        </p:spPr>
      </p:pic>
      <p:sp>
        <p:nvSpPr>
          <p:cNvPr id="13" name="text-421"/>
          <p:cNvSpPr txBox="1"/>
          <p:nvPr/>
        </p:nvSpPr>
        <p:spPr>
          <a:xfrm>
            <a:off x="1325880" y="3703320"/>
            <a:ext cx="4846320" cy="365760"/>
          </a:xfrm>
          <a:prstGeom prst="rect">
            <a:avLst/>
          </a:prstGeom>
          <a:noFill/>
          <a:ln/>
        </p:spPr>
        <p:txBody>
          <a:bodyPr wrap="square" lIns="0" tIns="0" rIns="0" bIns="0" rtlCol="0" anchor="t"/>
          <a:lstStyle/>
          <a:p>
            <a:pPr marL="0" indent="0">
              <a:buNone/>
            </a:pPr>
            <a:r>
              <a:rPr lang="en-US" sz="1700" b="1" dirty="0">
                <a:solidFill>
                  <a:schemeClr val="tx1"/>
                </a:solidFill>
              </a:rPr>
              <a:t>Break-off model</a:t>
            </a:r>
            <a:endParaRPr lang="en-US" sz="1700" dirty="0"/>
          </a:p>
        </p:txBody>
      </p:sp>
      <p:sp>
        <p:nvSpPr>
          <p:cNvPr id="14" name="text-422"/>
          <p:cNvSpPr txBox="1"/>
          <p:nvPr/>
        </p:nvSpPr>
        <p:spPr>
          <a:xfrm>
            <a:off x="1325880" y="4087368"/>
            <a:ext cx="4846320" cy="640080"/>
          </a:xfrm>
          <a:prstGeom prst="rect">
            <a:avLst/>
          </a:prstGeom>
          <a:noFill/>
          <a:ln/>
        </p:spPr>
        <p:txBody>
          <a:bodyPr wrap="square" lIns="0" tIns="0" rIns="0" bIns="0" rtlCol="0" anchor="t"/>
          <a:lstStyle/>
          <a:p>
            <a:pPr marL="0" indent="0">
              <a:buNone/>
            </a:pPr>
            <a:r>
              <a:rPr lang="en-US" sz="1400" dirty="0">
                <a:solidFill>
                  <a:srgbClr val="6B6785"/>
                </a:solidFill>
              </a:rPr>
              <a:t>Quit hazard grows with elapsed time; same patience for all systems (paired)</a:t>
            </a:r>
            <a:endParaRPr lang="en-US" sz="1400" dirty="0"/>
          </a:p>
        </p:txBody>
      </p:sp>
      <p:sp>
        <p:nvSpPr>
          <p:cNvPr id="15" name="badge-423"/>
          <p:cNvSpPr/>
          <p:nvPr/>
        </p:nvSpPr>
        <p:spPr>
          <a:xfrm>
            <a:off x="548640" y="4937760"/>
            <a:ext cx="594360" cy="594360"/>
          </a:xfrm>
          <a:prstGeom prst="ellipse">
            <a:avLst/>
          </a:prstGeom>
          <a:solidFill>
            <a:schemeClr val="accent1"/>
          </a:solidFill>
          <a:ln w="6350">
            <a:solidFill>
              <a:schemeClr val="accent1"/>
            </a:solidFill>
            <a:prstDash val="solid"/>
          </a:ln>
        </p:spPr>
        <p:txBody>
          <a:bodyPr/>
          <a:lstStyle/>
          <a:p>
            <a:endParaRPr lang="en-US"/>
          </a:p>
        </p:txBody>
      </p:sp>
      <p:pic>
        <p:nvPicPr>
          <p:cNvPr id="16" name="icon-424" descr="icon"/>
          <p:cNvPicPr>
            <a:picLocks noChangeAspect="1"/>
          </p:cNvPicPr>
          <p:nvPr/>
        </p:nvPicPr>
        <p:blipFill>
          <a:blip r:embed="rId6"/>
          <a:stretch>
            <a:fillRect/>
          </a:stretch>
        </p:blipFill>
        <p:spPr>
          <a:xfrm>
            <a:off x="691286" y="5080406"/>
            <a:ext cx="309067" cy="309067"/>
          </a:xfrm>
          <a:prstGeom prst="rect">
            <a:avLst/>
          </a:prstGeom>
        </p:spPr>
      </p:pic>
      <p:sp>
        <p:nvSpPr>
          <p:cNvPr id="17" name="text-425"/>
          <p:cNvSpPr txBox="1"/>
          <p:nvPr/>
        </p:nvSpPr>
        <p:spPr>
          <a:xfrm>
            <a:off x="1325880" y="4892040"/>
            <a:ext cx="4846320" cy="365760"/>
          </a:xfrm>
          <a:prstGeom prst="rect">
            <a:avLst/>
          </a:prstGeom>
          <a:noFill/>
          <a:ln/>
        </p:spPr>
        <p:txBody>
          <a:bodyPr wrap="square" lIns="0" tIns="0" rIns="0" bIns="0" rtlCol="0" anchor="t"/>
          <a:lstStyle/>
          <a:p>
            <a:pPr marL="0" indent="0">
              <a:buNone/>
            </a:pPr>
            <a:r>
              <a:rPr lang="en-US" sz="1700" b="1" dirty="0">
                <a:solidFill>
                  <a:schemeClr val="tx1"/>
                </a:solidFill>
              </a:rPr>
              <a:t>Protocol</a:t>
            </a:r>
            <a:endParaRPr lang="en-US" sz="1700" dirty="0"/>
          </a:p>
        </p:txBody>
      </p:sp>
      <p:sp>
        <p:nvSpPr>
          <p:cNvPr id="18" name="text-426"/>
          <p:cNvSpPr txBox="1"/>
          <p:nvPr/>
        </p:nvSpPr>
        <p:spPr>
          <a:xfrm>
            <a:off x="1325880" y="5276088"/>
            <a:ext cx="4846320" cy="640080"/>
          </a:xfrm>
          <a:prstGeom prst="rect">
            <a:avLst/>
          </a:prstGeom>
          <a:noFill/>
          <a:ln/>
        </p:spPr>
        <p:txBody>
          <a:bodyPr wrap="square" lIns="0" tIns="0" rIns="0" bIns="0" rtlCol="0" anchor="t"/>
          <a:lstStyle/>
          <a:p>
            <a:pPr marL="0" indent="0">
              <a:buNone/>
            </a:pPr>
            <a:r>
              <a:rPr lang="en-US" sz="1400" dirty="0">
                <a:solidFill>
                  <a:srgbClr val="6B6785"/>
                </a:solidFill>
              </a:rPr>
              <a:t>Model trained on 3,000; tested on 1,500; repeated with 5 seeds</a:t>
            </a:r>
            <a:endParaRPr lang="en-US" sz="1400" dirty="0"/>
          </a:p>
        </p:txBody>
      </p:sp>
      <p:sp>
        <p:nvSpPr>
          <p:cNvPr id="19" name="card-427"/>
          <p:cNvSpPr/>
          <p:nvPr/>
        </p:nvSpPr>
        <p:spPr>
          <a:xfrm>
            <a:off x="6537960" y="1280160"/>
            <a:ext cx="5120640" cy="2148840"/>
          </a:xfrm>
          <a:prstGeom prst="roundRect">
            <a:avLst>
              <a:gd name="adj" fmla="val 5106"/>
            </a:avLst>
          </a:prstGeom>
          <a:solidFill>
            <a:schemeClr val="bg2"/>
          </a:solidFill>
          <a:ln w="6350">
            <a:solidFill>
              <a:schemeClr val="bg2"/>
            </a:solidFill>
            <a:prstDash val="solid"/>
          </a:ln>
        </p:spPr>
        <p:txBody>
          <a:bodyPr/>
          <a:lstStyle/>
          <a:p>
            <a:endParaRPr lang="en-US"/>
          </a:p>
        </p:txBody>
      </p:sp>
      <p:sp>
        <p:nvSpPr>
          <p:cNvPr id="20" name="text-428"/>
          <p:cNvSpPr txBox="1"/>
          <p:nvPr/>
        </p:nvSpPr>
        <p:spPr>
          <a:xfrm>
            <a:off x="6766560" y="1417320"/>
            <a:ext cx="4663440" cy="365760"/>
          </a:xfrm>
          <a:prstGeom prst="rect">
            <a:avLst/>
          </a:prstGeom>
          <a:noFill/>
          <a:ln/>
        </p:spPr>
        <p:txBody>
          <a:bodyPr wrap="square" lIns="0" tIns="0" rIns="0" bIns="0" rtlCol="0" anchor="t"/>
          <a:lstStyle/>
          <a:p>
            <a:pPr marL="0" indent="0">
              <a:buNone/>
            </a:pPr>
            <a:r>
              <a:rPr lang="en-US" sz="1600" b="1" dirty="0">
                <a:solidFill>
                  <a:schemeClr val="tx1"/>
                </a:solidFill>
              </a:rPr>
              <a:t>Three systems compared</a:t>
            </a:r>
            <a:endParaRPr lang="en-US" sz="1600" dirty="0"/>
          </a:p>
        </p:txBody>
      </p:sp>
      <p:sp>
        <p:nvSpPr>
          <p:cNvPr id="21" name="text-429"/>
          <p:cNvSpPr txBox="1"/>
          <p:nvPr/>
        </p:nvSpPr>
        <p:spPr>
          <a:xfrm>
            <a:off x="6766560" y="1874520"/>
            <a:ext cx="4663440" cy="146304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Static: all 16 questions in order</a:t>
            </a:r>
            <a:endParaRPr lang="en-US" sz="1400" dirty="0"/>
          </a:p>
          <a:p>
            <a:pPr marL="203200" indent="-203200">
              <a:spcAft>
                <a:spcPts val="600"/>
              </a:spcAft>
              <a:buSzPct val="100000"/>
              <a:buChar char="•"/>
            </a:pPr>
            <a:r>
              <a:rPr lang="en-US" sz="1400" dirty="0">
                <a:solidFill>
                  <a:schemeClr val="tx1"/>
                </a:solidFill>
              </a:rPr>
              <a:t>Rule-based: hand-written skip logic</a:t>
            </a:r>
            <a:endParaRPr lang="en-US" sz="1400" dirty="0"/>
          </a:p>
          <a:p>
            <a:pPr marL="203200" indent="-203200">
              <a:spcAft>
                <a:spcPts val="600"/>
              </a:spcAft>
              <a:buSzPct val="100000"/>
              <a:buChar char="•"/>
            </a:pPr>
            <a:r>
              <a:rPr lang="en-US" sz="1400" dirty="0">
                <a:solidFill>
                  <a:schemeClr val="tx1"/>
                </a:solidFill>
              </a:rPr>
              <a:t>FormForge adaptive: utility engine, max 10 questions</a:t>
            </a:r>
            <a:endParaRPr lang="en-US" sz="1400" dirty="0"/>
          </a:p>
        </p:txBody>
      </p:sp>
      <p:sp>
        <p:nvSpPr>
          <p:cNvPr id="22" name="card-430"/>
          <p:cNvSpPr/>
          <p:nvPr/>
        </p:nvSpPr>
        <p:spPr>
          <a:xfrm>
            <a:off x="6537960" y="3611880"/>
            <a:ext cx="5120640" cy="2468880"/>
          </a:xfrm>
          <a:prstGeom prst="roundRect">
            <a:avLst>
              <a:gd name="adj" fmla="val 4444"/>
            </a:avLst>
          </a:prstGeom>
          <a:solidFill>
            <a:srgbClr val="F8F9FA"/>
          </a:solidFill>
          <a:ln w="6350">
            <a:solidFill>
              <a:srgbClr val="F8F9FA"/>
            </a:solidFill>
            <a:prstDash val="solid"/>
          </a:ln>
        </p:spPr>
        <p:txBody>
          <a:bodyPr/>
          <a:lstStyle/>
          <a:p>
            <a:endParaRPr lang="en-US"/>
          </a:p>
        </p:txBody>
      </p:sp>
      <p:sp>
        <p:nvSpPr>
          <p:cNvPr id="23" name="text-431"/>
          <p:cNvSpPr txBox="1"/>
          <p:nvPr/>
        </p:nvSpPr>
        <p:spPr>
          <a:xfrm>
            <a:off x="6766560" y="3749040"/>
            <a:ext cx="4663440" cy="365760"/>
          </a:xfrm>
          <a:prstGeom prst="rect">
            <a:avLst/>
          </a:prstGeom>
          <a:noFill/>
          <a:ln/>
        </p:spPr>
        <p:txBody>
          <a:bodyPr wrap="square" lIns="0" tIns="0" rIns="0" bIns="0" rtlCol="0" anchor="t"/>
          <a:lstStyle/>
          <a:p>
            <a:pPr marL="0" indent="0">
              <a:buNone/>
            </a:pPr>
            <a:r>
              <a:rPr lang="en-US" sz="1600" b="1" dirty="0">
                <a:solidFill>
                  <a:schemeClr val="tx1"/>
                </a:solidFill>
              </a:rPr>
              <a:t>Seven metrics</a:t>
            </a:r>
            <a:endParaRPr lang="en-US" sz="1600" dirty="0"/>
          </a:p>
        </p:txBody>
      </p:sp>
      <p:sp>
        <p:nvSpPr>
          <p:cNvPr id="24" name="text-432"/>
          <p:cNvSpPr txBox="1"/>
          <p:nvPr/>
        </p:nvSpPr>
        <p:spPr>
          <a:xfrm>
            <a:off x="6766560" y="4206240"/>
            <a:ext cx="4663440" cy="173736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Questions asked, completion time, completion rate</a:t>
            </a:r>
            <a:endParaRPr lang="en-US" sz="1400" dirty="0"/>
          </a:p>
          <a:p>
            <a:pPr marL="203200" indent="-203200">
              <a:spcAft>
                <a:spcPts val="600"/>
              </a:spcAft>
              <a:buSzPct val="100000"/>
              <a:buChar char="•"/>
            </a:pPr>
            <a:r>
              <a:rPr lang="en-US" sz="1400" dirty="0">
                <a:solidFill>
                  <a:schemeClr val="tx1"/>
                </a:solidFill>
              </a:rPr>
              <a:t>Information coverage, redundant questions</a:t>
            </a:r>
            <a:endParaRPr lang="en-US" sz="1400" dirty="0"/>
          </a:p>
          <a:p>
            <a:pPr marL="203200" indent="-203200">
              <a:spcAft>
                <a:spcPts val="600"/>
              </a:spcAft>
              <a:buSzPct val="100000"/>
              <a:buChar char="•"/>
            </a:pPr>
            <a:r>
              <a:rPr lang="en-US" sz="1400" dirty="0">
                <a:solidFill>
                  <a:schemeClr val="tx1"/>
                </a:solidFill>
              </a:rPr>
              <a:t>Prediction accuracy, targets per question</a:t>
            </a:r>
            <a:endParaRPr lang="en-US" sz="14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Adaptive vs Static vs Rule-Based</a:t>
            </a:r>
            <a:endParaRPr lang="en-US" sz="3000" dirty="0"/>
          </a:p>
        </p:txBody>
      </p:sp>
      <p:sp>
        <p:nvSpPr>
          <p:cNvPr id="3" name="card-433"/>
          <p:cNvSpPr/>
          <p:nvPr/>
        </p:nvSpPr>
        <p:spPr>
          <a:xfrm>
            <a:off x="548640" y="1234440"/>
            <a:ext cx="4023360" cy="1097280"/>
          </a:xfrm>
          <a:prstGeom prst="roundRect">
            <a:avLst>
              <a:gd name="adj" fmla="val 10000"/>
            </a:avLst>
          </a:prstGeom>
          <a:solidFill>
            <a:schemeClr val="bg2"/>
          </a:solidFill>
          <a:ln w="6350">
            <a:solidFill>
              <a:schemeClr val="bg2"/>
            </a:solidFill>
            <a:prstDash val="solid"/>
          </a:ln>
        </p:spPr>
        <p:txBody>
          <a:bodyPr/>
          <a:lstStyle/>
          <a:p>
            <a:endParaRPr lang="en-US"/>
          </a:p>
        </p:txBody>
      </p:sp>
      <p:sp>
        <p:nvSpPr>
          <p:cNvPr id="4" name="text-434"/>
          <p:cNvSpPr txBox="1"/>
          <p:nvPr/>
        </p:nvSpPr>
        <p:spPr>
          <a:xfrm>
            <a:off x="731520" y="1344168"/>
            <a:ext cx="2011680" cy="868680"/>
          </a:xfrm>
          <a:prstGeom prst="rect">
            <a:avLst/>
          </a:prstGeom>
          <a:noFill/>
          <a:ln/>
        </p:spPr>
        <p:txBody>
          <a:bodyPr wrap="square" lIns="0" tIns="0" rIns="0" bIns="0" rtlCol="0" anchor="ctr"/>
          <a:lstStyle/>
          <a:p>
            <a:pPr marL="0" indent="0">
              <a:buNone/>
            </a:pPr>
            <a:r>
              <a:rPr lang="en-US" sz="3400" b="1" dirty="0">
                <a:solidFill>
                  <a:schemeClr val="accent2"/>
                </a:solidFill>
              </a:rPr>
              <a:t>−35%</a:t>
            </a:r>
            <a:endParaRPr lang="en-US" sz="3400" dirty="0"/>
          </a:p>
        </p:txBody>
      </p:sp>
      <p:sp>
        <p:nvSpPr>
          <p:cNvPr id="5" name="text-435"/>
          <p:cNvSpPr txBox="1"/>
          <p:nvPr/>
        </p:nvSpPr>
        <p:spPr>
          <a:xfrm>
            <a:off x="2743200" y="1389888"/>
            <a:ext cx="1737360" cy="365760"/>
          </a:xfrm>
          <a:prstGeom prst="rect">
            <a:avLst/>
          </a:prstGeom>
          <a:noFill/>
          <a:ln/>
        </p:spPr>
        <p:txBody>
          <a:bodyPr wrap="square" lIns="0" tIns="0" rIns="0" bIns="0" rtlCol="0" anchor="t"/>
          <a:lstStyle/>
          <a:p>
            <a:pPr marL="0" indent="0">
              <a:buNone/>
            </a:pPr>
            <a:r>
              <a:rPr lang="en-US" sz="1500" b="1" dirty="0">
                <a:solidFill>
                  <a:schemeClr val="tx1"/>
                </a:solidFill>
              </a:rPr>
              <a:t>questions asked</a:t>
            </a:r>
            <a:endParaRPr lang="en-US" sz="1500" dirty="0"/>
          </a:p>
        </p:txBody>
      </p:sp>
      <p:sp>
        <p:nvSpPr>
          <p:cNvPr id="6" name="text-436"/>
          <p:cNvSpPr txBox="1"/>
          <p:nvPr/>
        </p:nvSpPr>
        <p:spPr>
          <a:xfrm>
            <a:off x="2743200" y="1783080"/>
            <a:ext cx="1737360" cy="411480"/>
          </a:xfrm>
          <a:prstGeom prst="rect">
            <a:avLst/>
          </a:prstGeom>
          <a:noFill/>
          <a:ln/>
        </p:spPr>
        <p:txBody>
          <a:bodyPr wrap="square" lIns="0" tIns="0" rIns="0" bIns="0" rtlCol="0" anchor="t"/>
          <a:lstStyle/>
          <a:p>
            <a:pPr marL="0" indent="0">
              <a:buNone/>
            </a:pPr>
            <a:r>
              <a:rPr lang="en-US" sz="1200" dirty="0">
                <a:solidFill>
                  <a:srgbClr val="6B6785"/>
                </a:solidFill>
              </a:rPr>
              <a:t>13.7 → 8.9</a:t>
            </a:r>
            <a:endParaRPr lang="en-US" sz="1200" dirty="0"/>
          </a:p>
        </p:txBody>
      </p:sp>
      <p:sp>
        <p:nvSpPr>
          <p:cNvPr id="7" name="card-437"/>
          <p:cNvSpPr/>
          <p:nvPr/>
        </p:nvSpPr>
        <p:spPr>
          <a:xfrm>
            <a:off x="548640" y="2468880"/>
            <a:ext cx="4023360" cy="1097280"/>
          </a:xfrm>
          <a:prstGeom prst="roundRect">
            <a:avLst>
              <a:gd name="adj" fmla="val 10000"/>
            </a:avLst>
          </a:prstGeom>
          <a:solidFill>
            <a:srgbClr val="F8F9FA"/>
          </a:solidFill>
          <a:ln w="6350">
            <a:solidFill>
              <a:srgbClr val="F8F9FA"/>
            </a:solidFill>
            <a:prstDash val="solid"/>
          </a:ln>
        </p:spPr>
        <p:txBody>
          <a:bodyPr/>
          <a:lstStyle/>
          <a:p>
            <a:endParaRPr lang="en-US"/>
          </a:p>
        </p:txBody>
      </p:sp>
      <p:sp>
        <p:nvSpPr>
          <p:cNvPr id="8" name="text-438"/>
          <p:cNvSpPr txBox="1"/>
          <p:nvPr/>
        </p:nvSpPr>
        <p:spPr>
          <a:xfrm>
            <a:off x="731520" y="2578608"/>
            <a:ext cx="2011680" cy="868680"/>
          </a:xfrm>
          <a:prstGeom prst="rect">
            <a:avLst/>
          </a:prstGeom>
          <a:noFill/>
          <a:ln/>
        </p:spPr>
        <p:txBody>
          <a:bodyPr wrap="square" lIns="0" tIns="0" rIns="0" bIns="0" rtlCol="0" anchor="ctr"/>
          <a:lstStyle/>
          <a:p>
            <a:pPr marL="0" indent="0">
              <a:buNone/>
            </a:pPr>
            <a:r>
              <a:rPr lang="en-US" sz="3400" b="1" dirty="0">
                <a:solidFill>
                  <a:schemeClr val="accent2"/>
                </a:solidFill>
              </a:rPr>
              <a:t>−35%</a:t>
            </a:r>
            <a:endParaRPr lang="en-US" sz="3400" dirty="0"/>
          </a:p>
        </p:txBody>
      </p:sp>
      <p:sp>
        <p:nvSpPr>
          <p:cNvPr id="9" name="text-439"/>
          <p:cNvSpPr txBox="1"/>
          <p:nvPr/>
        </p:nvSpPr>
        <p:spPr>
          <a:xfrm>
            <a:off x="2743200" y="2624328"/>
            <a:ext cx="1737360" cy="365760"/>
          </a:xfrm>
          <a:prstGeom prst="rect">
            <a:avLst/>
          </a:prstGeom>
          <a:noFill/>
          <a:ln/>
        </p:spPr>
        <p:txBody>
          <a:bodyPr wrap="square" lIns="0" tIns="0" rIns="0" bIns="0" rtlCol="0" anchor="t"/>
          <a:lstStyle/>
          <a:p>
            <a:pPr marL="0" indent="0">
              <a:buNone/>
            </a:pPr>
            <a:r>
              <a:rPr lang="en-US" sz="1500" b="1" dirty="0">
                <a:solidFill>
                  <a:schemeClr val="tx1"/>
                </a:solidFill>
              </a:rPr>
              <a:t>completion time</a:t>
            </a:r>
            <a:endParaRPr lang="en-US" sz="1500" dirty="0"/>
          </a:p>
        </p:txBody>
      </p:sp>
      <p:sp>
        <p:nvSpPr>
          <p:cNvPr id="10" name="text-440"/>
          <p:cNvSpPr txBox="1"/>
          <p:nvPr/>
        </p:nvSpPr>
        <p:spPr>
          <a:xfrm>
            <a:off x="2743200" y="3017520"/>
            <a:ext cx="1737360" cy="411480"/>
          </a:xfrm>
          <a:prstGeom prst="rect">
            <a:avLst/>
          </a:prstGeom>
          <a:noFill/>
          <a:ln/>
        </p:spPr>
        <p:txBody>
          <a:bodyPr wrap="square" lIns="0" tIns="0" rIns="0" bIns="0" rtlCol="0" anchor="t"/>
          <a:lstStyle/>
          <a:p>
            <a:pPr marL="0" indent="0">
              <a:buNone/>
            </a:pPr>
            <a:r>
              <a:rPr lang="en-US" sz="1200" dirty="0">
                <a:solidFill>
                  <a:srgbClr val="6B6785"/>
                </a:solidFill>
              </a:rPr>
              <a:t>146 s → 95 s</a:t>
            </a:r>
            <a:endParaRPr lang="en-US" sz="1200" dirty="0"/>
          </a:p>
        </p:txBody>
      </p:sp>
      <p:sp>
        <p:nvSpPr>
          <p:cNvPr id="11" name="card-441"/>
          <p:cNvSpPr/>
          <p:nvPr/>
        </p:nvSpPr>
        <p:spPr>
          <a:xfrm>
            <a:off x="548640" y="3703320"/>
            <a:ext cx="4023360" cy="1097280"/>
          </a:xfrm>
          <a:prstGeom prst="roundRect">
            <a:avLst>
              <a:gd name="adj" fmla="val 10000"/>
            </a:avLst>
          </a:prstGeom>
          <a:solidFill>
            <a:schemeClr val="bg2"/>
          </a:solidFill>
          <a:ln w="6350">
            <a:solidFill>
              <a:schemeClr val="bg2"/>
            </a:solidFill>
            <a:prstDash val="solid"/>
          </a:ln>
        </p:spPr>
        <p:txBody>
          <a:bodyPr/>
          <a:lstStyle/>
          <a:p>
            <a:endParaRPr lang="en-US"/>
          </a:p>
        </p:txBody>
      </p:sp>
      <p:sp>
        <p:nvSpPr>
          <p:cNvPr id="12" name="text-442"/>
          <p:cNvSpPr txBox="1"/>
          <p:nvPr/>
        </p:nvSpPr>
        <p:spPr>
          <a:xfrm>
            <a:off x="731520" y="3813048"/>
            <a:ext cx="2011680" cy="868680"/>
          </a:xfrm>
          <a:prstGeom prst="rect">
            <a:avLst/>
          </a:prstGeom>
          <a:noFill/>
          <a:ln/>
        </p:spPr>
        <p:txBody>
          <a:bodyPr wrap="square" lIns="0" tIns="0" rIns="0" bIns="0" rtlCol="0" anchor="ctr"/>
          <a:lstStyle/>
          <a:p>
            <a:pPr marL="0" indent="0">
              <a:buNone/>
            </a:pPr>
            <a:r>
              <a:rPr lang="en-US" sz="3400" b="1" dirty="0">
                <a:solidFill>
                  <a:schemeClr val="accent2"/>
                </a:solidFill>
              </a:rPr>
              <a:t>+14.1 pts</a:t>
            </a:r>
            <a:endParaRPr lang="en-US" sz="3400" dirty="0"/>
          </a:p>
        </p:txBody>
      </p:sp>
      <p:sp>
        <p:nvSpPr>
          <p:cNvPr id="13" name="text-443"/>
          <p:cNvSpPr txBox="1"/>
          <p:nvPr/>
        </p:nvSpPr>
        <p:spPr>
          <a:xfrm>
            <a:off x="2743200" y="3858768"/>
            <a:ext cx="1737360" cy="365760"/>
          </a:xfrm>
          <a:prstGeom prst="rect">
            <a:avLst/>
          </a:prstGeom>
          <a:noFill/>
          <a:ln/>
        </p:spPr>
        <p:txBody>
          <a:bodyPr wrap="square" lIns="0" tIns="0" rIns="0" bIns="0" rtlCol="0" anchor="t"/>
          <a:lstStyle/>
          <a:p>
            <a:pPr marL="0" indent="0">
              <a:buNone/>
            </a:pPr>
            <a:r>
              <a:rPr lang="en-US" sz="1500" b="1" dirty="0">
                <a:solidFill>
                  <a:schemeClr val="tx1"/>
                </a:solidFill>
              </a:rPr>
              <a:t>completion rate</a:t>
            </a:r>
            <a:endParaRPr lang="en-US" sz="1500" dirty="0"/>
          </a:p>
        </p:txBody>
      </p:sp>
      <p:sp>
        <p:nvSpPr>
          <p:cNvPr id="14" name="text-444"/>
          <p:cNvSpPr txBox="1"/>
          <p:nvPr/>
        </p:nvSpPr>
        <p:spPr>
          <a:xfrm>
            <a:off x="2743200" y="4251960"/>
            <a:ext cx="1737360" cy="411480"/>
          </a:xfrm>
          <a:prstGeom prst="rect">
            <a:avLst/>
          </a:prstGeom>
          <a:noFill/>
          <a:ln/>
        </p:spPr>
        <p:txBody>
          <a:bodyPr wrap="square" lIns="0" tIns="0" rIns="0" bIns="0" rtlCol="0" anchor="t"/>
          <a:lstStyle/>
          <a:p>
            <a:pPr marL="0" indent="0">
              <a:buNone/>
            </a:pPr>
            <a:r>
              <a:rPr lang="en-US" sz="1200" dirty="0">
                <a:solidFill>
                  <a:srgbClr val="6B6785"/>
                </a:solidFill>
              </a:rPr>
              <a:t>70.3% → 84.5%</a:t>
            </a:r>
            <a:endParaRPr lang="en-US" sz="1200" dirty="0"/>
          </a:p>
        </p:txBody>
      </p:sp>
      <p:sp>
        <p:nvSpPr>
          <p:cNvPr id="15" name="card-445"/>
          <p:cNvSpPr/>
          <p:nvPr/>
        </p:nvSpPr>
        <p:spPr>
          <a:xfrm>
            <a:off x="548640" y="4937760"/>
            <a:ext cx="4023360" cy="1097280"/>
          </a:xfrm>
          <a:prstGeom prst="roundRect">
            <a:avLst>
              <a:gd name="adj" fmla="val 10000"/>
            </a:avLst>
          </a:prstGeom>
          <a:solidFill>
            <a:srgbClr val="F8F9FA"/>
          </a:solidFill>
          <a:ln w="6350">
            <a:solidFill>
              <a:srgbClr val="F8F9FA"/>
            </a:solidFill>
            <a:prstDash val="solid"/>
          </a:ln>
        </p:spPr>
        <p:txBody>
          <a:bodyPr/>
          <a:lstStyle/>
          <a:p>
            <a:endParaRPr lang="en-US"/>
          </a:p>
        </p:txBody>
      </p:sp>
      <p:sp>
        <p:nvSpPr>
          <p:cNvPr id="16" name="text-446"/>
          <p:cNvSpPr txBox="1"/>
          <p:nvPr/>
        </p:nvSpPr>
        <p:spPr>
          <a:xfrm>
            <a:off x="731520" y="5047488"/>
            <a:ext cx="2011680" cy="868680"/>
          </a:xfrm>
          <a:prstGeom prst="rect">
            <a:avLst/>
          </a:prstGeom>
          <a:noFill/>
          <a:ln/>
        </p:spPr>
        <p:txBody>
          <a:bodyPr wrap="square" lIns="0" tIns="0" rIns="0" bIns="0" rtlCol="0" anchor="ctr"/>
          <a:lstStyle/>
          <a:p>
            <a:pPr marL="0" indent="0">
              <a:buNone/>
            </a:pPr>
            <a:r>
              <a:rPr lang="en-US" sz="3400" b="1" dirty="0">
                <a:solidFill>
                  <a:schemeClr val="accent2"/>
                </a:solidFill>
              </a:rPr>
              <a:t>0</a:t>
            </a:r>
            <a:endParaRPr lang="en-US" sz="3400" dirty="0"/>
          </a:p>
        </p:txBody>
      </p:sp>
      <p:sp>
        <p:nvSpPr>
          <p:cNvPr id="17" name="text-447"/>
          <p:cNvSpPr txBox="1"/>
          <p:nvPr/>
        </p:nvSpPr>
        <p:spPr>
          <a:xfrm>
            <a:off x="2743200" y="5093208"/>
            <a:ext cx="1737360" cy="365760"/>
          </a:xfrm>
          <a:prstGeom prst="rect">
            <a:avLst/>
          </a:prstGeom>
          <a:noFill/>
          <a:ln/>
        </p:spPr>
        <p:txBody>
          <a:bodyPr wrap="square" lIns="0" tIns="0" rIns="0" bIns="0" rtlCol="0" anchor="t"/>
          <a:lstStyle/>
          <a:p>
            <a:pPr marL="0" indent="0">
              <a:buNone/>
            </a:pPr>
            <a:r>
              <a:rPr lang="en-US" sz="1500" b="1" dirty="0">
                <a:solidFill>
                  <a:schemeClr val="tx1"/>
                </a:solidFill>
              </a:rPr>
              <a:t>redundant questions</a:t>
            </a:r>
            <a:endParaRPr lang="en-US" sz="1500" dirty="0"/>
          </a:p>
        </p:txBody>
      </p:sp>
      <p:sp>
        <p:nvSpPr>
          <p:cNvPr id="18" name="text-448"/>
          <p:cNvSpPr txBox="1"/>
          <p:nvPr/>
        </p:nvSpPr>
        <p:spPr>
          <a:xfrm>
            <a:off x="2743200" y="5486400"/>
            <a:ext cx="1737360" cy="411480"/>
          </a:xfrm>
          <a:prstGeom prst="rect">
            <a:avLst/>
          </a:prstGeom>
          <a:noFill/>
          <a:ln/>
        </p:spPr>
        <p:txBody>
          <a:bodyPr wrap="square" lIns="0" tIns="0" rIns="0" bIns="0" rtlCol="0" anchor="t"/>
          <a:lstStyle/>
          <a:p>
            <a:pPr marL="0" indent="0">
              <a:buNone/>
            </a:pPr>
            <a:r>
              <a:rPr lang="en-US" sz="1200" dirty="0">
                <a:solidFill>
                  <a:srgbClr val="6B6785"/>
                </a:solidFill>
              </a:rPr>
              <a:t>static asked 0.31 per person</a:t>
            </a:r>
            <a:endParaRPr lang="en-US" sz="1200" dirty="0"/>
          </a:p>
        </p:txBody>
      </p:sp>
      <p:graphicFrame>
        <p:nvGraphicFramePr>
          <p:cNvPr id="19" name="chart-main"/>
          <p:cNvGraphicFramePr/>
          <p:nvPr/>
        </p:nvGraphicFramePr>
        <p:xfrm>
          <a:off x="4846320" y="1188720"/>
          <a:ext cx="68122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20" name="text-449"/>
          <p:cNvSpPr txBox="1"/>
          <p:nvPr/>
        </p:nvSpPr>
        <p:spPr>
          <a:xfrm>
            <a:off x="4846320" y="5806440"/>
            <a:ext cx="6812280" cy="411480"/>
          </a:xfrm>
          <a:prstGeom prst="rect">
            <a:avLst/>
          </a:prstGeom>
          <a:noFill/>
          <a:ln/>
        </p:spPr>
        <p:txBody>
          <a:bodyPr wrap="square" lIns="0" tIns="0" rIns="0" bIns="0" rtlCol="0" anchor="t"/>
          <a:lstStyle/>
          <a:p>
            <a:pPr marL="0" indent="0">
              <a:buNone/>
            </a:pPr>
            <a:r>
              <a:rPr lang="en-US" sz="1300" i="1" dirty="0">
                <a:solidFill>
                  <a:srgbClr val="6B6785"/>
                </a:solidFill>
              </a:rPr>
              <a:t>Same information, fewer questions: adaptive coverage 82.1% vs 85.4% static, at 1.53 vs 0.93 targets per question</a:t>
            </a:r>
            <a:endParaRPr lang="en-US" sz="13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Cold Start and Ablation</a:t>
            </a:r>
            <a:endParaRPr lang="en-US" sz="3000" dirty="0"/>
          </a:p>
        </p:txBody>
      </p:sp>
      <p:graphicFrame>
        <p:nvGraphicFramePr>
          <p:cNvPr id="3" name="chart-cold"/>
          <p:cNvGraphicFramePr/>
          <p:nvPr/>
        </p:nvGraphicFramePr>
        <p:xfrm>
          <a:off x="548640" y="1188720"/>
          <a:ext cx="5486400" cy="4206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chart-ablation"/>
          <p:cNvGraphicFramePr/>
          <p:nvPr/>
        </p:nvGraphicFramePr>
        <p:xfrm>
          <a:off x="6263640" y="1188720"/>
          <a:ext cx="539496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5" name="text-450"/>
          <p:cNvSpPr txBox="1"/>
          <p:nvPr/>
        </p:nvSpPr>
        <p:spPr>
          <a:xfrm>
            <a:off x="548640" y="5532120"/>
            <a:ext cx="5486400" cy="548640"/>
          </a:xfrm>
          <a:prstGeom prst="rect">
            <a:avLst/>
          </a:prstGeom>
          <a:noFill/>
          <a:ln/>
        </p:spPr>
        <p:txBody>
          <a:bodyPr wrap="square" lIns="0" tIns="0" rIns="0" bIns="0" rtlCol="0" anchor="t"/>
          <a:lstStyle/>
          <a:p>
            <a:pPr marL="0" indent="0">
              <a:buNone/>
            </a:pPr>
            <a:r>
              <a:rPr lang="en-US" sz="1300" i="1" dirty="0">
                <a:solidFill>
                  <a:srgbClr val="6B6785"/>
                </a:solidFill>
              </a:rPr>
              <a:t>Simulation: 53% → 85% before any real response. Live check with 40 Gemini personas: 56% → 73% (real data: 82%)</a:t>
            </a:r>
            <a:endParaRPr lang="en-US" sz="1300" dirty="0"/>
          </a:p>
        </p:txBody>
      </p:sp>
      <p:sp>
        <p:nvSpPr>
          <p:cNvPr id="6" name="text-451"/>
          <p:cNvSpPr txBox="1"/>
          <p:nvPr/>
        </p:nvSpPr>
        <p:spPr>
          <a:xfrm>
            <a:off x="6263640" y="5532120"/>
            <a:ext cx="5394960" cy="548640"/>
          </a:xfrm>
          <a:prstGeom prst="rect">
            <a:avLst/>
          </a:prstGeom>
          <a:noFill/>
          <a:ln/>
        </p:spPr>
        <p:txBody>
          <a:bodyPr wrap="square" lIns="0" tIns="0" rIns="0" bIns="0" rtlCol="0" anchor="t"/>
          <a:lstStyle/>
          <a:p>
            <a:pPr marL="0" indent="0">
              <a:buNone/>
            </a:pPr>
            <a:r>
              <a:rPr lang="en-US" sz="1300" i="1" dirty="0">
                <a:solidFill>
                  <a:srgbClr val="6B6785"/>
                </a:solidFill>
              </a:rPr>
              <a:t>The respondent model matters most: a fixed top-10 order asks 0.33 redundant questions per person vs 0 for the engine</a:t>
            </a:r>
            <a:endParaRPr lang="en-US" sz="13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tx1"/>
                </a:solidFill>
              </a:rPr>
              <a:t>Quality Analyzer, PII Masking and Cost</a:t>
            </a:r>
            <a:endParaRPr lang="en-US" sz="3000" dirty="0"/>
          </a:p>
        </p:txBody>
      </p:sp>
      <p:graphicFrame>
        <p:nvGraphicFramePr>
          <p:cNvPr id="3" name="chart-quality"/>
          <p:cNvGraphicFramePr/>
          <p:nvPr/>
        </p:nvGraphicFramePr>
        <p:xfrm>
          <a:off x="548640" y="1188720"/>
          <a:ext cx="57607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452"/>
          <p:cNvSpPr txBox="1"/>
          <p:nvPr/>
        </p:nvSpPr>
        <p:spPr>
          <a:xfrm>
            <a:off x="548640" y="5257800"/>
            <a:ext cx="5760720" cy="365760"/>
          </a:xfrm>
          <a:prstGeom prst="rect">
            <a:avLst/>
          </a:prstGeom>
          <a:noFill/>
          <a:ln/>
        </p:spPr>
        <p:txBody>
          <a:bodyPr wrap="square" lIns="0" tIns="0" rIns="0" bIns="0" rtlCol="0" anchor="t"/>
          <a:lstStyle/>
          <a:p>
            <a:pPr marL="0" indent="0">
              <a:buNone/>
            </a:pPr>
            <a:r>
              <a:rPr lang="en-US" sz="1300" i="1" dirty="0">
                <a:solidFill>
                  <a:srgbClr val="6B6785"/>
                </a:solidFill>
              </a:rPr>
              <a:t>Accuracy 90% for flagged vs clean questions</a:t>
            </a:r>
            <a:endParaRPr lang="en-US" sz="1300" dirty="0"/>
          </a:p>
        </p:txBody>
      </p:sp>
      <p:sp>
        <p:nvSpPr>
          <p:cNvPr id="5" name="card-453"/>
          <p:cNvSpPr/>
          <p:nvPr/>
        </p:nvSpPr>
        <p:spPr>
          <a:xfrm>
            <a:off x="6537960" y="1188720"/>
            <a:ext cx="5120640" cy="1783080"/>
          </a:xfrm>
          <a:prstGeom prst="roundRect">
            <a:avLst>
              <a:gd name="adj" fmla="val 6154"/>
            </a:avLst>
          </a:prstGeom>
          <a:solidFill>
            <a:schemeClr val="bg2"/>
          </a:solidFill>
          <a:ln w="6350">
            <a:solidFill>
              <a:schemeClr val="bg2"/>
            </a:solidFill>
            <a:prstDash val="solid"/>
          </a:ln>
        </p:spPr>
        <p:txBody>
          <a:bodyPr/>
          <a:lstStyle/>
          <a:p>
            <a:endParaRPr lang="en-US"/>
          </a:p>
        </p:txBody>
      </p:sp>
      <p:sp>
        <p:nvSpPr>
          <p:cNvPr id="6" name="text-454"/>
          <p:cNvSpPr txBox="1"/>
          <p:nvPr/>
        </p:nvSpPr>
        <p:spPr>
          <a:xfrm>
            <a:off x="6766560" y="1325880"/>
            <a:ext cx="2194560" cy="822960"/>
          </a:xfrm>
          <a:prstGeom prst="rect">
            <a:avLst/>
          </a:prstGeom>
          <a:noFill/>
          <a:ln/>
        </p:spPr>
        <p:txBody>
          <a:bodyPr wrap="square" lIns="0" tIns="0" rIns="0" bIns="0" rtlCol="0" anchor="t"/>
          <a:lstStyle/>
          <a:p>
            <a:pPr marL="0" indent="0">
              <a:buNone/>
            </a:pPr>
            <a:r>
              <a:rPr lang="en-US" sz="3600" b="1" dirty="0">
                <a:solidFill>
                  <a:schemeClr val="accent1"/>
                </a:solidFill>
              </a:rPr>
              <a:t>F1 0.91</a:t>
            </a:r>
            <a:endParaRPr lang="en-US" sz="3600" dirty="0"/>
          </a:p>
        </p:txBody>
      </p:sp>
      <p:sp>
        <p:nvSpPr>
          <p:cNvPr id="7" name="text-455"/>
          <p:cNvSpPr txBox="1"/>
          <p:nvPr/>
        </p:nvSpPr>
        <p:spPr>
          <a:xfrm>
            <a:off x="8961120" y="1417320"/>
            <a:ext cx="2560320" cy="365760"/>
          </a:xfrm>
          <a:prstGeom prst="rect">
            <a:avLst/>
          </a:prstGeom>
          <a:noFill/>
          <a:ln/>
        </p:spPr>
        <p:txBody>
          <a:bodyPr wrap="square" lIns="0" tIns="0" rIns="0" bIns="0" rtlCol="0" anchor="t"/>
          <a:lstStyle/>
          <a:p>
            <a:pPr marL="0" indent="0">
              <a:buNone/>
            </a:pPr>
            <a:r>
              <a:rPr lang="en-US" sz="1600" b="1" dirty="0">
                <a:solidFill>
                  <a:schemeClr val="tx1"/>
                </a:solidFill>
              </a:rPr>
              <a:t>PII detection</a:t>
            </a:r>
            <a:endParaRPr lang="en-US" sz="1600" dirty="0"/>
          </a:p>
        </p:txBody>
      </p:sp>
      <p:sp>
        <p:nvSpPr>
          <p:cNvPr id="8" name="text-456"/>
          <p:cNvSpPr txBox="1"/>
          <p:nvPr/>
        </p:nvSpPr>
        <p:spPr>
          <a:xfrm>
            <a:off x="8961120" y="1783080"/>
            <a:ext cx="2560320" cy="1005840"/>
          </a:xfrm>
          <a:prstGeom prst="rect">
            <a:avLst/>
          </a:prstGeom>
          <a:noFill/>
          <a:ln/>
        </p:spPr>
        <p:txBody>
          <a:bodyPr wrap="square" lIns="0" tIns="0" rIns="0" bIns="0" rtlCol="0" anchor="t"/>
          <a:lstStyle/>
          <a:p>
            <a:pPr marL="0" indent="0">
              <a:buNone/>
            </a:pPr>
            <a:r>
              <a:rPr lang="en-US" sz="1300" dirty="0">
                <a:solidFill>
                  <a:srgbClr val="6B6785"/>
                </a:solidFill>
              </a:rPr>
              <a:t>20 of 23 entities masked; precision 0.95, recall 0.87</a:t>
            </a:r>
            <a:endParaRPr lang="en-US" sz="1300" dirty="0"/>
          </a:p>
        </p:txBody>
      </p:sp>
      <p:sp>
        <p:nvSpPr>
          <p:cNvPr id="9" name="card-457"/>
          <p:cNvSpPr/>
          <p:nvPr/>
        </p:nvSpPr>
        <p:spPr>
          <a:xfrm>
            <a:off x="6537960" y="3154680"/>
            <a:ext cx="5120640" cy="2926080"/>
          </a:xfrm>
          <a:prstGeom prst="roundRect">
            <a:avLst>
              <a:gd name="adj" fmla="val 3750"/>
            </a:avLst>
          </a:prstGeom>
          <a:solidFill>
            <a:schemeClr val="tx2"/>
          </a:solidFill>
          <a:ln w="6350">
            <a:solidFill>
              <a:schemeClr val="tx2"/>
            </a:solidFill>
            <a:prstDash val="solid"/>
          </a:ln>
        </p:spPr>
        <p:txBody>
          <a:bodyPr/>
          <a:lstStyle/>
          <a:p>
            <a:endParaRPr lang="en-US"/>
          </a:p>
        </p:txBody>
      </p:sp>
      <p:sp>
        <p:nvSpPr>
          <p:cNvPr id="10" name="text-458"/>
          <p:cNvSpPr txBox="1"/>
          <p:nvPr/>
        </p:nvSpPr>
        <p:spPr>
          <a:xfrm>
            <a:off x="6766560" y="3291840"/>
            <a:ext cx="2194560" cy="1097280"/>
          </a:xfrm>
          <a:prstGeom prst="rect">
            <a:avLst/>
          </a:prstGeom>
          <a:noFill/>
          <a:ln/>
        </p:spPr>
        <p:txBody>
          <a:bodyPr wrap="square" lIns="0" tIns="0" rIns="0" bIns="0" rtlCol="0" anchor="t"/>
          <a:lstStyle/>
          <a:p>
            <a:pPr marL="0" indent="0">
              <a:buNone/>
            </a:pPr>
            <a:r>
              <a:rPr lang="en-US" sz="6000" b="1" dirty="0">
                <a:solidFill>
                  <a:srgbClr val="7CE0B8"/>
                </a:solidFill>
              </a:rPr>
              <a:t>₹0</a:t>
            </a:r>
            <a:endParaRPr lang="en-US" sz="6000" dirty="0"/>
          </a:p>
        </p:txBody>
      </p:sp>
      <p:sp>
        <p:nvSpPr>
          <p:cNvPr id="11" name="text-459"/>
          <p:cNvSpPr txBox="1"/>
          <p:nvPr/>
        </p:nvSpPr>
        <p:spPr>
          <a:xfrm>
            <a:off x="8778240" y="3520440"/>
            <a:ext cx="2743200" cy="365760"/>
          </a:xfrm>
          <a:prstGeom prst="rect">
            <a:avLst/>
          </a:prstGeom>
          <a:noFill/>
          <a:ln/>
        </p:spPr>
        <p:txBody>
          <a:bodyPr wrap="square" lIns="0" tIns="0" rIns="0" bIns="0" rtlCol="0" anchor="t"/>
          <a:lstStyle/>
          <a:p>
            <a:pPr marL="0" indent="0">
              <a:buNone/>
            </a:pPr>
            <a:r>
              <a:rPr lang="en-US" sz="1700" b="1" dirty="0">
                <a:solidFill>
                  <a:schemeClr val="bg1"/>
                </a:solidFill>
              </a:rPr>
              <a:t>recurring cost</a:t>
            </a:r>
            <a:endParaRPr lang="en-US" sz="1700" dirty="0"/>
          </a:p>
        </p:txBody>
      </p:sp>
      <p:sp>
        <p:nvSpPr>
          <p:cNvPr id="12" name="text-460"/>
          <p:cNvSpPr txBox="1"/>
          <p:nvPr/>
        </p:nvSpPr>
        <p:spPr>
          <a:xfrm>
            <a:off x="8778240" y="3931920"/>
            <a:ext cx="2743200" cy="457200"/>
          </a:xfrm>
          <a:prstGeom prst="rect">
            <a:avLst/>
          </a:prstGeom>
          <a:noFill/>
          <a:ln/>
        </p:spPr>
        <p:txBody>
          <a:bodyPr wrap="square" lIns="0" tIns="0" rIns="0" bIns="0" rtlCol="0" anchor="t"/>
          <a:lstStyle/>
          <a:p>
            <a:pPr marL="0" indent="0">
              <a:buNone/>
            </a:pPr>
            <a:r>
              <a:rPr lang="en-US" sz="1300" dirty="0">
                <a:solidFill>
                  <a:srgbClr val="CFC6FF"/>
                </a:solidFill>
              </a:rPr>
              <a:t>Free tier, no API bills</a:t>
            </a:r>
            <a:endParaRPr lang="en-US" sz="1300" dirty="0"/>
          </a:p>
        </p:txBody>
      </p:sp>
      <p:sp>
        <p:nvSpPr>
          <p:cNvPr id="13" name="text-461"/>
          <p:cNvSpPr txBox="1"/>
          <p:nvPr/>
        </p:nvSpPr>
        <p:spPr>
          <a:xfrm>
            <a:off x="6766560" y="4572000"/>
            <a:ext cx="4754880" cy="141732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E6E1FF"/>
                </a:solidFill>
              </a:rPr>
              <a:t>Gemini free tier for generation and embeddings</a:t>
            </a:r>
            <a:endParaRPr lang="en-US" sz="1300" dirty="0"/>
          </a:p>
          <a:p>
            <a:pPr marL="203200" indent="-203200">
              <a:spcAft>
                <a:spcPts val="600"/>
              </a:spcAft>
              <a:buSzPct val="100000"/>
              <a:buChar char="•"/>
            </a:pPr>
            <a:r>
              <a:rPr lang="en-US" sz="1300" dirty="0">
                <a:solidFill>
                  <a:srgbClr val="E6E1FF"/>
                </a:solidFill>
              </a:rPr>
              <a:t>PostgreSQL + Node.js in Docker, all open source</a:t>
            </a:r>
            <a:endParaRPr lang="en-US" sz="1300" dirty="0"/>
          </a:p>
          <a:p>
            <a:pPr marL="203200" indent="-203200">
              <a:spcAft>
                <a:spcPts val="600"/>
              </a:spcAft>
              <a:buSzPct val="100000"/>
              <a:buChar char="•"/>
            </a:pPr>
            <a:r>
              <a:rPr lang="en-US" sz="1300" dirty="0">
                <a:solidFill>
                  <a:srgbClr val="E6E1FF"/>
                </a:solidFill>
              </a:rPr>
              <a:t>Only masked text leaves the machine; Ollama keeps all local</a:t>
            </a:r>
            <a:endParaRPr lang="en-US" sz="13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31520"/>
          </a:xfrm>
          <a:prstGeom prst="rect">
            <a:avLst/>
          </a:prstGeom>
          <a:noFill/>
          <a:ln/>
        </p:spPr>
        <p:txBody>
          <a:bodyPr wrap="square" lIns="0" tIns="0" rIns="0" bIns="0" rtlCol="0" anchor="ctr"/>
          <a:lstStyle/>
          <a:p>
            <a:pPr marL="0" indent="0" algn="l">
              <a:buNone/>
            </a:pPr>
            <a:r>
              <a:rPr lang="en-US" sz="3000" b="1" dirty="0">
                <a:solidFill>
                  <a:schemeClr val="bg1"/>
                </a:solidFill>
              </a:rPr>
              <a:t>Conclusion and Future Scope</a:t>
            </a:r>
            <a:endParaRPr lang="en-US" sz="3000" dirty="0"/>
          </a:p>
        </p:txBody>
      </p:sp>
      <p:sp>
        <p:nvSpPr>
          <p:cNvPr id="3" name="text-462"/>
          <p:cNvSpPr txBox="1"/>
          <p:nvPr/>
        </p:nvSpPr>
        <p:spPr>
          <a:xfrm>
            <a:off x="548640" y="1280160"/>
            <a:ext cx="5486400" cy="411480"/>
          </a:xfrm>
          <a:prstGeom prst="rect">
            <a:avLst/>
          </a:prstGeom>
          <a:noFill/>
          <a:ln/>
        </p:spPr>
        <p:txBody>
          <a:bodyPr wrap="square" lIns="0" tIns="0" rIns="0" bIns="0" rtlCol="0" anchor="t"/>
          <a:lstStyle/>
          <a:p>
            <a:pPr marL="0" indent="0">
              <a:buNone/>
            </a:pPr>
            <a:r>
              <a:rPr lang="en-US" sz="1800" b="1" dirty="0">
                <a:solidFill>
                  <a:srgbClr val="B9A8FF"/>
                </a:solidFill>
              </a:rPr>
              <a:t>What we showed</a:t>
            </a:r>
            <a:endParaRPr lang="en-US" sz="1800" dirty="0"/>
          </a:p>
        </p:txBody>
      </p:sp>
      <p:sp>
        <p:nvSpPr>
          <p:cNvPr id="4" name="badge-463"/>
          <p:cNvSpPr/>
          <p:nvPr/>
        </p:nvSpPr>
        <p:spPr>
          <a:xfrm>
            <a:off x="548640" y="1783080"/>
            <a:ext cx="502920" cy="502920"/>
          </a:xfrm>
          <a:prstGeom prst="ellipse">
            <a:avLst/>
          </a:prstGeom>
          <a:solidFill>
            <a:schemeClr val="accent2"/>
          </a:solidFill>
          <a:ln w="6350">
            <a:solidFill>
              <a:schemeClr val="accent2"/>
            </a:solidFill>
            <a:prstDash val="solid"/>
          </a:ln>
        </p:spPr>
        <p:txBody>
          <a:bodyPr/>
          <a:lstStyle/>
          <a:p>
            <a:endParaRPr lang="en-US"/>
          </a:p>
        </p:txBody>
      </p:sp>
      <p:pic>
        <p:nvPicPr>
          <p:cNvPr id="5" name="icon-464" descr="icon"/>
          <p:cNvPicPr>
            <a:picLocks noChangeAspect="1"/>
          </p:cNvPicPr>
          <p:nvPr/>
        </p:nvPicPr>
        <p:blipFill>
          <a:blip r:embed="rId3"/>
          <a:stretch>
            <a:fillRect/>
          </a:stretch>
        </p:blipFill>
        <p:spPr>
          <a:xfrm>
            <a:off x="669341" y="1903781"/>
            <a:ext cx="261518" cy="261518"/>
          </a:xfrm>
          <a:prstGeom prst="rect">
            <a:avLst/>
          </a:prstGeom>
        </p:spPr>
      </p:pic>
      <p:sp>
        <p:nvSpPr>
          <p:cNvPr id="6" name="text-465"/>
          <p:cNvSpPr txBox="1"/>
          <p:nvPr/>
        </p:nvSpPr>
        <p:spPr>
          <a:xfrm>
            <a:off x="1234440" y="1801368"/>
            <a:ext cx="4846320" cy="777240"/>
          </a:xfrm>
          <a:prstGeom prst="rect">
            <a:avLst/>
          </a:prstGeom>
          <a:noFill/>
          <a:ln/>
        </p:spPr>
        <p:txBody>
          <a:bodyPr wrap="square" lIns="0" tIns="0" rIns="0" bIns="0" rtlCol="0" anchor="t"/>
          <a:lstStyle/>
          <a:p>
            <a:pPr marL="0" indent="0">
              <a:buNone/>
            </a:pPr>
            <a:r>
              <a:rPr lang="en-US" sz="1800" dirty="0">
                <a:solidFill>
                  <a:schemeClr val="bg1"/>
                </a:solidFill>
              </a:rPr>
              <a:t>35% fewer questions and 35% less time with almost the same information</a:t>
            </a:r>
            <a:endParaRPr lang="en-US" sz="1800" dirty="0"/>
          </a:p>
        </p:txBody>
      </p:sp>
      <p:sp>
        <p:nvSpPr>
          <p:cNvPr id="7" name="badge-466"/>
          <p:cNvSpPr/>
          <p:nvPr/>
        </p:nvSpPr>
        <p:spPr>
          <a:xfrm>
            <a:off x="548640" y="2697480"/>
            <a:ext cx="502920" cy="502920"/>
          </a:xfrm>
          <a:prstGeom prst="ellipse">
            <a:avLst/>
          </a:prstGeom>
          <a:solidFill>
            <a:schemeClr val="accent2"/>
          </a:solidFill>
          <a:ln w="6350">
            <a:solidFill>
              <a:schemeClr val="accent2"/>
            </a:solidFill>
            <a:prstDash val="solid"/>
          </a:ln>
        </p:spPr>
        <p:txBody>
          <a:bodyPr/>
          <a:lstStyle/>
          <a:p>
            <a:endParaRPr lang="en-US"/>
          </a:p>
        </p:txBody>
      </p:sp>
      <p:pic>
        <p:nvPicPr>
          <p:cNvPr id="8" name="icon-467" descr="icon"/>
          <p:cNvPicPr>
            <a:picLocks noChangeAspect="1"/>
          </p:cNvPicPr>
          <p:nvPr/>
        </p:nvPicPr>
        <p:blipFill>
          <a:blip r:embed="rId3"/>
          <a:stretch>
            <a:fillRect/>
          </a:stretch>
        </p:blipFill>
        <p:spPr>
          <a:xfrm>
            <a:off x="669341" y="2818181"/>
            <a:ext cx="261518" cy="261518"/>
          </a:xfrm>
          <a:prstGeom prst="rect">
            <a:avLst/>
          </a:prstGeom>
        </p:spPr>
      </p:pic>
      <p:sp>
        <p:nvSpPr>
          <p:cNvPr id="9" name="text-468"/>
          <p:cNvSpPr txBox="1"/>
          <p:nvPr/>
        </p:nvSpPr>
        <p:spPr>
          <a:xfrm>
            <a:off x="1234440" y="2715768"/>
            <a:ext cx="4846320" cy="777240"/>
          </a:xfrm>
          <a:prstGeom prst="rect">
            <a:avLst/>
          </a:prstGeom>
          <a:noFill/>
          <a:ln/>
        </p:spPr>
        <p:txBody>
          <a:bodyPr wrap="square" lIns="0" tIns="0" rIns="0" bIns="0" rtlCol="0" anchor="t"/>
          <a:lstStyle/>
          <a:p>
            <a:pPr marL="0" indent="0">
              <a:buNone/>
            </a:pPr>
            <a:r>
              <a:rPr lang="en-US" sz="1800" dirty="0">
                <a:solidFill>
                  <a:schemeClr val="bg1"/>
                </a:solidFill>
              </a:rPr>
              <a:t>AI generation and quality checks at zero cost</a:t>
            </a:r>
            <a:endParaRPr lang="en-US" sz="1800" dirty="0"/>
          </a:p>
        </p:txBody>
      </p:sp>
      <p:sp>
        <p:nvSpPr>
          <p:cNvPr id="10" name="badge-469"/>
          <p:cNvSpPr/>
          <p:nvPr/>
        </p:nvSpPr>
        <p:spPr>
          <a:xfrm>
            <a:off x="548640" y="3611880"/>
            <a:ext cx="502920" cy="502920"/>
          </a:xfrm>
          <a:prstGeom prst="ellipse">
            <a:avLst/>
          </a:prstGeom>
          <a:solidFill>
            <a:schemeClr val="accent2"/>
          </a:solidFill>
          <a:ln w="6350">
            <a:solidFill>
              <a:schemeClr val="accent2"/>
            </a:solidFill>
            <a:prstDash val="solid"/>
          </a:ln>
        </p:spPr>
        <p:txBody>
          <a:bodyPr/>
          <a:lstStyle/>
          <a:p>
            <a:endParaRPr lang="en-US"/>
          </a:p>
        </p:txBody>
      </p:sp>
      <p:pic>
        <p:nvPicPr>
          <p:cNvPr id="11" name="icon-470" descr="icon"/>
          <p:cNvPicPr>
            <a:picLocks noChangeAspect="1"/>
          </p:cNvPicPr>
          <p:nvPr/>
        </p:nvPicPr>
        <p:blipFill>
          <a:blip r:embed="rId3"/>
          <a:stretch>
            <a:fillRect/>
          </a:stretch>
        </p:blipFill>
        <p:spPr>
          <a:xfrm>
            <a:off x="669341" y="3732581"/>
            <a:ext cx="261518" cy="261518"/>
          </a:xfrm>
          <a:prstGeom prst="rect">
            <a:avLst/>
          </a:prstGeom>
        </p:spPr>
      </p:pic>
      <p:sp>
        <p:nvSpPr>
          <p:cNvPr id="12" name="text-471"/>
          <p:cNvSpPr txBox="1"/>
          <p:nvPr/>
        </p:nvSpPr>
        <p:spPr>
          <a:xfrm>
            <a:off x="1234440" y="3630168"/>
            <a:ext cx="4846320" cy="777240"/>
          </a:xfrm>
          <a:prstGeom prst="rect">
            <a:avLst/>
          </a:prstGeom>
          <a:noFill/>
          <a:ln/>
        </p:spPr>
        <p:txBody>
          <a:bodyPr wrap="square" lIns="0" tIns="0" rIns="0" bIns="0" rtlCol="0" anchor="t"/>
          <a:lstStyle/>
          <a:p>
            <a:pPr marL="0" indent="0">
              <a:buNone/>
            </a:pPr>
            <a:r>
              <a:rPr lang="en-US" sz="1800" dirty="0">
                <a:solidFill>
                  <a:schemeClr val="bg1"/>
                </a:solidFill>
              </a:rPr>
              <a:t>Synthetic warm start works for brand-new forms</a:t>
            </a:r>
            <a:endParaRPr lang="en-US" sz="1800" dirty="0"/>
          </a:p>
        </p:txBody>
      </p:sp>
      <p:sp>
        <p:nvSpPr>
          <p:cNvPr id="13" name="badge-472"/>
          <p:cNvSpPr/>
          <p:nvPr/>
        </p:nvSpPr>
        <p:spPr>
          <a:xfrm>
            <a:off x="548640" y="4526280"/>
            <a:ext cx="502920" cy="502920"/>
          </a:xfrm>
          <a:prstGeom prst="ellipse">
            <a:avLst/>
          </a:prstGeom>
          <a:solidFill>
            <a:schemeClr val="accent2"/>
          </a:solidFill>
          <a:ln w="6350">
            <a:solidFill>
              <a:schemeClr val="accent2"/>
            </a:solidFill>
            <a:prstDash val="solid"/>
          </a:ln>
        </p:spPr>
        <p:txBody>
          <a:bodyPr/>
          <a:lstStyle/>
          <a:p>
            <a:endParaRPr lang="en-US"/>
          </a:p>
        </p:txBody>
      </p:sp>
      <p:pic>
        <p:nvPicPr>
          <p:cNvPr id="14" name="icon-473" descr="icon"/>
          <p:cNvPicPr>
            <a:picLocks noChangeAspect="1"/>
          </p:cNvPicPr>
          <p:nvPr/>
        </p:nvPicPr>
        <p:blipFill>
          <a:blip r:embed="rId3"/>
          <a:stretch>
            <a:fillRect/>
          </a:stretch>
        </p:blipFill>
        <p:spPr>
          <a:xfrm>
            <a:off x="669341" y="4646981"/>
            <a:ext cx="261518" cy="261518"/>
          </a:xfrm>
          <a:prstGeom prst="rect">
            <a:avLst/>
          </a:prstGeom>
        </p:spPr>
      </p:pic>
      <p:sp>
        <p:nvSpPr>
          <p:cNvPr id="15" name="text-474"/>
          <p:cNvSpPr txBox="1"/>
          <p:nvPr/>
        </p:nvSpPr>
        <p:spPr>
          <a:xfrm>
            <a:off x="1234440" y="4544568"/>
            <a:ext cx="4846320" cy="777240"/>
          </a:xfrm>
          <a:prstGeom prst="rect">
            <a:avLst/>
          </a:prstGeom>
          <a:noFill/>
          <a:ln/>
        </p:spPr>
        <p:txBody>
          <a:bodyPr wrap="square" lIns="0" tIns="0" rIns="0" bIns="0" rtlCol="0" anchor="t"/>
          <a:lstStyle/>
          <a:p>
            <a:pPr marL="0" indent="0">
              <a:buNone/>
            </a:pPr>
            <a:r>
              <a:rPr lang="en-US" sz="1800" dirty="0">
                <a:solidFill>
                  <a:schemeClr val="bg1"/>
                </a:solidFill>
              </a:rPr>
              <a:t>Privacy by design: masking before every model call</a:t>
            </a:r>
            <a:endParaRPr lang="en-US" sz="1800" dirty="0"/>
          </a:p>
        </p:txBody>
      </p:sp>
      <p:sp>
        <p:nvSpPr>
          <p:cNvPr id="16" name="card-475"/>
          <p:cNvSpPr/>
          <p:nvPr/>
        </p:nvSpPr>
        <p:spPr>
          <a:xfrm>
            <a:off x="6537960" y="1280160"/>
            <a:ext cx="5120640" cy="3977640"/>
          </a:xfrm>
          <a:prstGeom prst="roundRect">
            <a:avLst>
              <a:gd name="adj" fmla="val 2759"/>
            </a:avLst>
          </a:prstGeom>
          <a:solidFill>
            <a:srgbClr val="34247A"/>
          </a:solidFill>
          <a:ln w="6350">
            <a:solidFill>
              <a:srgbClr val="34247A"/>
            </a:solidFill>
            <a:prstDash val="solid"/>
          </a:ln>
        </p:spPr>
        <p:txBody>
          <a:bodyPr/>
          <a:lstStyle/>
          <a:p>
            <a:endParaRPr lang="en-US"/>
          </a:p>
        </p:txBody>
      </p:sp>
      <p:sp>
        <p:nvSpPr>
          <p:cNvPr id="17" name="text-476"/>
          <p:cNvSpPr txBox="1"/>
          <p:nvPr/>
        </p:nvSpPr>
        <p:spPr>
          <a:xfrm>
            <a:off x="6812280" y="1463040"/>
            <a:ext cx="4572000" cy="411480"/>
          </a:xfrm>
          <a:prstGeom prst="rect">
            <a:avLst/>
          </a:prstGeom>
          <a:noFill/>
          <a:ln/>
        </p:spPr>
        <p:txBody>
          <a:bodyPr wrap="square" lIns="0" tIns="0" rIns="0" bIns="0" rtlCol="0" anchor="t"/>
          <a:lstStyle/>
          <a:p>
            <a:pPr marL="0" indent="0">
              <a:buNone/>
            </a:pPr>
            <a:r>
              <a:rPr lang="en-US" sz="1800" b="1" dirty="0">
                <a:solidFill>
                  <a:srgbClr val="B9A8FF"/>
                </a:solidFill>
              </a:rPr>
              <a:t>Future scope</a:t>
            </a:r>
            <a:endParaRPr lang="en-US" sz="1800" dirty="0"/>
          </a:p>
        </p:txBody>
      </p:sp>
      <p:sp>
        <p:nvSpPr>
          <p:cNvPr id="18" name="text-477"/>
          <p:cNvSpPr txBox="1"/>
          <p:nvPr/>
        </p:nvSpPr>
        <p:spPr>
          <a:xfrm>
            <a:off x="6812280" y="2011680"/>
            <a:ext cx="4663440" cy="310896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E6E1FF"/>
                </a:solidFill>
              </a:rPr>
              <a:t>Field study with students: static vs adaptive</a:t>
            </a:r>
            <a:endParaRPr lang="en-US" sz="1800" dirty="0"/>
          </a:p>
          <a:p>
            <a:pPr marL="203200" indent="-203200">
              <a:spcAft>
                <a:spcPts val="600"/>
              </a:spcAft>
              <a:buSzPct val="100000"/>
              <a:buChar char="•"/>
            </a:pPr>
            <a:r>
              <a:rPr lang="en-US" sz="1800" dirty="0">
                <a:solidFill>
                  <a:srgbClr val="E6E1FF"/>
                </a:solidFill>
              </a:rPr>
              <a:t>Learn utility weights per form (contextual bandits)</a:t>
            </a:r>
            <a:endParaRPr lang="en-US" sz="1800" dirty="0"/>
          </a:p>
          <a:p>
            <a:pPr marL="203200" indent="-203200">
              <a:spcAft>
                <a:spcPts val="600"/>
              </a:spcAft>
              <a:buSzPct val="100000"/>
              <a:buChar char="•"/>
            </a:pPr>
            <a:r>
              <a:rPr lang="en-US" sz="1800" dirty="0">
                <a:solidFill>
                  <a:srgbClr val="E6E1FF"/>
                </a:solidFill>
              </a:rPr>
              <a:t>Grow the question bank from open answers</a:t>
            </a:r>
            <a:endParaRPr lang="en-US" sz="1800" dirty="0"/>
          </a:p>
          <a:p>
            <a:pPr marL="203200" indent="-203200">
              <a:spcAft>
                <a:spcPts val="600"/>
              </a:spcAft>
              <a:buSzPct val="100000"/>
              <a:buChar char="•"/>
            </a:pPr>
            <a:r>
              <a:rPr lang="en-US" sz="1800" dirty="0">
                <a:solidFill>
                  <a:srgbClr val="E6E1FF"/>
                </a:solidFill>
              </a:rPr>
              <a:t>Local NER model for stronger PII masking</a:t>
            </a:r>
            <a:endParaRPr lang="en-US" sz="1800" dirty="0"/>
          </a:p>
          <a:p>
            <a:pPr marL="203200" indent="-203200">
              <a:spcAft>
                <a:spcPts val="600"/>
              </a:spcAft>
              <a:buSzPct val="100000"/>
              <a:buChar char="•"/>
            </a:pPr>
            <a:r>
              <a:rPr lang="en-US" sz="1800" dirty="0">
                <a:solidFill>
                  <a:srgbClr val="E6E1FF"/>
                </a:solidFill>
              </a:rPr>
              <a:t>Adaptive selection for free-text questions</a:t>
            </a:r>
            <a:endParaRPr lang="en-US" sz="1800" dirty="0"/>
          </a:p>
        </p:txBody>
      </p:sp>
      <p:sp>
        <p:nvSpPr>
          <p:cNvPr id="19" name="text-478"/>
          <p:cNvSpPr txBox="1"/>
          <p:nvPr/>
        </p:nvSpPr>
        <p:spPr>
          <a:xfrm>
            <a:off x="548640" y="5623560"/>
            <a:ext cx="11064240" cy="548640"/>
          </a:xfrm>
          <a:prstGeom prst="rect">
            <a:avLst/>
          </a:prstGeom>
          <a:noFill/>
          <a:ln/>
        </p:spPr>
        <p:txBody>
          <a:bodyPr wrap="square" lIns="0" tIns="0" rIns="0" bIns="0" rtlCol="0" anchor="t"/>
          <a:lstStyle/>
          <a:p>
            <a:pPr marL="0" indent="0" algn="ctr">
              <a:buNone/>
            </a:pPr>
            <a:r>
              <a:rPr lang="en-US" sz="2400" b="1" dirty="0">
                <a:solidFill>
                  <a:schemeClr val="bg1"/>
                </a:solidFill>
              </a:rPr>
              <a:t>Thank you  |  Questions?</a:t>
            </a:r>
            <a:endParaRPr lang="en-US" sz="2400" dirty="0"/>
          </a:p>
        </p:txBody>
      </p:sp>
      <p:sp>
        <p:nvSpPr>
          <p:cNvPr id="25" name="Slide Number Placeholder 0"/>
          <p:cNvSpPr>
            <a:spLocks noGrp="1"/>
          </p:cNvSpPr>
          <p:nvPr>
            <p:ph type="sldNum" sz="quarter" idx="4294967295"/>
          </p:nvPr>
        </p:nvSpPr>
        <p:spPr>
          <a:xfrm>
            <a:off x="11292840" y="6419088"/>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E95D6"/>
                </a:solidFill>
              </a:defRPr>
            </a:lvl1pPr>
          </a:lstStyle>
          <a:p>
            <a:pPr algn="r"/>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FormForge Violet">
  <a:themeElements>
    <a:clrScheme name="FormForge Violet">
      <a:dk1>
        <a:srgbClr val="1E1838"/>
      </a:dk1>
      <a:lt1>
        <a:srgbClr val="FFFFFF"/>
      </a:lt1>
      <a:dk2>
        <a:srgbClr val="241657"/>
      </a:dk2>
      <a:lt2>
        <a:srgbClr val="F3F0FF"/>
      </a:lt2>
      <a:accent1>
        <a:srgbClr val="6D3EF5"/>
      </a:accent1>
      <a:accent2>
        <a:srgbClr val="14A37F"/>
      </a:accent2>
      <a:accent3>
        <a:srgbClr val="F08C00"/>
      </a:accent3>
      <a:accent4>
        <a:srgbClr val="4C6EF5"/>
      </a:accent4>
      <a:accent5>
        <a:srgbClr val="E03131"/>
      </a:accent5>
      <a:accent6>
        <a:srgbClr val="868E96"/>
      </a:accent6>
      <a:hlink>
        <a:srgbClr val="6D3EF5"/>
      </a:hlink>
      <a:folHlink>
        <a:srgbClr val="5B2FD6"/>
      </a:folHlink>
    </a:clrScheme>
    <a:fontScheme name="FormForge Viole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3171</Words>
  <Application>Microsoft Office PowerPoint</Application>
  <PresentationFormat>Widescreen</PresentationFormat>
  <Paragraphs>460</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FormForge Violet</vt:lpstr>
      <vt:lpstr>FormForge 2.0</vt:lpstr>
      <vt:lpstr>Agenda</vt:lpstr>
      <vt:lpstr>From Review 1 to FormForge 2.0</vt:lpstr>
      <vt:lpstr>The Problem with Static Forms</vt:lpstr>
      <vt:lpstr>Objectives</vt:lpstr>
      <vt:lpstr>Literature Survey: Key Recent Work</vt:lpstr>
      <vt:lpstr>Research Gap and Our Answer</vt:lpstr>
      <vt:lpstr>Solution Overview</vt:lpstr>
      <vt:lpstr>Tools and Technologies</vt:lpstr>
      <vt:lpstr>System Architecture</vt:lpstr>
      <vt:lpstr>Use Case and Data Flow Diagrams</vt:lpstr>
      <vt:lpstr>Data Model</vt:lpstr>
      <vt:lpstr>AI Form Generation with a Free LLM</vt:lpstr>
      <vt:lpstr>Form Quality Analyzer</vt:lpstr>
      <vt:lpstr>Adaptive Engine: Choosing the Next Question</vt:lpstr>
      <vt:lpstr>Adaptive Engine: Flow and Safety Rules</vt:lpstr>
      <vt:lpstr>Cold Start with Synthetic Respondents</vt:lpstr>
      <vt:lpstr>Privacy Layer and Response Intelligence</vt:lpstr>
      <vt:lpstr>Implementation and Testing</vt:lpstr>
      <vt:lpstr>Working System</vt:lpstr>
      <vt:lpstr>Experimental Setup</vt:lpstr>
      <vt:lpstr>Adaptive vs Static vs Rule-Based</vt:lpstr>
      <vt:lpstr>Cold Start and Ablation</vt:lpstr>
      <vt:lpstr>Quality Analyzer, PII Masking and Cost</vt:lpstr>
      <vt:lpstr>Conclusion and Future Scope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FormForge 2.0 - Project Review</dc:title>
  <dc:subject>PptxGenJS Presentation</dc:subject>
  <dc:creator>[Student Name]</dc:creator>
  <cp:lastModifiedBy>[Student Name]</cp:lastModifiedBy>
  <cp:revision>1</cp:revision>
  <dcterms:created xsi:type="dcterms:W3CDTF">2026-10-11T19:24:02Z</dcterms:created>
  <dcterms:modified xsi:type="dcterms:W3CDTF">2026-10-11T19:44:56Z</dcterms:modified>
</cp:coreProperties>
</file>